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56" r:id="rId3"/>
    <p:sldId id="292" r:id="rId4"/>
    <p:sldId id="294" r:id="rId5"/>
    <p:sldId id="295" r:id="rId6"/>
    <p:sldId id="296" r:id="rId7"/>
    <p:sldId id="282" r:id="rId8"/>
    <p:sldId id="284" r:id="rId9"/>
    <p:sldId id="297" r:id="rId10"/>
    <p:sldId id="298" r:id="rId11"/>
    <p:sldId id="299" r:id="rId12"/>
    <p:sldId id="283" r:id="rId13"/>
    <p:sldId id="286" r:id="rId14"/>
    <p:sldId id="276" r:id="rId15"/>
    <p:sldId id="291" r:id="rId16"/>
    <p:sldId id="278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A3D8FF"/>
    <a:srgbClr val="002B82"/>
    <a:srgbClr val="B2B2B2"/>
    <a:srgbClr val="FFFFCC"/>
    <a:srgbClr val="F46A6A"/>
    <a:srgbClr val="FEF8F4"/>
    <a:srgbClr val="FDF3ED"/>
    <a:srgbClr val="F9F9F9"/>
    <a:srgbClr val="FBE7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922" autoAdjust="0"/>
    <p:restoredTop sz="94660"/>
  </p:normalViewPr>
  <p:slideViewPr>
    <p:cSldViewPr snapToGrid="0">
      <p:cViewPr varScale="1">
        <p:scale>
          <a:sx n="68" d="100"/>
          <a:sy n="68" d="100"/>
        </p:scale>
        <p:origin x="32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36D8-AFC2-481A-A6CE-1A740BF968A8}" type="datetimeFigureOut">
              <a:rPr lang="ko-KR" altLang="en-US" smtClean="0"/>
              <a:t>2020-09-06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56C7-55D1-4356-9031-4B4F11F1B8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83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36D8-AFC2-481A-A6CE-1A740BF968A8}" type="datetimeFigureOut">
              <a:rPr lang="ko-KR" altLang="en-US" smtClean="0"/>
              <a:t>2020-09-06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56C7-55D1-4356-9031-4B4F11F1B8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097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36D8-AFC2-481A-A6CE-1A740BF968A8}" type="datetimeFigureOut">
              <a:rPr lang="ko-KR" altLang="en-US" smtClean="0"/>
              <a:t>2020-09-06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56C7-55D1-4356-9031-4B4F11F1B8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912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36D8-AFC2-481A-A6CE-1A740BF968A8}" type="datetimeFigureOut">
              <a:rPr lang="ko-KR" altLang="en-US" smtClean="0"/>
              <a:t>2020-09-06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56C7-55D1-4356-9031-4B4F11F1B8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03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36D8-AFC2-481A-A6CE-1A740BF968A8}" type="datetimeFigureOut">
              <a:rPr lang="ko-KR" altLang="en-US" smtClean="0"/>
              <a:t>2020-09-06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56C7-55D1-4356-9031-4B4F11F1B8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238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36D8-AFC2-481A-A6CE-1A740BF968A8}" type="datetimeFigureOut">
              <a:rPr lang="ko-KR" altLang="en-US" smtClean="0"/>
              <a:t>2020-09-06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56C7-55D1-4356-9031-4B4F11F1B8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38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36D8-AFC2-481A-A6CE-1A740BF968A8}" type="datetimeFigureOut">
              <a:rPr lang="ko-KR" altLang="en-US" smtClean="0"/>
              <a:t>2020-09-06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56C7-55D1-4356-9031-4B4F11F1B8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121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36D8-AFC2-481A-A6CE-1A740BF968A8}" type="datetimeFigureOut">
              <a:rPr lang="ko-KR" altLang="en-US" smtClean="0"/>
              <a:t>2020-09-06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56C7-55D1-4356-9031-4B4F11F1B8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73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36D8-AFC2-481A-A6CE-1A740BF968A8}" type="datetimeFigureOut">
              <a:rPr lang="ko-KR" altLang="en-US" smtClean="0"/>
              <a:t>2020-09-06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56C7-55D1-4356-9031-4B4F11F1B8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34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36D8-AFC2-481A-A6CE-1A740BF968A8}" type="datetimeFigureOut">
              <a:rPr lang="ko-KR" altLang="en-US" smtClean="0"/>
              <a:t>2020-09-06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56C7-55D1-4356-9031-4B4F11F1B8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912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E36D8-AFC2-481A-A6CE-1A740BF968A8}" type="datetimeFigureOut">
              <a:rPr lang="ko-KR" altLang="en-US" smtClean="0"/>
              <a:t>2020-09-06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B56C7-55D1-4356-9031-4B4F11F1B8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144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E36D8-AFC2-481A-A6CE-1A740BF968A8}" type="datetimeFigureOut">
              <a:rPr lang="ko-KR" altLang="en-US" smtClean="0"/>
              <a:t>2020-09-06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B56C7-55D1-4356-9031-4B4F11F1B8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03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" name="그룹 495">
            <a:extLst>
              <a:ext uri="{FF2B5EF4-FFF2-40B4-BE49-F238E27FC236}">
                <a16:creationId xmlns:a16="http://schemas.microsoft.com/office/drawing/2014/main" id="{F5381765-15A8-48AC-9770-D33A2A9EFDB3}"/>
              </a:ext>
            </a:extLst>
          </p:cNvPr>
          <p:cNvGrpSpPr/>
          <p:nvPr/>
        </p:nvGrpSpPr>
        <p:grpSpPr>
          <a:xfrm>
            <a:off x="20489" y="358716"/>
            <a:ext cx="12132000" cy="6116034"/>
            <a:chOff x="20489" y="416591"/>
            <a:chExt cx="12132000" cy="6116034"/>
          </a:xfrm>
        </p:grpSpPr>
        <p:cxnSp>
          <p:nvCxnSpPr>
            <p:cNvPr id="489" name="직선 연결선 488">
              <a:extLst>
                <a:ext uri="{FF2B5EF4-FFF2-40B4-BE49-F238E27FC236}">
                  <a16:creationId xmlns:a16="http://schemas.microsoft.com/office/drawing/2014/main" id="{71EE2ADF-C6CC-4F5C-9D08-06B48E0F0FB3}"/>
                </a:ext>
              </a:extLst>
            </p:cNvPr>
            <p:cNvCxnSpPr>
              <a:cxnSpLocks/>
            </p:cNvCxnSpPr>
            <p:nvPr/>
          </p:nvCxnSpPr>
          <p:spPr>
            <a:xfrm>
              <a:off x="20489" y="3116941"/>
              <a:ext cx="12132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58326368-B928-4CEA-99E9-87CCEBD8AFC8}"/>
                </a:ext>
              </a:extLst>
            </p:cNvPr>
            <p:cNvSpPr/>
            <p:nvPr/>
          </p:nvSpPr>
          <p:spPr>
            <a:xfrm>
              <a:off x="332594" y="634178"/>
              <a:ext cx="720000" cy="396000"/>
            </a:xfrm>
            <a:prstGeom prst="round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spc="-100" dirty="0">
                  <a:latin typeface="+mn-ea"/>
                </a:rPr>
                <a:t>User</a:t>
              </a:r>
              <a:endParaRPr lang="ko-KR" altLang="en-US" sz="1200" b="1" spc="-100" dirty="0">
                <a:latin typeface="+mn-ea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351F0FC-8B59-4AE4-9DE6-8C4189B33E6B}"/>
                </a:ext>
              </a:extLst>
            </p:cNvPr>
            <p:cNvSpPr/>
            <p:nvPr/>
          </p:nvSpPr>
          <p:spPr>
            <a:xfrm>
              <a:off x="152594" y="1291924"/>
              <a:ext cx="1080000" cy="396000"/>
            </a:xfrm>
            <a:prstGeom prst="rect">
              <a:avLst/>
            </a:prstGeom>
            <a:solidFill>
              <a:srgbClr val="0070C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로그인</a:t>
              </a:r>
              <a:r>
                <a:rPr lang="en-US" altLang="ko-KR" sz="1000" b="1" spc="-100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전</a:t>
              </a:r>
              <a:endParaRPr lang="en-US" altLang="ko-KR" sz="1000" b="1" spc="-100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메인 화면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AE3B068B-B94D-4526-B80F-A20EAA6EE864}"/>
                </a:ext>
              </a:extLst>
            </p:cNvPr>
            <p:cNvSpPr/>
            <p:nvPr/>
          </p:nvSpPr>
          <p:spPr>
            <a:xfrm>
              <a:off x="152594" y="1918345"/>
              <a:ext cx="1080000" cy="396000"/>
            </a:xfrm>
            <a:prstGeom prst="rect">
              <a:avLst/>
            </a:prstGeom>
            <a:solidFill>
              <a:srgbClr val="0070C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회원 가입 화면</a:t>
              </a:r>
            </a:p>
          </p:txBody>
        </p: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BE5424A8-00DD-4D9A-BB33-32C92811846B}"/>
                </a:ext>
              </a:extLst>
            </p:cNvPr>
            <p:cNvCxnSpPr>
              <a:cxnSpLocks/>
              <a:stCxn id="2" idx="2"/>
              <a:endCxn id="4" idx="0"/>
            </p:cNvCxnSpPr>
            <p:nvPr/>
          </p:nvCxnSpPr>
          <p:spPr>
            <a:xfrm>
              <a:off x="692594" y="1030178"/>
              <a:ext cx="0" cy="261746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6A3A1CA8-F119-46C3-88C1-05D35CA7B545}"/>
                </a:ext>
              </a:extLst>
            </p:cNvPr>
            <p:cNvCxnSpPr>
              <a:cxnSpLocks/>
              <a:stCxn id="4" idx="2"/>
              <a:endCxn id="64" idx="0"/>
            </p:cNvCxnSpPr>
            <p:nvPr/>
          </p:nvCxnSpPr>
          <p:spPr>
            <a:xfrm>
              <a:off x="692594" y="1687924"/>
              <a:ext cx="0" cy="230421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D7010102-C735-47D2-B355-DD0B16AB646B}"/>
                </a:ext>
              </a:extLst>
            </p:cNvPr>
            <p:cNvSpPr/>
            <p:nvPr/>
          </p:nvSpPr>
          <p:spPr>
            <a:xfrm>
              <a:off x="3216106" y="634178"/>
              <a:ext cx="1080000" cy="39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개인정보 관리</a:t>
              </a:r>
              <a:endParaRPr lang="en-US" altLang="ko-KR" sz="1000" b="1" spc="-100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화면</a:t>
              </a:r>
            </a:p>
          </p:txBody>
        </p:sp>
        <p:cxnSp>
          <p:nvCxnSpPr>
            <p:cNvPr id="97" name="직선 화살표 연결선 96">
              <a:extLst>
                <a:ext uri="{FF2B5EF4-FFF2-40B4-BE49-F238E27FC236}">
                  <a16:creationId xmlns:a16="http://schemas.microsoft.com/office/drawing/2014/main" id="{EF3E2443-5995-4883-9B85-5B4AD6814380}"/>
                </a:ext>
              </a:extLst>
            </p:cNvPr>
            <p:cNvCxnSpPr>
              <a:cxnSpLocks/>
              <a:stCxn id="65" idx="3"/>
              <a:endCxn id="112" idx="1"/>
            </p:cNvCxnSpPr>
            <p:nvPr/>
          </p:nvCxnSpPr>
          <p:spPr>
            <a:xfrm>
              <a:off x="4296106" y="1489924"/>
              <a:ext cx="772115" cy="6302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5E723FE9-0795-4A22-BE27-6C98D5C1FFC8}"/>
                </a:ext>
              </a:extLst>
            </p:cNvPr>
            <p:cNvSpPr/>
            <p:nvPr/>
          </p:nvSpPr>
          <p:spPr>
            <a:xfrm>
              <a:off x="1679060" y="444477"/>
              <a:ext cx="1080000" cy="21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쿠폰 관리 화면</a:t>
              </a: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6F700C14-45D5-4996-A0CF-3872C74C35F8}"/>
                </a:ext>
              </a:extLst>
            </p:cNvPr>
            <p:cNvSpPr/>
            <p:nvPr/>
          </p:nvSpPr>
          <p:spPr>
            <a:xfrm>
              <a:off x="1679060" y="724178"/>
              <a:ext cx="1080000" cy="21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포인트 관리 화면</a:t>
              </a: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F7CB317F-F26A-4077-819F-DE0867633A7B}"/>
                </a:ext>
              </a:extLst>
            </p:cNvPr>
            <p:cNvSpPr/>
            <p:nvPr/>
          </p:nvSpPr>
          <p:spPr>
            <a:xfrm>
              <a:off x="1679060" y="996904"/>
              <a:ext cx="1080000" cy="21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메시지 관리 화면</a:t>
              </a:r>
            </a:p>
          </p:txBody>
        </p:sp>
        <p:cxnSp>
          <p:nvCxnSpPr>
            <p:cNvPr id="157" name="직선 화살표 연결선 156">
              <a:extLst>
                <a:ext uri="{FF2B5EF4-FFF2-40B4-BE49-F238E27FC236}">
                  <a16:creationId xmlns:a16="http://schemas.microsoft.com/office/drawing/2014/main" id="{0E51378A-7405-414C-88A7-3AB84F92E8E9}"/>
                </a:ext>
              </a:extLst>
            </p:cNvPr>
            <p:cNvCxnSpPr>
              <a:cxnSpLocks/>
              <a:stCxn id="94" idx="1"/>
              <a:endCxn id="145" idx="3"/>
            </p:cNvCxnSpPr>
            <p:nvPr/>
          </p:nvCxnSpPr>
          <p:spPr>
            <a:xfrm flipH="1">
              <a:off x="2759060" y="832178"/>
              <a:ext cx="457046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F89BF609-2124-4D3B-9FF4-4664DE819274}"/>
                </a:ext>
              </a:extLst>
            </p:cNvPr>
            <p:cNvSpPr/>
            <p:nvPr/>
          </p:nvSpPr>
          <p:spPr>
            <a:xfrm>
              <a:off x="3216106" y="2529498"/>
              <a:ext cx="1080000" cy="396000"/>
            </a:xfrm>
            <a:prstGeom prst="rect">
              <a:avLst/>
            </a:prstGeom>
            <a:solidFill>
              <a:srgbClr val="0070C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공동구매</a:t>
              </a:r>
              <a:r>
                <a:rPr lang="en-US" altLang="ko-KR" sz="1000" b="1" spc="-100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신청 화면</a:t>
              </a:r>
            </a:p>
          </p:txBody>
        </p:sp>
        <p:sp>
          <p:nvSpPr>
            <p:cNvPr id="219" name="사각형: 둥근 모서리 218">
              <a:extLst>
                <a:ext uri="{FF2B5EF4-FFF2-40B4-BE49-F238E27FC236}">
                  <a16:creationId xmlns:a16="http://schemas.microsoft.com/office/drawing/2014/main" id="{89747825-8EEB-493A-AA99-F50429C17B0B}"/>
                </a:ext>
              </a:extLst>
            </p:cNvPr>
            <p:cNvSpPr/>
            <p:nvPr/>
          </p:nvSpPr>
          <p:spPr>
            <a:xfrm>
              <a:off x="869832" y="3845649"/>
              <a:ext cx="720000" cy="396000"/>
            </a:xfrm>
            <a:prstGeom prst="round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spc="-100" dirty="0">
                  <a:latin typeface="+mn-ea"/>
                </a:rPr>
                <a:t>Admin</a:t>
              </a:r>
              <a:endParaRPr lang="ko-KR" altLang="en-US" sz="1200" b="1" spc="-100" dirty="0">
                <a:latin typeface="+mn-ea"/>
              </a:endParaRPr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D05BB389-F8A9-43CD-8F41-B63866CE0F85}"/>
                </a:ext>
              </a:extLst>
            </p:cNvPr>
            <p:cNvSpPr/>
            <p:nvPr/>
          </p:nvSpPr>
          <p:spPr>
            <a:xfrm>
              <a:off x="690407" y="4662879"/>
              <a:ext cx="1080000" cy="396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관리자 </a:t>
              </a:r>
              <a:endParaRPr lang="en-US" altLang="ko-KR" sz="1000" b="1" spc="-100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로그인 화면</a:t>
              </a:r>
            </a:p>
          </p:txBody>
        </p:sp>
        <p:cxnSp>
          <p:nvCxnSpPr>
            <p:cNvPr id="222" name="직선 화살표 연결선 221">
              <a:extLst>
                <a:ext uri="{FF2B5EF4-FFF2-40B4-BE49-F238E27FC236}">
                  <a16:creationId xmlns:a16="http://schemas.microsoft.com/office/drawing/2014/main" id="{C9A7154E-2539-4E40-BCA7-2D5334A82E4A}"/>
                </a:ext>
              </a:extLst>
            </p:cNvPr>
            <p:cNvCxnSpPr>
              <a:cxnSpLocks/>
              <a:stCxn id="219" idx="2"/>
              <a:endCxn id="221" idx="0"/>
            </p:cNvCxnSpPr>
            <p:nvPr/>
          </p:nvCxnSpPr>
          <p:spPr>
            <a:xfrm>
              <a:off x="1229832" y="4241649"/>
              <a:ext cx="575" cy="42123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EB799A14-C3DF-42A6-BCC9-9DFE787EA97F}"/>
                </a:ext>
              </a:extLst>
            </p:cNvPr>
            <p:cNvSpPr/>
            <p:nvPr/>
          </p:nvSpPr>
          <p:spPr>
            <a:xfrm>
              <a:off x="2101231" y="4662879"/>
              <a:ext cx="1080000" cy="396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대시보드</a:t>
              </a:r>
              <a:r>
                <a:rPr lang="en-US" altLang="ko-KR" sz="900" b="1" spc="-100" dirty="0">
                  <a:solidFill>
                    <a:schemeClr val="tx1"/>
                  </a:solidFill>
                  <a:latin typeface="+mn-ea"/>
                </a:rPr>
                <a:t>(Dashboard)</a:t>
              </a:r>
            </a:p>
            <a:p>
              <a:pPr algn="ctr"/>
              <a:r>
                <a:rPr lang="en-US" altLang="ko-KR" sz="1000" b="1" spc="-100" dirty="0">
                  <a:solidFill>
                    <a:schemeClr val="tx1"/>
                  </a:solidFill>
                  <a:latin typeface="+mn-ea"/>
                </a:rPr>
                <a:t>- </a:t>
              </a:r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데이터 분석 결과</a:t>
              </a:r>
              <a:r>
                <a:rPr lang="en-US" altLang="ko-KR" sz="1000" b="1" spc="-100" dirty="0">
                  <a:solidFill>
                    <a:schemeClr val="tx1"/>
                  </a:solidFill>
                  <a:latin typeface="+mn-ea"/>
                </a:rPr>
                <a:t>-</a:t>
              </a:r>
              <a:endParaRPr lang="ko-KR" altLang="en-US" sz="1000" b="1" spc="-1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225" name="직선 화살표 연결선 224">
              <a:extLst>
                <a:ext uri="{FF2B5EF4-FFF2-40B4-BE49-F238E27FC236}">
                  <a16:creationId xmlns:a16="http://schemas.microsoft.com/office/drawing/2014/main" id="{444932C1-E79E-47FD-B775-7D3F109F5435}"/>
                </a:ext>
              </a:extLst>
            </p:cNvPr>
            <p:cNvCxnSpPr>
              <a:cxnSpLocks/>
              <a:stCxn id="221" idx="3"/>
              <a:endCxn id="223" idx="1"/>
            </p:cNvCxnSpPr>
            <p:nvPr/>
          </p:nvCxnSpPr>
          <p:spPr>
            <a:xfrm>
              <a:off x="1770407" y="4860879"/>
              <a:ext cx="330824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직사각형 248">
              <a:extLst>
                <a:ext uri="{FF2B5EF4-FFF2-40B4-BE49-F238E27FC236}">
                  <a16:creationId xmlns:a16="http://schemas.microsoft.com/office/drawing/2014/main" id="{E7A426C2-9BCF-4CA2-B070-17C5E9F44B10}"/>
                </a:ext>
              </a:extLst>
            </p:cNvPr>
            <p:cNvSpPr/>
            <p:nvPr/>
          </p:nvSpPr>
          <p:spPr>
            <a:xfrm>
              <a:off x="2101231" y="5398306"/>
              <a:ext cx="1080000" cy="396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사용자</a:t>
              </a:r>
              <a:r>
                <a:rPr lang="en-US" altLang="ko-KR" sz="1000" b="1" spc="-100" dirty="0">
                  <a:solidFill>
                    <a:schemeClr val="tx1"/>
                  </a:solidFill>
                  <a:latin typeface="+mn-ea"/>
                </a:rPr>
                <a:t>(User)</a:t>
              </a:r>
            </a:p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관리 화면</a:t>
              </a:r>
            </a:p>
          </p:txBody>
        </p:sp>
        <p:sp>
          <p:nvSpPr>
            <p:cNvPr id="254" name="직사각형 253">
              <a:extLst>
                <a:ext uri="{FF2B5EF4-FFF2-40B4-BE49-F238E27FC236}">
                  <a16:creationId xmlns:a16="http://schemas.microsoft.com/office/drawing/2014/main" id="{450FC1C6-A032-48C1-9649-BEAFF13DBDB2}"/>
                </a:ext>
              </a:extLst>
            </p:cNvPr>
            <p:cNvSpPr/>
            <p:nvPr/>
          </p:nvSpPr>
          <p:spPr>
            <a:xfrm>
              <a:off x="698668" y="5211984"/>
              <a:ext cx="1080000" cy="216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쿠폰 관리 화면</a:t>
              </a:r>
            </a:p>
          </p:txBody>
        </p:sp>
        <p:sp>
          <p:nvSpPr>
            <p:cNvPr id="257" name="직사각형 256">
              <a:extLst>
                <a:ext uri="{FF2B5EF4-FFF2-40B4-BE49-F238E27FC236}">
                  <a16:creationId xmlns:a16="http://schemas.microsoft.com/office/drawing/2014/main" id="{E43B7969-17D4-4834-B138-7561B0E05553}"/>
                </a:ext>
              </a:extLst>
            </p:cNvPr>
            <p:cNvSpPr/>
            <p:nvPr/>
          </p:nvSpPr>
          <p:spPr>
            <a:xfrm>
              <a:off x="698668" y="5764629"/>
              <a:ext cx="1080000" cy="216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메시지 관리 화면</a:t>
              </a:r>
            </a:p>
          </p:txBody>
        </p:sp>
        <p:sp>
          <p:nvSpPr>
            <p:cNvPr id="256" name="직사각형 255">
              <a:extLst>
                <a:ext uri="{FF2B5EF4-FFF2-40B4-BE49-F238E27FC236}">
                  <a16:creationId xmlns:a16="http://schemas.microsoft.com/office/drawing/2014/main" id="{436688B0-5B0B-4135-A625-D5E748D450E2}"/>
                </a:ext>
              </a:extLst>
            </p:cNvPr>
            <p:cNvSpPr/>
            <p:nvPr/>
          </p:nvSpPr>
          <p:spPr>
            <a:xfrm>
              <a:off x="698668" y="5488306"/>
              <a:ext cx="1080000" cy="216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포인트 관리 화면</a:t>
              </a:r>
            </a:p>
          </p:txBody>
        </p:sp>
        <p:cxnSp>
          <p:nvCxnSpPr>
            <p:cNvPr id="258" name="연결선: 꺾임 257">
              <a:extLst>
                <a:ext uri="{FF2B5EF4-FFF2-40B4-BE49-F238E27FC236}">
                  <a16:creationId xmlns:a16="http://schemas.microsoft.com/office/drawing/2014/main" id="{BDEF57D2-2DDD-48BF-B35A-659D0A3A966F}"/>
                </a:ext>
              </a:extLst>
            </p:cNvPr>
            <p:cNvCxnSpPr>
              <a:cxnSpLocks/>
              <a:stCxn id="257" idx="3"/>
              <a:endCxn id="254" idx="3"/>
            </p:cNvCxnSpPr>
            <p:nvPr/>
          </p:nvCxnSpPr>
          <p:spPr>
            <a:xfrm flipV="1">
              <a:off x="1778668" y="5319984"/>
              <a:ext cx="12700" cy="552645"/>
            </a:xfrm>
            <a:prstGeom prst="bentConnector3">
              <a:avLst>
                <a:gd name="adj1" fmla="val 1588236"/>
              </a:avLst>
            </a:prstGeom>
            <a:ln w="12700">
              <a:solidFill>
                <a:srgbClr val="00206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직선 화살표 연결선 259">
              <a:extLst>
                <a:ext uri="{FF2B5EF4-FFF2-40B4-BE49-F238E27FC236}">
                  <a16:creationId xmlns:a16="http://schemas.microsoft.com/office/drawing/2014/main" id="{E9933BC9-F41F-4935-B19A-3FF0FD85199E}"/>
                </a:ext>
              </a:extLst>
            </p:cNvPr>
            <p:cNvCxnSpPr>
              <a:cxnSpLocks/>
              <a:stCxn id="249" idx="1"/>
              <a:endCxn id="256" idx="3"/>
            </p:cNvCxnSpPr>
            <p:nvPr/>
          </p:nvCxnSpPr>
          <p:spPr>
            <a:xfrm flipH="1">
              <a:off x="1778668" y="5596306"/>
              <a:ext cx="322563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직사각형 270">
              <a:extLst>
                <a:ext uri="{FF2B5EF4-FFF2-40B4-BE49-F238E27FC236}">
                  <a16:creationId xmlns:a16="http://schemas.microsoft.com/office/drawing/2014/main" id="{8B5A9E50-9D01-414D-B73D-9B3E72057723}"/>
                </a:ext>
              </a:extLst>
            </p:cNvPr>
            <p:cNvSpPr/>
            <p:nvPr/>
          </p:nvSpPr>
          <p:spPr>
            <a:xfrm>
              <a:off x="3216106" y="3845649"/>
              <a:ext cx="1080000" cy="396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공동구매</a:t>
              </a:r>
              <a:r>
                <a:rPr lang="en-US" altLang="ko-KR" sz="1000" b="1" spc="-100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신청 내역 관리 화면</a:t>
              </a:r>
            </a:p>
          </p:txBody>
        </p:sp>
        <p:sp>
          <p:nvSpPr>
            <p:cNvPr id="307" name="직사각형 306">
              <a:extLst>
                <a:ext uri="{FF2B5EF4-FFF2-40B4-BE49-F238E27FC236}">
                  <a16:creationId xmlns:a16="http://schemas.microsoft.com/office/drawing/2014/main" id="{9967BE3A-A17D-4C26-B8AE-8E36DFB23991}"/>
                </a:ext>
              </a:extLst>
            </p:cNvPr>
            <p:cNvSpPr/>
            <p:nvPr/>
          </p:nvSpPr>
          <p:spPr>
            <a:xfrm>
              <a:off x="3323271" y="5375597"/>
              <a:ext cx="1080000" cy="396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에스크로 연계 관리</a:t>
              </a:r>
            </a:p>
          </p:txBody>
        </p:sp>
        <p:cxnSp>
          <p:nvCxnSpPr>
            <p:cNvPr id="347" name="직선 화살표 연결선 346">
              <a:extLst>
                <a:ext uri="{FF2B5EF4-FFF2-40B4-BE49-F238E27FC236}">
                  <a16:creationId xmlns:a16="http://schemas.microsoft.com/office/drawing/2014/main" id="{81C7629F-9A4E-4698-AAF8-BEDC375526BA}"/>
                </a:ext>
              </a:extLst>
            </p:cNvPr>
            <p:cNvCxnSpPr>
              <a:cxnSpLocks/>
              <a:stCxn id="271" idx="3"/>
              <a:endCxn id="346" idx="1"/>
            </p:cNvCxnSpPr>
            <p:nvPr/>
          </p:nvCxnSpPr>
          <p:spPr>
            <a:xfrm>
              <a:off x="4296106" y="4043649"/>
              <a:ext cx="772115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직선 화살표 연결선 504">
              <a:extLst>
                <a:ext uri="{FF2B5EF4-FFF2-40B4-BE49-F238E27FC236}">
                  <a16:creationId xmlns:a16="http://schemas.microsoft.com/office/drawing/2014/main" id="{1CC357D9-33AA-4D39-8223-391CD83BA9E2}"/>
                </a:ext>
              </a:extLst>
            </p:cNvPr>
            <p:cNvCxnSpPr>
              <a:cxnSpLocks/>
              <a:stCxn id="223" idx="2"/>
              <a:endCxn id="249" idx="0"/>
            </p:cNvCxnSpPr>
            <p:nvPr/>
          </p:nvCxnSpPr>
          <p:spPr>
            <a:xfrm>
              <a:off x="2641231" y="5058879"/>
              <a:ext cx="0" cy="339427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5" name="사각형: 둥근 모서리 544">
              <a:extLst>
                <a:ext uri="{FF2B5EF4-FFF2-40B4-BE49-F238E27FC236}">
                  <a16:creationId xmlns:a16="http://schemas.microsoft.com/office/drawing/2014/main" id="{039E376F-758F-49C2-9C1F-C46958762113}"/>
                </a:ext>
              </a:extLst>
            </p:cNvPr>
            <p:cNvSpPr/>
            <p:nvPr/>
          </p:nvSpPr>
          <p:spPr>
            <a:xfrm>
              <a:off x="3503271" y="6136625"/>
              <a:ext cx="720000" cy="396000"/>
            </a:xfrm>
            <a:prstGeom prst="round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spc="-100" dirty="0">
                  <a:latin typeface="+mn-ea"/>
                </a:rPr>
                <a:t>하나은행</a:t>
              </a:r>
            </a:p>
          </p:txBody>
        </p:sp>
        <p:cxnSp>
          <p:nvCxnSpPr>
            <p:cNvPr id="549" name="연결선: 꺾임 548">
              <a:extLst>
                <a:ext uri="{FF2B5EF4-FFF2-40B4-BE49-F238E27FC236}">
                  <a16:creationId xmlns:a16="http://schemas.microsoft.com/office/drawing/2014/main" id="{CECC9798-D9F2-4B1C-AAC3-406A5E3BE802}"/>
                </a:ext>
              </a:extLst>
            </p:cNvPr>
            <p:cNvCxnSpPr>
              <a:cxnSpLocks/>
              <a:stCxn id="223" idx="3"/>
              <a:endCxn id="307" idx="0"/>
            </p:cNvCxnSpPr>
            <p:nvPr/>
          </p:nvCxnSpPr>
          <p:spPr>
            <a:xfrm>
              <a:off x="3181231" y="4860879"/>
              <a:ext cx="682040" cy="514718"/>
            </a:xfrm>
            <a:prstGeom prst="bentConnector2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직선 화살표 연결선 650">
              <a:extLst>
                <a:ext uri="{FF2B5EF4-FFF2-40B4-BE49-F238E27FC236}">
                  <a16:creationId xmlns:a16="http://schemas.microsoft.com/office/drawing/2014/main" id="{38C7D87C-E340-4B64-94E2-7DFD17161F74}"/>
                </a:ext>
              </a:extLst>
            </p:cNvPr>
            <p:cNvCxnSpPr>
              <a:cxnSpLocks/>
              <a:stCxn id="65" idx="0"/>
              <a:endCxn id="94" idx="2"/>
            </p:cNvCxnSpPr>
            <p:nvPr/>
          </p:nvCxnSpPr>
          <p:spPr>
            <a:xfrm flipV="1">
              <a:off x="3756106" y="1030178"/>
              <a:ext cx="0" cy="261746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연결선: 꺾임 667">
              <a:extLst>
                <a:ext uri="{FF2B5EF4-FFF2-40B4-BE49-F238E27FC236}">
                  <a16:creationId xmlns:a16="http://schemas.microsoft.com/office/drawing/2014/main" id="{CBE3C500-2A4F-4E21-9D98-01D6C02BFEA2}"/>
                </a:ext>
              </a:extLst>
            </p:cNvPr>
            <p:cNvCxnSpPr>
              <a:cxnSpLocks/>
              <a:stCxn id="146" idx="3"/>
              <a:endCxn id="144" idx="3"/>
            </p:cNvCxnSpPr>
            <p:nvPr/>
          </p:nvCxnSpPr>
          <p:spPr>
            <a:xfrm flipV="1">
              <a:off x="2759060" y="552477"/>
              <a:ext cx="12700" cy="552427"/>
            </a:xfrm>
            <a:prstGeom prst="bentConnector3">
              <a:avLst>
                <a:gd name="adj1" fmla="val 1800000"/>
              </a:avLst>
            </a:prstGeom>
            <a:ln w="12700">
              <a:solidFill>
                <a:srgbClr val="00206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직선 화살표 연결선 866">
              <a:extLst>
                <a:ext uri="{FF2B5EF4-FFF2-40B4-BE49-F238E27FC236}">
                  <a16:creationId xmlns:a16="http://schemas.microsoft.com/office/drawing/2014/main" id="{5965F5FF-4B55-4167-8A46-9D95316B3DF4}"/>
                </a:ext>
              </a:extLst>
            </p:cNvPr>
            <p:cNvCxnSpPr>
              <a:cxnSpLocks/>
              <a:stCxn id="206" idx="2"/>
              <a:endCxn id="271" idx="0"/>
            </p:cNvCxnSpPr>
            <p:nvPr/>
          </p:nvCxnSpPr>
          <p:spPr>
            <a:xfrm>
              <a:off x="3756106" y="2925498"/>
              <a:ext cx="0" cy="920151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4E162310-1A20-40DC-A8AF-67949E5200C5}"/>
                </a:ext>
              </a:extLst>
            </p:cNvPr>
            <p:cNvSpPr/>
            <p:nvPr/>
          </p:nvSpPr>
          <p:spPr>
            <a:xfrm>
              <a:off x="3216106" y="1291924"/>
              <a:ext cx="1080000" cy="396000"/>
            </a:xfrm>
            <a:prstGeom prst="rect">
              <a:avLst/>
            </a:prstGeom>
            <a:solidFill>
              <a:srgbClr val="0070C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로그인</a:t>
              </a:r>
              <a:r>
                <a:rPr lang="en-US" altLang="ko-KR" sz="1000" b="1" spc="-100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후</a:t>
              </a:r>
              <a:endParaRPr lang="en-US" altLang="ko-KR" sz="1000" b="1" spc="-100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메인 화면</a:t>
              </a:r>
            </a:p>
          </p:txBody>
        </p:sp>
        <p:cxnSp>
          <p:nvCxnSpPr>
            <p:cNvPr id="949" name="연결선: 꺾임 948">
              <a:extLst>
                <a:ext uri="{FF2B5EF4-FFF2-40B4-BE49-F238E27FC236}">
                  <a16:creationId xmlns:a16="http://schemas.microsoft.com/office/drawing/2014/main" id="{A3F71295-5299-4A90-978B-12621F25BE93}"/>
                </a:ext>
              </a:extLst>
            </p:cNvPr>
            <p:cNvCxnSpPr>
              <a:cxnSpLocks/>
              <a:stCxn id="257" idx="1"/>
              <a:endCxn id="254" idx="1"/>
            </p:cNvCxnSpPr>
            <p:nvPr/>
          </p:nvCxnSpPr>
          <p:spPr>
            <a:xfrm rot="10800000">
              <a:off x="698668" y="5319985"/>
              <a:ext cx="12700" cy="552645"/>
            </a:xfrm>
            <a:prstGeom prst="bentConnector3">
              <a:avLst>
                <a:gd name="adj1" fmla="val 1517646"/>
              </a:avLst>
            </a:prstGeom>
            <a:ln w="12700">
              <a:solidFill>
                <a:srgbClr val="002060"/>
              </a:solidFill>
              <a:prstDash val="dash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4" name="연결선: 꺾임 953">
              <a:extLst>
                <a:ext uri="{FF2B5EF4-FFF2-40B4-BE49-F238E27FC236}">
                  <a16:creationId xmlns:a16="http://schemas.microsoft.com/office/drawing/2014/main" id="{FE0D4111-270E-495B-8C80-E9495BF52F36}"/>
                </a:ext>
              </a:extLst>
            </p:cNvPr>
            <p:cNvCxnSpPr>
              <a:cxnSpLocks/>
              <a:stCxn id="146" idx="1"/>
              <a:endCxn id="144" idx="1"/>
            </p:cNvCxnSpPr>
            <p:nvPr/>
          </p:nvCxnSpPr>
          <p:spPr>
            <a:xfrm rot="10800000">
              <a:off x="1679060" y="552478"/>
              <a:ext cx="12700" cy="552427"/>
            </a:xfrm>
            <a:prstGeom prst="bentConnector3">
              <a:avLst>
                <a:gd name="adj1" fmla="val 1235299"/>
              </a:avLst>
            </a:prstGeom>
            <a:ln w="12700">
              <a:solidFill>
                <a:srgbClr val="00206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연결선: 꺾임 148">
              <a:extLst>
                <a:ext uri="{FF2B5EF4-FFF2-40B4-BE49-F238E27FC236}">
                  <a16:creationId xmlns:a16="http://schemas.microsoft.com/office/drawing/2014/main" id="{D9E13052-C777-43E9-BC30-D24C14022C52}"/>
                </a:ext>
              </a:extLst>
            </p:cNvPr>
            <p:cNvCxnSpPr>
              <a:cxnSpLocks/>
              <a:stCxn id="256" idx="1"/>
              <a:endCxn id="27" idx="2"/>
            </p:cNvCxnSpPr>
            <p:nvPr/>
          </p:nvCxnSpPr>
          <p:spPr>
            <a:xfrm rot="10800000" flipH="1">
              <a:off x="698668" y="2980692"/>
              <a:ext cx="273678" cy="2615615"/>
            </a:xfrm>
            <a:prstGeom prst="bentConnector3">
              <a:avLst>
                <a:gd name="adj1" fmla="val -122837"/>
              </a:avLst>
            </a:prstGeom>
            <a:ln w="12700">
              <a:solidFill>
                <a:srgbClr val="002060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01EF3ED1-B2EC-4A09-898A-20850CC78EA0}"/>
                </a:ext>
              </a:extLst>
            </p:cNvPr>
            <p:cNvSpPr/>
            <p:nvPr/>
          </p:nvSpPr>
          <p:spPr>
            <a:xfrm>
              <a:off x="972346" y="2944691"/>
              <a:ext cx="72000" cy="7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68" name="연결선: 꺾임 167">
              <a:extLst>
                <a:ext uri="{FF2B5EF4-FFF2-40B4-BE49-F238E27FC236}">
                  <a16:creationId xmlns:a16="http://schemas.microsoft.com/office/drawing/2014/main" id="{1E7455D5-5EAB-46F6-8331-817EE95C2389}"/>
                </a:ext>
              </a:extLst>
            </p:cNvPr>
            <p:cNvCxnSpPr>
              <a:cxnSpLocks/>
              <a:stCxn id="249" idx="2"/>
              <a:endCxn id="173" idx="4"/>
            </p:cNvCxnSpPr>
            <p:nvPr/>
          </p:nvCxnSpPr>
          <p:spPr>
            <a:xfrm rot="5400000" flipH="1">
              <a:off x="16708" y="3169784"/>
              <a:ext cx="2777615" cy="2471431"/>
            </a:xfrm>
            <a:prstGeom prst="bentConnector3">
              <a:avLst>
                <a:gd name="adj1" fmla="val -20495"/>
              </a:avLst>
            </a:prstGeom>
            <a:ln w="12700">
              <a:solidFill>
                <a:srgbClr val="002060"/>
              </a:solidFill>
              <a:prstDash val="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타원 172">
              <a:extLst>
                <a:ext uri="{FF2B5EF4-FFF2-40B4-BE49-F238E27FC236}">
                  <a16:creationId xmlns:a16="http://schemas.microsoft.com/office/drawing/2014/main" id="{632CBAD1-1B20-443E-9A03-741F9C31D29D}"/>
                </a:ext>
              </a:extLst>
            </p:cNvPr>
            <p:cNvSpPr/>
            <p:nvPr/>
          </p:nvSpPr>
          <p:spPr>
            <a:xfrm>
              <a:off x="133800" y="2944691"/>
              <a:ext cx="72000" cy="7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83" name="연결선: 꺾임 182">
              <a:extLst>
                <a:ext uri="{FF2B5EF4-FFF2-40B4-BE49-F238E27FC236}">
                  <a16:creationId xmlns:a16="http://schemas.microsoft.com/office/drawing/2014/main" id="{33EDD3B3-4A0E-4A3E-940B-BED93C03F233}"/>
                </a:ext>
              </a:extLst>
            </p:cNvPr>
            <p:cNvCxnSpPr>
              <a:cxnSpLocks/>
              <a:stCxn id="173" idx="0"/>
              <a:endCxn id="64" idx="2"/>
            </p:cNvCxnSpPr>
            <p:nvPr/>
          </p:nvCxnSpPr>
          <p:spPr>
            <a:xfrm rot="5400000" flipH="1" flipV="1">
              <a:off x="116024" y="2368121"/>
              <a:ext cx="630346" cy="522794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00206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화살표 연결선 208">
              <a:extLst>
                <a:ext uri="{FF2B5EF4-FFF2-40B4-BE49-F238E27FC236}">
                  <a16:creationId xmlns:a16="http://schemas.microsoft.com/office/drawing/2014/main" id="{7F87F7F3-A147-42DB-9210-6CE941F6B419}"/>
                </a:ext>
              </a:extLst>
            </p:cNvPr>
            <p:cNvCxnSpPr>
              <a:cxnSpLocks/>
              <a:stCxn id="65" idx="2"/>
              <a:endCxn id="206" idx="0"/>
            </p:cNvCxnSpPr>
            <p:nvPr/>
          </p:nvCxnSpPr>
          <p:spPr>
            <a:xfrm>
              <a:off x="3756106" y="1687924"/>
              <a:ext cx="0" cy="841574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화살표 연결선 214">
              <a:extLst>
                <a:ext uri="{FF2B5EF4-FFF2-40B4-BE49-F238E27FC236}">
                  <a16:creationId xmlns:a16="http://schemas.microsoft.com/office/drawing/2014/main" id="{B03B8227-51DC-4D42-B2E0-B4A98DDCF85C}"/>
                </a:ext>
              </a:extLst>
            </p:cNvPr>
            <p:cNvCxnSpPr>
              <a:cxnSpLocks/>
              <a:stCxn id="206" idx="3"/>
              <a:endCxn id="199" idx="1"/>
            </p:cNvCxnSpPr>
            <p:nvPr/>
          </p:nvCxnSpPr>
          <p:spPr>
            <a:xfrm>
              <a:off x="4296106" y="2727498"/>
              <a:ext cx="2323911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연결선: 꺾임 223">
              <a:extLst>
                <a:ext uri="{FF2B5EF4-FFF2-40B4-BE49-F238E27FC236}">
                  <a16:creationId xmlns:a16="http://schemas.microsoft.com/office/drawing/2014/main" id="{94A2BE8A-3782-4EBC-A6FE-58BE7F8F3D79}"/>
                </a:ext>
              </a:extLst>
            </p:cNvPr>
            <p:cNvCxnSpPr>
              <a:cxnSpLocks/>
              <a:stCxn id="223" idx="0"/>
              <a:endCxn id="271" idx="2"/>
            </p:cNvCxnSpPr>
            <p:nvPr/>
          </p:nvCxnSpPr>
          <p:spPr>
            <a:xfrm rot="5400000" flipH="1" flipV="1">
              <a:off x="2988053" y="3894827"/>
              <a:ext cx="421230" cy="1114875"/>
            </a:xfrm>
            <a:prstGeom prst="bentConnector3">
              <a:avLst>
                <a:gd name="adj1" fmla="val 50000"/>
              </a:avLst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771C4F39-826F-4BAC-A233-223CE0C466B9}"/>
                </a:ext>
              </a:extLst>
            </p:cNvPr>
            <p:cNvCxnSpPr>
              <a:cxnSpLocks/>
              <a:stCxn id="4" idx="3"/>
              <a:endCxn id="65" idx="1"/>
            </p:cNvCxnSpPr>
            <p:nvPr/>
          </p:nvCxnSpPr>
          <p:spPr>
            <a:xfrm>
              <a:off x="1232594" y="1489924"/>
              <a:ext cx="1983512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연결선: 꺾임 140">
              <a:extLst>
                <a:ext uri="{FF2B5EF4-FFF2-40B4-BE49-F238E27FC236}">
                  <a16:creationId xmlns:a16="http://schemas.microsoft.com/office/drawing/2014/main" id="{D9C0700D-8919-450B-BC79-2D5FA9A204A9}"/>
                </a:ext>
              </a:extLst>
            </p:cNvPr>
            <p:cNvCxnSpPr>
              <a:cxnSpLocks/>
              <a:stCxn id="27" idx="6"/>
              <a:endCxn id="145" idx="1"/>
            </p:cNvCxnSpPr>
            <p:nvPr/>
          </p:nvCxnSpPr>
          <p:spPr>
            <a:xfrm flipV="1">
              <a:off x="1044346" y="832178"/>
              <a:ext cx="634714" cy="2148513"/>
            </a:xfrm>
            <a:prstGeom prst="bentConnector3">
              <a:avLst>
                <a:gd name="adj1" fmla="val 58475"/>
              </a:avLst>
            </a:prstGeom>
            <a:ln w="12700">
              <a:solidFill>
                <a:srgbClr val="00206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98E78615-857C-46FD-A915-752D21D854B7}"/>
                </a:ext>
              </a:extLst>
            </p:cNvPr>
            <p:cNvSpPr/>
            <p:nvPr/>
          </p:nvSpPr>
          <p:spPr>
            <a:xfrm>
              <a:off x="5068221" y="1298226"/>
              <a:ext cx="1080000" cy="39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나의 공동구매 관리 화면</a:t>
              </a:r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49B6E167-A68B-4951-A1E1-D03056CB8C29}"/>
                </a:ext>
              </a:extLst>
            </p:cNvPr>
            <p:cNvSpPr/>
            <p:nvPr/>
          </p:nvSpPr>
          <p:spPr>
            <a:xfrm>
              <a:off x="5068221" y="1918345"/>
              <a:ext cx="1080000" cy="39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내가 신청한</a:t>
              </a:r>
            </a:p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공동구매 조회 화면</a:t>
              </a:r>
            </a:p>
          </p:txBody>
        </p:sp>
        <p:cxnSp>
          <p:nvCxnSpPr>
            <p:cNvPr id="127" name="직선 화살표 연결선 126">
              <a:extLst>
                <a:ext uri="{FF2B5EF4-FFF2-40B4-BE49-F238E27FC236}">
                  <a16:creationId xmlns:a16="http://schemas.microsoft.com/office/drawing/2014/main" id="{944A2C13-B642-4615-8C21-680898CFC8DF}"/>
                </a:ext>
              </a:extLst>
            </p:cNvPr>
            <p:cNvCxnSpPr>
              <a:cxnSpLocks/>
              <a:stCxn id="112" idx="2"/>
              <a:endCxn id="118" idx="0"/>
            </p:cNvCxnSpPr>
            <p:nvPr/>
          </p:nvCxnSpPr>
          <p:spPr>
            <a:xfrm>
              <a:off x="5608221" y="1694226"/>
              <a:ext cx="0" cy="224119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765B1BA0-C351-440E-8C41-0F7A064354E9}"/>
                </a:ext>
              </a:extLst>
            </p:cNvPr>
            <p:cNvSpPr/>
            <p:nvPr/>
          </p:nvSpPr>
          <p:spPr>
            <a:xfrm>
              <a:off x="6620017" y="2529498"/>
              <a:ext cx="1080000" cy="396000"/>
            </a:xfrm>
            <a:prstGeom prst="rect">
              <a:avLst/>
            </a:prstGeom>
            <a:solidFill>
              <a:srgbClr val="0070C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공동구매 </a:t>
              </a:r>
              <a:endParaRPr lang="en-US" altLang="ko-KR" sz="1000" b="1" spc="-100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상세 조회</a:t>
              </a:r>
              <a:r>
                <a:rPr lang="en-US" altLang="ko-KR" sz="1000" b="1" spc="-100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화면</a:t>
              </a:r>
            </a:p>
          </p:txBody>
        </p:sp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4123A2F0-FF09-4B1A-A9E7-9DF706F714ED}"/>
                </a:ext>
              </a:extLst>
            </p:cNvPr>
            <p:cNvSpPr/>
            <p:nvPr/>
          </p:nvSpPr>
          <p:spPr>
            <a:xfrm>
              <a:off x="7961956" y="2529498"/>
              <a:ext cx="1080000" cy="396000"/>
            </a:xfrm>
            <a:prstGeom prst="rect">
              <a:avLst/>
            </a:prstGeom>
            <a:solidFill>
              <a:srgbClr val="0070C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공동구매 참여 화면</a:t>
              </a:r>
            </a:p>
          </p:txBody>
        </p:sp>
        <p:sp>
          <p:nvSpPr>
            <p:cNvPr id="238" name="직사각형 237">
              <a:extLst>
                <a:ext uri="{FF2B5EF4-FFF2-40B4-BE49-F238E27FC236}">
                  <a16:creationId xmlns:a16="http://schemas.microsoft.com/office/drawing/2014/main" id="{7A75E5AB-DBC2-4DA2-9552-B4C816150684}"/>
                </a:ext>
              </a:extLst>
            </p:cNvPr>
            <p:cNvSpPr/>
            <p:nvPr/>
          </p:nvSpPr>
          <p:spPr>
            <a:xfrm>
              <a:off x="5068221" y="634178"/>
              <a:ext cx="1080000" cy="396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나의 에스크로 계좌 관리 화면</a:t>
              </a:r>
            </a:p>
          </p:txBody>
        </p:sp>
        <p:sp>
          <p:nvSpPr>
            <p:cNvPr id="314" name="직사각형 313">
              <a:extLst>
                <a:ext uri="{FF2B5EF4-FFF2-40B4-BE49-F238E27FC236}">
                  <a16:creationId xmlns:a16="http://schemas.microsoft.com/office/drawing/2014/main" id="{9FC50B4A-BE7C-4859-AA78-2C3EDC5ACB59}"/>
                </a:ext>
              </a:extLst>
            </p:cNvPr>
            <p:cNvSpPr/>
            <p:nvPr/>
          </p:nvSpPr>
          <p:spPr>
            <a:xfrm>
              <a:off x="5068221" y="3218916"/>
              <a:ext cx="1080000" cy="396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샘플 관리 화면</a:t>
              </a:r>
              <a:endParaRPr lang="en-US" altLang="ko-KR" sz="1000" b="1" spc="-100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000" b="1" spc="-1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신청</a:t>
              </a:r>
              <a:r>
                <a:rPr lang="en-US" altLang="ko-KR" sz="1000" b="1" spc="-100" dirty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진행</a:t>
              </a:r>
              <a:r>
                <a:rPr lang="en-US" altLang="ko-KR" sz="1000" b="1" spc="-100" dirty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결과</a:t>
              </a:r>
              <a:r>
                <a:rPr lang="en-US" altLang="ko-KR" sz="1000" b="1" spc="-100" dirty="0">
                  <a:solidFill>
                    <a:schemeClr val="tx1"/>
                  </a:solidFill>
                  <a:latin typeface="+mn-ea"/>
                </a:rPr>
                <a:t>)</a:t>
              </a:r>
            </a:p>
          </p:txBody>
        </p:sp>
        <p:sp>
          <p:nvSpPr>
            <p:cNvPr id="317" name="직사각형 316">
              <a:extLst>
                <a:ext uri="{FF2B5EF4-FFF2-40B4-BE49-F238E27FC236}">
                  <a16:creationId xmlns:a16="http://schemas.microsoft.com/office/drawing/2014/main" id="{4DC0FFC2-AB7B-4CCF-B5E3-DD25BC017E6C}"/>
                </a:ext>
              </a:extLst>
            </p:cNvPr>
            <p:cNvSpPr/>
            <p:nvPr/>
          </p:nvSpPr>
          <p:spPr>
            <a:xfrm>
              <a:off x="5068221" y="4662879"/>
              <a:ext cx="1080000" cy="396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가격 협상 딜</a:t>
              </a:r>
              <a:endParaRPr lang="en-US" altLang="ko-KR" sz="1000" b="1" spc="-100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생성 화면</a:t>
              </a:r>
              <a:endParaRPr lang="en-US" altLang="ko-KR" sz="1000" b="1" spc="-1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44" name="직사각형 343">
              <a:extLst>
                <a:ext uri="{FF2B5EF4-FFF2-40B4-BE49-F238E27FC236}">
                  <a16:creationId xmlns:a16="http://schemas.microsoft.com/office/drawing/2014/main" id="{9A140CA4-C1A2-4D0E-A080-4F6C4A50DA58}"/>
                </a:ext>
              </a:extLst>
            </p:cNvPr>
            <p:cNvSpPr/>
            <p:nvPr/>
          </p:nvSpPr>
          <p:spPr>
            <a:xfrm>
              <a:off x="6620017" y="3845649"/>
              <a:ext cx="1080000" cy="396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공동구매 생성 화면</a:t>
              </a:r>
            </a:p>
          </p:txBody>
        </p:sp>
        <p:sp>
          <p:nvSpPr>
            <p:cNvPr id="345" name="직사각형 344">
              <a:extLst>
                <a:ext uri="{FF2B5EF4-FFF2-40B4-BE49-F238E27FC236}">
                  <a16:creationId xmlns:a16="http://schemas.microsoft.com/office/drawing/2014/main" id="{30F8EAD2-EAA2-40E9-BD0F-1D6263299C48}"/>
                </a:ext>
              </a:extLst>
            </p:cNvPr>
            <p:cNvSpPr/>
            <p:nvPr/>
          </p:nvSpPr>
          <p:spPr>
            <a:xfrm>
              <a:off x="7961956" y="4662879"/>
              <a:ext cx="1080000" cy="396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공동구매 진행 현황 </a:t>
              </a:r>
              <a:endParaRPr lang="en-US" altLang="ko-KR" sz="1000" b="1" spc="-100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관리 화면</a:t>
              </a:r>
            </a:p>
          </p:txBody>
        </p:sp>
        <p:sp>
          <p:nvSpPr>
            <p:cNvPr id="346" name="직사각형 345">
              <a:extLst>
                <a:ext uri="{FF2B5EF4-FFF2-40B4-BE49-F238E27FC236}">
                  <a16:creationId xmlns:a16="http://schemas.microsoft.com/office/drawing/2014/main" id="{7802097F-028C-4969-8ECA-3A376398CA77}"/>
                </a:ext>
              </a:extLst>
            </p:cNvPr>
            <p:cNvSpPr/>
            <p:nvPr/>
          </p:nvSpPr>
          <p:spPr>
            <a:xfrm>
              <a:off x="5068221" y="3845649"/>
              <a:ext cx="1080000" cy="396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공급처</a:t>
              </a:r>
              <a:r>
                <a:rPr lang="en-US" altLang="ko-KR" sz="1000" b="1" spc="-1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판매처</a:t>
              </a:r>
              <a:r>
                <a:rPr lang="en-US" altLang="ko-KR" sz="1000" b="1" spc="-100" dirty="0">
                  <a:solidFill>
                    <a:schemeClr val="tx1"/>
                  </a:solidFill>
                  <a:latin typeface="+mn-ea"/>
                </a:rPr>
                <a:t>)</a:t>
              </a:r>
            </a:p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관리 화면</a:t>
              </a:r>
              <a:endParaRPr lang="en-US" altLang="ko-KR" sz="1000" b="1" spc="-1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362" name="직선 화살표 연결선 361">
              <a:extLst>
                <a:ext uri="{FF2B5EF4-FFF2-40B4-BE49-F238E27FC236}">
                  <a16:creationId xmlns:a16="http://schemas.microsoft.com/office/drawing/2014/main" id="{C615F503-EE95-43B7-A411-389AC68C4908}"/>
                </a:ext>
              </a:extLst>
            </p:cNvPr>
            <p:cNvCxnSpPr>
              <a:cxnSpLocks/>
              <a:stCxn id="346" idx="3"/>
              <a:endCxn id="344" idx="1"/>
            </p:cNvCxnSpPr>
            <p:nvPr/>
          </p:nvCxnSpPr>
          <p:spPr>
            <a:xfrm>
              <a:off x="6148221" y="4043649"/>
              <a:ext cx="471796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직선 화살표 연결선 410">
              <a:extLst>
                <a:ext uri="{FF2B5EF4-FFF2-40B4-BE49-F238E27FC236}">
                  <a16:creationId xmlns:a16="http://schemas.microsoft.com/office/drawing/2014/main" id="{7D392742-539D-4394-8DE5-7D7EC80238EB}"/>
                </a:ext>
              </a:extLst>
            </p:cNvPr>
            <p:cNvCxnSpPr>
              <a:cxnSpLocks/>
              <a:stCxn id="112" idx="0"/>
              <a:endCxn id="238" idx="2"/>
            </p:cNvCxnSpPr>
            <p:nvPr/>
          </p:nvCxnSpPr>
          <p:spPr>
            <a:xfrm flipV="1">
              <a:off x="5608221" y="1030178"/>
              <a:ext cx="0" cy="268048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9" name="직사각형 418">
              <a:extLst>
                <a:ext uri="{FF2B5EF4-FFF2-40B4-BE49-F238E27FC236}">
                  <a16:creationId xmlns:a16="http://schemas.microsoft.com/office/drawing/2014/main" id="{BF50D897-6D9C-4E5B-A113-5323EC957EB7}"/>
                </a:ext>
              </a:extLst>
            </p:cNvPr>
            <p:cNvSpPr/>
            <p:nvPr/>
          </p:nvSpPr>
          <p:spPr>
            <a:xfrm>
              <a:off x="9307008" y="2529498"/>
              <a:ext cx="1080000" cy="396000"/>
            </a:xfrm>
            <a:prstGeom prst="rect">
              <a:avLst/>
            </a:prstGeom>
            <a:solidFill>
              <a:srgbClr val="0070C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공동구매 진행 현황 조회 화면</a:t>
              </a:r>
            </a:p>
          </p:txBody>
        </p:sp>
        <p:cxnSp>
          <p:nvCxnSpPr>
            <p:cNvPr id="422" name="직선 화살표 연결선 421">
              <a:extLst>
                <a:ext uri="{FF2B5EF4-FFF2-40B4-BE49-F238E27FC236}">
                  <a16:creationId xmlns:a16="http://schemas.microsoft.com/office/drawing/2014/main" id="{33B8F97B-6EB9-4934-AD56-EA9897A25E0F}"/>
                </a:ext>
              </a:extLst>
            </p:cNvPr>
            <p:cNvCxnSpPr>
              <a:cxnSpLocks/>
              <a:stCxn id="233" idx="3"/>
              <a:endCxn id="419" idx="1"/>
            </p:cNvCxnSpPr>
            <p:nvPr/>
          </p:nvCxnSpPr>
          <p:spPr>
            <a:xfrm>
              <a:off x="9041956" y="2727498"/>
              <a:ext cx="265052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5" name="직사각형 424">
              <a:extLst>
                <a:ext uri="{FF2B5EF4-FFF2-40B4-BE49-F238E27FC236}">
                  <a16:creationId xmlns:a16="http://schemas.microsoft.com/office/drawing/2014/main" id="{91D5DBD5-298B-4092-A57B-B80602D1E7EA}"/>
                </a:ext>
              </a:extLst>
            </p:cNvPr>
            <p:cNvSpPr/>
            <p:nvPr/>
          </p:nvSpPr>
          <p:spPr>
            <a:xfrm>
              <a:off x="6620017" y="5398306"/>
              <a:ext cx="1080000" cy="396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공급처</a:t>
              </a:r>
              <a:r>
                <a:rPr lang="en-US" altLang="ko-KR" sz="1000" b="1" spc="-1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판매처</a:t>
              </a:r>
              <a:r>
                <a:rPr lang="en-US" altLang="ko-KR" sz="1000" b="1" spc="-100" dirty="0">
                  <a:solidFill>
                    <a:schemeClr val="tx1"/>
                  </a:solidFill>
                  <a:latin typeface="+mn-ea"/>
                </a:rPr>
                <a:t>)</a:t>
              </a:r>
            </a:p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정보 요청 화면</a:t>
              </a:r>
              <a:endParaRPr lang="en-US" altLang="ko-KR" sz="1000" b="1" spc="-1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426" name="직선 화살표 연결선 425">
              <a:extLst>
                <a:ext uri="{FF2B5EF4-FFF2-40B4-BE49-F238E27FC236}">
                  <a16:creationId xmlns:a16="http://schemas.microsoft.com/office/drawing/2014/main" id="{30626B7F-DFE7-4D62-B389-4EEFCD9ACFBC}"/>
                </a:ext>
              </a:extLst>
            </p:cNvPr>
            <p:cNvCxnSpPr>
              <a:cxnSpLocks/>
              <a:stCxn id="425" idx="0"/>
              <a:endCxn id="344" idx="2"/>
            </p:cNvCxnSpPr>
            <p:nvPr/>
          </p:nvCxnSpPr>
          <p:spPr>
            <a:xfrm flipV="1">
              <a:off x="7160017" y="4241649"/>
              <a:ext cx="0" cy="1156657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직선 화살표 연결선 429">
              <a:extLst>
                <a:ext uri="{FF2B5EF4-FFF2-40B4-BE49-F238E27FC236}">
                  <a16:creationId xmlns:a16="http://schemas.microsoft.com/office/drawing/2014/main" id="{6B51C7DA-5BF9-4FFE-B9BA-DE0E95013C55}"/>
                </a:ext>
              </a:extLst>
            </p:cNvPr>
            <p:cNvCxnSpPr>
              <a:cxnSpLocks/>
              <a:stCxn id="344" idx="0"/>
              <a:endCxn id="199" idx="2"/>
            </p:cNvCxnSpPr>
            <p:nvPr/>
          </p:nvCxnSpPr>
          <p:spPr>
            <a:xfrm flipV="1">
              <a:off x="7160017" y="2925498"/>
              <a:ext cx="0" cy="920151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6" name="사각형: 둥근 모서리 455">
              <a:extLst>
                <a:ext uri="{FF2B5EF4-FFF2-40B4-BE49-F238E27FC236}">
                  <a16:creationId xmlns:a16="http://schemas.microsoft.com/office/drawing/2014/main" id="{907140FE-F16E-4845-9D1B-3ECD4807D454}"/>
                </a:ext>
              </a:extLst>
            </p:cNvPr>
            <p:cNvSpPr/>
            <p:nvPr/>
          </p:nvSpPr>
          <p:spPr>
            <a:xfrm>
              <a:off x="5248221" y="6136625"/>
              <a:ext cx="720000" cy="396000"/>
            </a:xfrm>
            <a:prstGeom prst="round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spc="-100" dirty="0">
                  <a:latin typeface="+mn-ea"/>
                </a:rPr>
                <a:t>Alibaba</a:t>
              </a:r>
              <a:endParaRPr lang="ko-KR" altLang="en-US" sz="1200" b="1" spc="-100" dirty="0">
                <a:latin typeface="+mn-ea"/>
              </a:endParaRPr>
            </a:p>
          </p:txBody>
        </p:sp>
        <p:cxnSp>
          <p:nvCxnSpPr>
            <p:cNvPr id="457" name="직선 화살표 연결선 456">
              <a:extLst>
                <a:ext uri="{FF2B5EF4-FFF2-40B4-BE49-F238E27FC236}">
                  <a16:creationId xmlns:a16="http://schemas.microsoft.com/office/drawing/2014/main" id="{0D1A81B3-BBF3-46F1-A3A3-A5C6E27C9E3D}"/>
                </a:ext>
              </a:extLst>
            </p:cNvPr>
            <p:cNvCxnSpPr>
              <a:cxnSpLocks/>
              <a:stCxn id="456" idx="0"/>
              <a:endCxn id="613" idx="2"/>
            </p:cNvCxnSpPr>
            <p:nvPr/>
          </p:nvCxnSpPr>
          <p:spPr>
            <a:xfrm flipV="1">
              <a:off x="5608221" y="5794306"/>
              <a:ext cx="0" cy="342319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dash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연결선: 꺾임 581">
              <a:extLst>
                <a:ext uri="{FF2B5EF4-FFF2-40B4-BE49-F238E27FC236}">
                  <a16:creationId xmlns:a16="http://schemas.microsoft.com/office/drawing/2014/main" id="{B10A1D58-8A44-47AF-8198-B09E249C2444}"/>
                </a:ext>
              </a:extLst>
            </p:cNvPr>
            <p:cNvCxnSpPr>
              <a:cxnSpLocks/>
              <a:stCxn id="317" idx="1"/>
              <a:endCxn id="314" idx="1"/>
            </p:cNvCxnSpPr>
            <p:nvPr/>
          </p:nvCxnSpPr>
          <p:spPr>
            <a:xfrm rot="10800000">
              <a:off x="5068221" y="3416917"/>
              <a:ext cx="12700" cy="1443963"/>
            </a:xfrm>
            <a:prstGeom prst="bentConnector3">
              <a:avLst>
                <a:gd name="adj1" fmla="val 1800000"/>
              </a:avLst>
            </a:prstGeom>
            <a:ln w="12700">
              <a:solidFill>
                <a:srgbClr val="00206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3" name="직사각형 612">
              <a:extLst>
                <a:ext uri="{FF2B5EF4-FFF2-40B4-BE49-F238E27FC236}">
                  <a16:creationId xmlns:a16="http://schemas.microsoft.com/office/drawing/2014/main" id="{BF46350B-8C89-43D9-A5EB-C470BA6574EE}"/>
                </a:ext>
              </a:extLst>
            </p:cNvPr>
            <p:cNvSpPr/>
            <p:nvPr/>
          </p:nvSpPr>
          <p:spPr>
            <a:xfrm>
              <a:off x="5068221" y="5398306"/>
              <a:ext cx="1080000" cy="396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가격 협상 결과</a:t>
              </a:r>
              <a:endParaRPr lang="en-US" altLang="ko-KR" sz="1000" b="1" spc="-100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관리 화면</a:t>
              </a:r>
              <a:endParaRPr lang="en-US" altLang="ko-KR" sz="1000" b="1" spc="-1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616" name="직선 화살표 연결선 615">
              <a:extLst>
                <a:ext uri="{FF2B5EF4-FFF2-40B4-BE49-F238E27FC236}">
                  <a16:creationId xmlns:a16="http://schemas.microsoft.com/office/drawing/2014/main" id="{A2A8A13F-6A0F-473A-B0FC-000F186948EC}"/>
                </a:ext>
              </a:extLst>
            </p:cNvPr>
            <p:cNvCxnSpPr>
              <a:cxnSpLocks/>
              <a:stCxn id="613" idx="0"/>
              <a:endCxn id="317" idx="2"/>
            </p:cNvCxnSpPr>
            <p:nvPr/>
          </p:nvCxnSpPr>
          <p:spPr>
            <a:xfrm flipV="1">
              <a:off x="5608221" y="5058879"/>
              <a:ext cx="0" cy="339427"/>
            </a:xfrm>
            <a:prstGeom prst="straightConnector1">
              <a:avLst/>
            </a:prstGeom>
            <a:ln w="12700">
              <a:solidFill>
                <a:srgbClr val="00206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직선 화살표 연결선 718">
              <a:extLst>
                <a:ext uri="{FF2B5EF4-FFF2-40B4-BE49-F238E27FC236}">
                  <a16:creationId xmlns:a16="http://schemas.microsoft.com/office/drawing/2014/main" id="{81924FF8-A646-4DAC-A31F-E09FEFA9982F}"/>
                </a:ext>
              </a:extLst>
            </p:cNvPr>
            <p:cNvCxnSpPr>
              <a:cxnSpLocks/>
              <a:stCxn id="199" idx="3"/>
              <a:endCxn id="233" idx="1"/>
            </p:cNvCxnSpPr>
            <p:nvPr/>
          </p:nvCxnSpPr>
          <p:spPr>
            <a:xfrm>
              <a:off x="7700017" y="2727498"/>
              <a:ext cx="261939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직선 화살표 연결선 819">
              <a:extLst>
                <a:ext uri="{FF2B5EF4-FFF2-40B4-BE49-F238E27FC236}">
                  <a16:creationId xmlns:a16="http://schemas.microsoft.com/office/drawing/2014/main" id="{B6216010-362C-4633-B24D-20B06B436784}"/>
                </a:ext>
              </a:extLst>
            </p:cNvPr>
            <p:cNvCxnSpPr>
              <a:cxnSpLocks/>
              <a:stCxn id="860" idx="2"/>
              <a:endCxn id="199" idx="0"/>
            </p:cNvCxnSpPr>
            <p:nvPr/>
          </p:nvCxnSpPr>
          <p:spPr>
            <a:xfrm>
              <a:off x="7160017" y="2002629"/>
              <a:ext cx="0" cy="526869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직선 화살표 연결선 827">
              <a:extLst>
                <a:ext uri="{FF2B5EF4-FFF2-40B4-BE49-F238E27FC236}">
                  <a16:creationId xmlns:a16="http://schemas.microsoft.com/office/drawing/2014/main" id="{8D0260FF-ED9B-4961-A727-E9E88852AE60}"/>
                </a:ext>
              </a:extLst>
            </p:cNvPr>
            <p:cNvCxnSpPr>
              <a:cxnSpLocks/>
              <a:stCxn id="344" idx="3"/>
              <a:endCxn id="1066" idx="1"/>
            </p:cNvCxnSpPr>
            <p:nvPr/>
          </p:nvCxnSpPr>
          <p:spPr>
            <a:xfrm>
              <a:off x="7700017" y="4043649"/>
              <a:ext cx="261939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64" name="그룹 863">
              <a:extLst>
                <a:ext uri="{FF2B5EF4-FFF2-40B4-BE49-F238E27FC236}">
                  <a16:creationId xmlns:a16="http://schemas.microsoft.com/office/drawing/2014/main" id="{01FC427B-7574-4CC1-9E22-F1ABE9F4B479}"/>
                </a:ext>
              </a:extLst>
            </p:cNvPr>
            <p:cNvGrpSpPr/>
            <p:nvPr/>
          </p:nvGrpSpPr>
          <p:grpSpPr>
            <a:xfrm>
              <a:off x="6530017" y="977218"/>
              <a:ext cx="1260000" cy="1025411"/>
              <a:chOff x="4410948" y="1989620"/>
              <a:chExt cx="1260000" cy="1025411"/>
            </a:xfrm>
          </p:grpSpPr>
          <p:sp>
            <p:nvSpPr>
              <p:cNvPr id="860" name="직사각형 859">
                <a:extLst>
                  <a:ext uri="{FF2B5EF4-FFF2-40B4-BE49-F238E27FC236}">
                    <a16:creationId xmlns:a16="http://schemas.microsoft.com/office/drawing/2014/main" id="{544661AB-1A0F-4F42-8D65-5E181D30D8FF}"/>
                  </a:ext>
                </a:extLst>
              </p:cNvPr>
              <p:cNvSpPr/>
              <p:nvPr/>
            </p:nvSpPr>
            <p:spPr>
              <a:xfrm>
                <a:off x="4410948" y="1989620"/>
                <a:ext cx="1260000" cy="10254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spc="-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grpSp>
            <p:nvGrpSpPr>
              <p:cNvPr id="861" name="그룹 860">
                <a:extLst>
                  <a:ext uri="{FF2B5EF4-FFF2-40B4-BE49-F238E27FC236}">
                    <a16:creationId xmlns:a16="http://schemas.microsoft.com/office/drawing/2014/main" id="{B2F8408F-80CF-41C7-8562-725B0C969DEE}"/>
                  </a:ext>
                </a:extLst>
              </p:cNvPr>
              <p:cNvGrpSpPr/>
              <p:nvPr/>
            </p:nvGrpSpPr>
            <p:grpSpPr>
              <a:xfrm>
                <a:off x="4500948" y="2070620"/>
                <a:ext cx="1080000" cy="863411"/>
                <a:chOff x="4500948" y="2061032"/>
                <a:chExt cx="1080000" cy="863411"/>
              </a:xfrm>
            </p:grpSpPr>
            <p:sp>
              <p:nvSpPr>
                <p:cNvPr id="862" name="직사각형 861">
                  <a:extLst>
                    <a:ext uri="{FF2B5EF4-FFF2-40B4-BE49-F238E27FC236}">
                      <a16:creationId xmlns:a16="http://schemas.microsoft.com/office/drawing/2014/main" id="{544C0D6F-BF86-405E-AAFE-D4469CEA7C57}"/>
                    </a:ext>
                  </a:extLst>
                </p:cNvPr>
                <p:cNvSpPr/>
                <p:nvPr/>
              </p:nvSpPr>
              <p:spPr>
                <a:xfrm>
                  <a:off x="4500948" y="2061032"/>
                  <a:ext cx="1080000" cy="39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b="1" spc="-100" dirty="0">
                      <a:solidFill>
                        <a:schemeClr val="tx1"/>
                      </a:solidFill>
                      <a:latin typeface="+mn-ea"/>
                    </a:rPr>
                    <a:t>내가 참여 중인</a:t>
                  </a:r>
                </a:p>
                <a:p>
                  <a:pPr algn="ctr"/>
                  <a:r>
                    <a:rPr lang="ko-KR" altLang="en-US" sz="1000" b="1" spc="-100" dirty="0">
                      <a:solidFill>
                        <a:schemeClr val="tx1"/>
                      </a:solidFill>
                      <a:latin typeface="+mn-ea"/>
                    </a:rPr>
                    <a:t>공동구매 조회 화면</a:t>
                  </a:r>
                </a:p>
              </p:txBody>
            </p:sp>
            <p:sp>
              <p:nvSpPr>
                <p:cNvPr id="863" name="직사각형 862">
                  <a:extLst>
                    <a:ext uri="{FF2B5EF4-FFF2-40B4-BE49-F238E27FC236}">
                      <a16:creationId xmlns:a16="http://schemas.microsoft.com/office/drawing/2014/main" id="{745B1FF2-9E9A-41AB-98FE-12635CEF5236}"/>
                    </a:ext>
                  </a:extLst>
                </p:cNvPr>
                <p:cNvSpPr/>
                <p:nvPr/>
              </p:nvSpPr>
              <p:spPr>
                <a:xfrm>
                  <a:off x="4500948" y="2528443"/>
                  <a:ext cx="1080000" cy="39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b="1" spc="-100" dirty="0">
                      <a:solidFill>
                        <a:schemeClr val="tx1"/>
                      </a:solidFill>
                      <a:latin typeface="+mn-ea"/>
                    </a:rPr>
                    <a:t>내가 참여한</a:t>
                  </a:r>
                </a:p>
                <a:p>
                  <a:pPr algn="ctr"/>
                  <a:r>
                    <a:rPr lang="ko-KR" altLang="en-US" sz="1000" b="1" spc="-100" dirty="0">
                      <a:solidFill>
                        <a:schemeClr val="tx1"/>
                      </a:solidFill>
                      <a:latin typeface="+mn-ea"/>
                    </a:rPr>
                    <a:t>공동구매 결과 화면</a:t>
                  </a:r>
                </a:p>
              </p:txBody>
            </p:sp>
          </p:grpSp>
        </p:grpSp>
        <p:sp>
          <p:nvSpPr>
            <p:cNvPr id="1024" name="타원 1023">
              <a:extLst>
                <a:ext uri="{FF2B5EF4-FFF2-40B4-BE49-F238E27FC236}">
                  <a16:creationId xmlns:a16="http://schemas.microsoft.com/office/drawing/2014/main" id="{84E5C680-3E33-490C-ADE7-A8C19CE03B2A}"/>
                </a:ext>
              </a:extLst>
            </p:cNvPr>
            <p:cNvSpPr/>
            <p:nvPr/>
          </p:nvSpPr>
          <p:spPr>
            <a:xfrm>
              <a:off x="8465606" y="416592"/>
              <a:ext cx="72000" cy="720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00206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043" name="연결선: 꺾임 1042">
              <a:extLst>
                <a:ext uri="{FF2B5EF4-FFF2-40B4-BE49-F238E27FC236}">
                  <a16:creationId xmlns:a16="http://schemas.microsoft.com/office/drawing/2014/main" id="{5C29CA0E-1741-4B1D-8859-6B735AB83589}"/>
                </a:ext>
              </a:extLst>
            </p:cNvPr>
            <p:cNvCxnSpPr>
              <a:cxnSpLocks/>
              <a:stCxn id="317" idx="3"/>
              <a:endCxn id="314" idx="3"/>
            </p:cNvCxnSpPr>
            <p:nvPr/>
          </p:nvCxnSpPr>
          <p:spPr>
            <a:xfrm flipV="1">
              <a:off x="6148221" y="3416916"/>
              <a:ext cx="12700" cy="1443963"/>
            </a:xfrm>
            <a:prstGeom prst="bentConnector3">
              <a:avLst>
                <a:gd name="adj1" fmla="val 1800000"/>
              </a:avLst>
            </a:prstGeom>
            <a:ln w="12700">
              <a:solidFill>
                <a:srgbClr val="00206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연결선: 꺾임 1046">
              <a:extLst>
                <a:ext uri="{FF2B5EF4-FFF2-40B4-BE49-F238E27FC236}">
                  <a16:creationId xmlns:a16="http://schemas.microsoft.com/office/drawing/2014/main" id="{DC0B3B55-3615-4845-8213-93A30B188F91}"/>
                </a:ext>
              </a:extLst>
            </p:cNvPr>
            <p:cNvCxnSpPr>
              <a:cxnSpLocks/>
              <a:stCxn id="456" idx="3"/>
              <a:endCxn id="425" idx="2"/>
            </p:cNvCxnSpPr>
            <p:nvPr/>
          </p:nvCxnSpPr>
          <p:spPr>
            <a:xfrm flipV="1">
              <a:off x="5968221" y="5794306"/>
              <a:ext cx="1191796" cy="540319"/>
            </a:xfrm>
            <a:prstGeom prst="bentConnector2">
              <a:avLst/>
            </a:prstGeom>
            <a:ln w="12700">
              <a:solidFill>
                <a:srgbClr val="00206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직선 화살표 연결선 1049">
              <a:extLst>
                <a:ext uri="{FF2B5EF4-FFF2-40B4-BE49-F238E27FC236}">
                  <a16:creationId xmlns:a16="http://schemas.microsoft.com/office/drawing/2014/main" id="{EAB3E497-FD2E-4404-981C-4943B845CDDC}"/>
                </a:ext>
              </a:extLst>
            </p:cNvPr>
            <p:cNvCxnSpPr>
              <a:cxnSpLocks/>
              <a:stCxn id="613" idx="3"/>
              <a:endCxn id="425" idx="1"/>
            </p:cNvCxnSpPr>
            <p:nvPr/>
          </p:nvCxnSpPr>
          <p:spPr>
            <a:xfrm>
              <a:off x="6148221" y="5596306"/>
              <a:ext cx="471796" cy="0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6" name="직사각형 1065">
              <a:extLst>
                <a:ext uri="{FF2B5EF4-FFF2-40B4-BE49-F238E27FC236}">
                  <a16:creationId xmlns:a16="http://schemas.microsoft.com/office/drawing/2014/main" id="{22E095AA-8128-4A24-ACC8-D11CBF1B79F4}"/>
                </a:ext>
              </a:extLst>
            </p:cNvPr>
            <p:cNvSpPr/>
            <p:nvPr/>
          </p:nvSpPr>
          <p:spPr>
            <a:xfrm>
              <a:off x="7961956" y="3845649"/>
              <a:ext cx="1080000" cy="396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공동구매 관리 화면</a:t>
              </a:r>
            </a:p>
          </p:txBody>
        </p:sp>
        <p:cxnSp>
          <p:nvCxnSpPr>
            <p:cNvPr id="1068" name="직선 화살표 연결선 1067">
              <a:extLst>
                <a:ext uri="{FF2B5EF4-FFF2-40B4-BE49-F238E27FC236}">
                  <a16:creationId xmlns:a16="http://schemas.microsoft.com/office/drawing/2014/main" id="{14C33E84-94F4-4393-8D1D-DC514B836C0B}"/>
                </a:ext>
              </a:extLst>
            </p:cNvPr>
            <p:cNvCxnSpPr>
              <a:cxnSpLocks/>
              <a:stCxn id="233" idx="2"/>
              <a:endCxn id="1066" idx="0"/>
            </p:cNvCxnSpPr>
            <p:nvPr/>
          </p:nvCxnSpPr>
          <p:spPr>
            <a:xfrm>
              <a:off x="8501956" y="2925498"/>
              <a:ext cx="0" cy="920151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직선 화살표 연결선 1070">
              <a:extLst>
                <a:ext uri="{FF2B5EF4-FFF2-40B4-BE49-F238E27FC236}">
                  <a16:creationId xmlns:a16="http://schemas.microsoft.com/office/drawing/2014/main" id="{7756E56F-9408-4F48-BC8F-5A612A0A21EF}"/>
                </a:ext>
              </a:extLst>
            </p:cNvPr>
            <p:cNvCxnSpPr>
              <a:cxnSpLocks/>
              <a:stCxn id="1066" idx="2"/>
              <a:endCxn id="345" idx="0"/>
            </p:cNvCxnSpPr>
            <p:nvPr/>
          </p:nvCxnSpPr>
          <p:spPr>
            <a:xfrm>
              <a:off x="8501956" y="4241649"/>
              <a:ext cx="0" cy="421230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7" name="직사각형 1076">
              <a:extLst>
                <a:ext uri="{FF2B5EF4-FFF2-40B4-BE49-F238E27FC236}">
                  <a16:creationId xmlns:a16="http://schemas.microsoft.com/office/drawing/2014/main" id="{61704535-58C5-4D8A-A36E-ED9948A26BEF}"/>
                </a:ext>
              </a:extLst>
            </p:cNvPr>
            <p:cNvSpPr/>
            <p:nvPr/>
          </p:nvSpPr>
          <p:spPr>
            <a:xfrm>
              <a:off x="7961956" y="1918345"/>
              <a:ext cx="1080000" cy="396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에스크로</a:t>
              </a:r>
              <a:r>
                <a:rPr lang="en-US" altLang="ko-KR" sz="1000" b="1" spc="-10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입금 화면</a:t>
              </a:r>
            </a:p>
          </p:txBody>
        </p:sp>
        <p:cxnSp>
          <p:nvCxnSpPr>
            <p:cNvPr id="1120" name="직선 화살표 연결선 1119">
              <a:extLst>
                <a:ext uri="{FF2B5EF4-FFF2-40B4-BE49-F238E27FC236}">
                  <a16:creationId xmlns:a16="http://schemas.microsoft.com/office/drawing/2014/main" id="{A34AAFF7-764E-472D-A53D-7342D24DA936}"/>
                </a:ext>
              </a:extLst>
            </p:cNvPr>
            <p:cNvCxnSpPr>
              <a:cxnSpLocks/>
              <a:stCxn id="233" idx="0"/>
              <a:endCxn id="1077" idx="2"/>
            </p:cNvCxnSpPr>
            <p:nvPr/>
          </p:nvCxnSpPr>
          <p:spPr>
            <a:xfrm flipV="1">
              <a:off x="8501956" y="2314345"/>
              <a:ext cx="0" cy="215153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직선 화살표 연결선 1122">
              <a:extLst>
                <a:ext uri="{FF2B5EF4-FFF2-40B4-BE49-F238E27FC236}">
                  <a16:creationId xmlns:a16="http://schemas.microsoft.com/office/drawing/2014/main" id="{9BF1208F-5988-434C-A0D1-28632D1C7FD5}"/>
                </a:ext>
              </a:extLst>
            </p:cNvPr>
            <p:cNvCxnSpPr>
              <a:cxnSpLocks/>
              <a:stCxn id="1077" idx="0"/>
              <a:endCxn id="1024" idx="4"/>
            </p:cNvCxnSpPr>
            <p:nvPr/>
          </p:nvCxnSpPr>
          <p:spPr>
            <a:xfrm flipH="1" flipV="1">
              <a:off x="8501606" y="488592"/>
              <a:ext cx="350" cy="1429753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7" name="연결선: 꺾임 1156">
              <a:extLst>
                <a:ext uri="{FF2B5EF4-FFF2-40B4-BE49-F238E27FC236}">
                  <a16:creationId xmlns:a16="http://schemas.microsoft.com/office/drawing/2014/main" id="{E33ED677-B53C-4BF4-B5A3-0352C9ADAB0A}"/>
                </a:ext>
              </a:extLst>
            </p:cNvPr>
            <p:cNvCxnSpPr>
              <a:cxnSpLocks/>
              <a:stCxn id="345" idx="3"/>
              <a:endCxn id="419" idx="2"/>
            </p:cNvCxnSpPr>
            <p:nvPr/>
          </p:nvCxnSpPr>
          <p:spPr>
            <a:xfrm flipV="1">
              <a:off x="9041956" y="2925498"/>
              <a:ext cx="805052" cy="1935381"/>
            </a:xfrm>
            <a:prstGeom prst="bentConnector2">
              <a:avLst/>
            </a:prstGeom>
            <a:ln w="12700">
              <a:solidFill>
                <a:srgbClr val="00206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2" name="사각형: 둥근 모서리 1161">
              <a:extLst>
                <a:ext uri="{FF2B5EF4-FFF2-40B4-BE49-F238E27FC236}">
                  <a16:creationId xmlns:a16="http://schemas.microsoft.com/office/drawing/2014/main" id="{D714F451-75D9-4ED2-A0F8-633D69F53F3F}"/>
                </a:ext>
              </a:extLst>
            </p:cNvPr>
            <p:cNvSpPr/>
            <p:nvPr/>
          </p:nvSpPr>
          <p:spPr>
            <a:xfrm>
              <a:off x="8141956" y="6136625"/>
              <a:ext cx="720000" cy="396000"/>
            </a:xfrm>
            <a:prstGeom prst="round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spc="-100" dirty="0">
                  <a:latin typeface="+mn-ea"/>
                </a:rPr>
                <a:t>CJ</a:t>
              </a:r>
              <a:endParaRPr lang="ko-KR" altLang="en-US" sz="1200" b="1" spc="-100" dirty="0">
                <a:latin typeface="+mn-ea"/>
              </a:endParaRPr>
            </a:p>
          </p:txBody>
        </p:sp>
        <p:cxnSp>
          <p:nvCxnSpPr>
            <p:cNvPr id="1163" name="직선 화살표 연결선 1162">
              <a:extLst>
                <a:ext uri="{FF2B5EF4-FFF2-40B4-BE49-F238E27FC236}">
                  <a16:creationId xmlns:a16="http://schemas.microsoft.com/office/drawing/2014/main" id="{61661990-F522-442A-B733-3A277726D8A9}"/>
                </a:ext>
              </a:extLst>
            </p:cNvPr>
            <p:cNvCxnSpPr>
              <a:cxnSpLocks/>
              <a:stCxn id="1162" idx="0"/>
              <a:endCxn id="345" idx="2"/>
            </p:cNvCxnSpPr>
            <p:nvPr/>
          </p:nvCxnSpPr>
          <p:spPr>
            <a:xfrm flipV="1">
              <a:off x="8501956" y="5058879"/>
              <a:ext cx="0" cy="1077746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8" name="직사각형 1167">
              <a:extLst>
                <a:ext uri="{FF2B5EF4-FFF2-40B4-BE49-F238E27FC236}">
                  <a16:creationId xmlns:a16="http://schemas.microsoft.com/office/drawing/2014/main" id="{A0A6BE8A-AEA0-476C-AFBB-D1C963883DE1}"/>
                </a:ext>
              </a:extLst>
            </p:cNvPr>
            <p:cNvSpPr/>
            <p:nvPr/>
          </p:nvSpPr>
          <p:spPr>
            <a:xfrm>
              <a:off x="10032074" y="1918345"/>
              <a:ext cx="1080000" cy="396000"/>
            </a:xfrm>
            <a:prstGeom prst="rect">
              <a:avLst/>
            </a:prstGeom>
            <a:solidFill>
              <a:srgbClr val="0070C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제품 수취 확인 화면</a:t>
              </a:r>
            </a:p>
          </p:txBody>
        </p:sp>
        <p:sp>
          <p:nvSpPr>
            <p:cNvPr id="1173" name="직사각형 1172">
              <a:extLst>
                <a:ext uri="{FF2B5EF4-FFF2-40B4-BE49-F238E27FC236}">
                  <a16:creationId xmlns:a16="http://schemas.microsoft.com/office/drawing/2014/main" id="{78DD48B9-ABE6-4F3C-B623-3F1D5459BB09}"/>
                </a:ext>
              </a:extLst>
            </p:cNvPr>
            <p:cNvSpPr/>
            <p:nvPr/>
          </p:nvSpPr>
          <p:spPr>
            <a:xfrm>
              <a:off x="10800222" y="2529498"/>
              <a:ext cx="1080000" cy="39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제품</a:t>
              </a:r>
              <a:r>
                <a:rPr lang="en-US" altLang="ko-KR" sz="1000" b="1" spc="-100" dirty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배송</a:t>
              </a:r>
              <a:endParaRPr lang="en-US" altLang="ko-KR" sz="1000" b="1" spc="-100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000" b="1" spc="-100" dirty="0">
                  <a:solidFill>
                    <a:schemeClr val="tx1"/>
                  </a:solidFill>
                  <a:latin typeface="+mn-ea"/>
                </a:rPr>
                <a:t>AS </a:t>
              </a:r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요청 화면</a:t>
              </a:r>
            </a:p>
          </p:txBody>
        </p:sp>
        <p:sp>
          <p:nvSpPr>
            <p:cNvPr id="1178" name="직사각형 1177">
              <a:extLst>
                <a:ext uri="{FF2B5EF4-FFF2-40B4-BE49-F238E27FC236}">
                  <a16:creationId xmlns:a16="http://schemas.microsoft.com/office/drawing/2014/main" id="{17B2C769-41CD-4521-84D3-2C42819095BC}"/>
                </a:ext>
              </a:extLst>
            </p:cNvPr>
            <p:cNvSpPr/>
            <p:nvPr/>
          </p:nvSpPr>
          <p:spPr>
            <a:xfrm>
              <a:off x="10800222" y="5566629"/>
              <a:ext cx="1080000" cy="396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제품</a:t>
              </a:r>
              <a:r>
                <a:rPr lang="en-US" altLang="ko-KR" sz="1000" b="1" spc="-100" dirty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배송</a:t>
              </a:r>
              <a:endParaRPr lang="en-US" altLang="ko-KR" sz="1000" b="1" spc="-100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000" b="1" spc="-100" dirty="0">
                  <a:solidFill>
                    <a:schemeClr val="tx1"/>
                  </a:solidFill>
                  <a:latin typeface="+mn-ea"/>
                </a:rPr>
                <a:t>AS </a:t>
              </a:r>
              <a:r>
                <a:rPr lang="ko-KR" altLang="en-US" sz="1000" b="1" spc="-100" dirty="0">
                  <a:solidFill>
                    <a:schemeClr val="tx1"/>
                  </a:solidFill>
                  <a:latin typeface="+mn-ea"/>
                </a:rPr>
                <a:t>관리 화면</a:t>
              </a:r>
            </a:p>
          </p:txBody>
        </p:sp>
        <p:cxnSp>
          <p:nvCxnSpPr>
            <p:cNvPr id="1183" name="연결선: 꺾임 1182">
              <a:extLst>
                <a:ext uri="{FF2B5EF4-FFF2-40B4-BE49-F238E27FC236}">
                  <a16:creationId xmlns:a16="http://schemas.microsoft.com/office/drawing/2014/main" id="{45731CC0-DE7A-47D3-8BBF-E310BBDAE66E}"/>
                </a:ext>
              </a:extLst>
            </p:cNvPr>
            <p:cNvCxnSpPr>
              <a:cxnSpLocks/>
              <a:stCxn id="456" idx="2"/>
              <a:endCxn id="1178" idx="3"/>
            </p:cNvCxnSpPr>
            <p:nvPr/>
          </p:nvCxnSpPr>
          <p:spPr>
            <a:xfrm rot="5400000" flipH="1" flipV="1">
              <a:off x="8360223" y="3012626"/>
              <a:ext cx="767996" cy="6272001"/>
            </a:xfrm>
            <a:prstGeom prst="bentConnector4">
              <a:avLst>
                <a:gd name="adj1" fmla="val -29766"/>
                <a:gd name="adj2" fmla="val 103073"/>
              </a:avLst>
            </a:prstGeom>
            <a:ln w="12700">
              <a:solidFill>
                <a:srgbClr val="002060"/>
              </a:solidFill>
              <a:prstDash val="dash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5" name="직선 화살표 연결선 1254">
              <a:extLst>
                <a:ext uri="{FF2B5EF4-FFF2-40B4-BE49-F238E27FC236}">
                  <a16:creationId xmlns:a16="http://schemas.microsoft.com/office/drawing/2014/main" id="{950A352F-B3A0-46C1-B0B5-DD94A79D77AC}"/>
                </a:ext>
              </a:extLst>
            </p:cNvPr>
            <p:cNvCxnSpPr>
              <a:cxnSpLocks/>
              <a:stCxn id="314" idx="2"/>
              <a:endCxn id="346" idx="0"/>
            </p:cNvCxnSpPr>
            <p:nvPr/>
          </p:nvCxnSpPr>
          <p:spPr>
            <a:xfrm>
              <a:off x="5608221" y="3614916"/>
              <a:ext cx="0" cy="230733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7" name="직선 화살표 연결선 1266">
              <a:extLst>
                <a:ext uri="{FF2B5EF4-FFF2-40B4-BE49-F238E27FC236}">
                  <a16:creationId xmlns:a16="http://schemas.microsoft.com/office/drawing/2014/main" id="{AF923548-EC86-4B3D-B236-491CD3148A67}"/>
                </a:ext>
              </a:extLst>
            </p:cNvPr>
            <p:cNvCxnSpPr>
              <a:cxnSpLocks/>
              <a:stCxn id="1173" idx="2"/>
              <a:endCxn id="1178" idx="0"/>
            </p:cNvCxnSpPr>
            <p:nvPr/>
          </p:nvCxnSpPr>
          <p:spPr>
            <a:xfrm>
              <a:off x="11340222" y="2925498"/>
              <a:ext cx="0" cy="2641131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2" name="직사각형 1281">
              <a:extLst>
                <a:ext uri="{FF2B5EF4-FFF2-40B4-BE49-F238E27FC236}">
                  <a16:creationId xmlns:a16="http://schemas.microsoft.com/office/drawing/2014/main" id="{F98B1139-8DDB-4B28-98C8-B4C2EA2137AB}"/>
                </a:ext>
              </a:extLst>
            </p:cNvPr>
            <p:cNvSpPr/>
            <p:nvPr/>
          </p:nvSpPr>
          <p:spPr>
            <a:xfrm>
              <a:off x="10032074" y="3845649"/>
              <a:ext cx="1080000" cy="396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수수료 정산 </a:t>
              </a:r>
              <a:endParaRPr lang="en-US" altLang="ko-KR" sz="1000" b="1" spc="-100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lang="ko-KR" altLang="en-US" sz="1000" b="1" spc="-100" dirty="0">
                  <a:solidFill>
                    <a:schemeClr val="bg1"/>
                  </a:solidFill>
                  <a:latin typeface="+mn-ea"/>
                </a:rPr>
                <a:t>관리 화면</a:t>
              </a:r>
            </a:p>
          </p:txBody>
        </p:sp>
        <p:cxnSp>
          <p:nvCxnSpPr>
            <p:cNvPr id="1293" name="연결선: 꺾임 1292">
              <a:extLst>
                <a:ext uri="{FF2B5EF4-FFF2-40B4-BE49-F238E27FC236}">
                  <a16:creationId xmlns:a16="http://schemas.microsoft.com/office/drawing/2014/main" id="{86EB7920-5DC8-48DE-A6BA-E2D0476F4B31}"/>
                </a:ext>
              </a:extLst>
            </p:cNvPr>
            <p:cNvCxnSpPr>
              <a:cxnSpLocks/>
              <a:stCxn id="419" idx="0"/>
              <a:endCxn id="1168" idx="1"/>
            </p:cNvCxnSpPr>
            <p:nvPr/>
          </p:nvCxnSpPr>
          <p:spPr>
            <a:xfrm rot="5400000" flipH="1" flipV="1">
              <a:off x="9732965" y="2230389"/>
              <a:ext cx="413153" cy="185066"/>
            </a:xfrm>
            <a:prstGeom prst="bentConnector2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2" name="연결선: 꺾임 1301">
              <a:extLst>
                <a:ext uri="{FF2B5EF4-FFF2-40B4-BE49-F238E27FC236}">
                  <a16:creationId xmlns:a16="http://schemas.microsoft.com/office/drawing/2014/main" id="{DE562C98-9A56-4C1C-B8A4-EC4A65FF42C8}"/>
                </a:ext>
              </a:extLst>
            </p:cNvPr>
            <p:cNvCxnSpPr>
              <a:cxnSpLocks/>
              <a:stCxn id="1168" idx="3"/>
              <a:endCxn id="1173" idx="0"/>
            </p:cNvCxnSpPr>
            <p:nvPr/>
          </p:nvCxnSpPr>
          <p:spPr>
            <a:xfrm>
              <a:off x="11112074" y="2116345"/>
              <a:ext cx="228148" cy="413153"/>
            </a:xfrm>
            <a:prstGeom prst="bentConnector2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9" name="직선 화살표 연결선 1308">
              <a:extLst>
                <a:ext uri="{FF2B5EF4-FFF2-40B4-BE49-F238E27FC236}">
                  <a16:creationId xmlns:a16="http://schemas.microsoft.com/office/drawing/2014/main" id="{2E2CAA7D-DAD0-4260-B043-4175AEABE0A7}"/>
                </a:ext>
              </a:extLst>
            </p:cNvPr>
            <p:cNvCxnSpPr>
              <a:cxnSpLocks/>
              <a:stCxn id="1168" idx="2"/>
              <a:endCxn id="1282" idx="0"/>
            </p:cNvCxnSpPr>
            <p:nvPr/>
          </p:nvCxnSpPr>
          <p:spPr>
            <a:xfrm>
              <a:off x="10572074" y="2314345"/>
              <a:ext cx="0" cy="1531304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타원 238">
              <a:extLst>
                <a:ext uri="{FF2B5EF4-FFF2-40B4-BE49-F238E27FC236}">
                  <a16:creationId xmlns:a16="http://schemas.microsoft.com/office/drawing/2014/main" id="{5AA44BF0-7596-4E0D-A1A3-FF5014C96196}"/>
                </a:ext>
              </a:extLst>
            </p:cNvPr>
            <p:cNvSpPr/>
            <p:nvPr/>
          </p:nvSpPr>
          <p:spPr>
            <a:xfrm>
              <a:off x="10223257" y="5123379"/>
              <a:ext cx="72000" cy="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44" name="연결선: 꺾임 243">
              <a:extLst>
                <a:ext uri="{FF2B5EF4-FFF2-40B4-BE49-F238E27FC236}">
                  <a16:creationId xmlns:a16="http://schemas.microsoft.com/office/drawing/2014/main" id="{82ADDFDF-D7D8-40D3-97AE-342F1A0DFCD5}"/>
                </a:ext>
              </a:extLst>
            </p:cNvPr>
            <p:cNvCxnSpPr>
              <a:cxnSpLocks/>
              <a:stCxn id="1178" idx="1"/>
              <a:endCxn id="239" idx="4"/>
            </p:cNvCxnSpPr>
            <p:nvPr/>
          </p:nvCxnSpPr>
          <p:spPr>
            <a:xfrm rot="10800000">
              <a:off x="10259258" y="5195379"/>
              <a:ext cx="540965" cy="569250"/>
            </a:xfrm>
            <a:prstGeom prst="bentConnector2">
              <a:avLst/>
            </a:prstGeom>
            <a:ln w="12700">
              <a:solidFill>
                <a:srgbClr val="00206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연결선: 꺾임 278">
              <a:extLst>
                <a:ext uri="{FF2B5EF4-FFF2-40B4-BE49-F238E27FC236}">
                  <a16:creationId xmlns:a16="http://schemas.microsoft.com/office/drawing/2014/main" id="{70408759-C86C-4DA8-8F78-B0642EC4EBEE}"/>
                </a:ext>
              </a:extLst>
            </p:cNvPr>
            <p:cNvCxnSpPr>
              <a:cxnSpLocks/>
              <a:stCxn id="1162" idx="3"/>
              <a:endCxn id="1178" idx="2"/>
            </p:cNvCxnSpPr>
            <p:nvPr/>
          </p:nvCxnSpPr>
          <p:spPr>
            <a:xfrm flipV="1">
              <a:off x="8861956" y="5962629"/>
              <a:ext cx="2478266" cy="371996"/>
            </a:xfrm>
            <a:prstGeom prst="bentConnector2">
              <a:avLst/>
            </a:prstGeom>
            <a:ln w="12700">
              <a:solidFill>
                <a:srgbClr val="002060"/>
              </a:solidFill>
              <a:prstDash val="dash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직선 화살표 연결선 330">
              <a:extLst>
                <a:ext uri="{FF2B5EF4-FFF2-40B4-BE49-F238E27FC236}">
                  <a16:creationId xmlns:a16="http://schemas.microsoft.com/office/drawing/2014/main" id="{44EAD8A6-CF10-4A7F-A7F0-10B41F6A0CA1}"/>
                </a:ext>
              </a:extLst>
            </p:cNvPr>
            <p:cNvCxnSpPr>
              <a:cxnSpLocks/>
              <a:stCxn id="112" idx="3"/>
              <a:endCxn id="860" idx="1"/>
            </p:cNvCxnSpPr>
            <p:nvPr/>
          </p:nvCxnSpPr>
          <p:spPr>
            <a:xfrm flipV="1">
              <a:off x="6148221" y="1489924"/>
              <a:ext cx="381796" cy="6302"/>
            </a:xfrm>
            <a:prstGeom prst="straightConnector1">
              <a:avLst/>
            </a:prstGeom>
            <a:ln w="1270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4" name="그룹 463">
              <a:extLst>
                <a:ext uri="{FF2B5EF4-FFF2-40B4-BE49-F238E27FC236}">
                  <a16:creationId xmlns:a16="http://schemas.microsoft.com/office/drawing/2014/main" id="{EBB97120-945B-4A94-B8B8-0E32FC7E6375}"/>
                </a:ext>
              </a:extLst>
            </p:cNvPr>
            <p:cNvGrpSpPr/>
            <p:nvPr/>
          </p:nvGrpSpPr>
          <p:grpSpPr>
            <a:xfrm rot="5400000">
              <a:off x="8429956" y="4380264"/>
              <a:ext cx="144000" cy="144000"/>
              <a:chOff x="1336771" y="1417923"/>
              <a:chExt cx="144000" cy="144000"/>
            </a:xfrm>
          </p:grpSpPr>
          <p:sp>
            <p:nvSpPr>
              <p:cNvPr id="465" name="부분 원형 464">
                <a:extLst>
                  <a:ext uri="{FF2B5EF4-FFF2-40B4-BE49-F238E27FC236}">
                    <a16:creationId xmlns:a16="http://schemas.microsoft.com/office/drawing/2014/main" id="{92A76029-9605-4DB8-A7C5-C3272734B605}"/>
                  </a:ext>
                </a:extLst>
              </p:cNvPr>
              <p:cNvSpPr/>
              <p:nvPr/>
            </p:nvSpPr>
            <p:spPr>
              <a:xfrm>
                <a:off x="1336771" y="1417923"/>
                <a:ext cx="144000" cy="144000"/>
              </a:xfrm>
              <a:prstGeom prst="pie">
                <a:avLst>
                  <a:gd name="adj1" fmla="val 10802799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66" name="직선 화살표 연결선 465">
                <a:extLst>
                  <a:ext uri="{FF2B5EF4-FFF2-40B4-BE49-F238E27FC236}">
                    <a16:creationId xmlns:a16="http://schemas.microsoft.com/office/drawing/2014/main" id="{6DEA0092-5161-4B80-8DC0-9FE48556D9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4391" y="1489923"/>
                <a:ext cx="129600" cy="0"/>
              </a:xfrm>
              <a:prstGeom prst="straightConnector1">
                <a:avLst/>
              </a:prstGeom>
              <a:ln w="28575" cap="flat">
                <a:solidFill>
                  <a:schemeClr val="bg1"/>
                </a:solidFill>
                <a:round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7" name="그룹 466">
              <a:extLst>
                <a:ext uri="{FF2B5EF4-FFF2-40B4-BE49-F238E27FC236}">
                  <a16:creationId xmlns:a16="http://schemas.microsoft.com/office/drawing/2014/main" id="{A47CA19A-4DFF-43AF-AE82-18219A711F7F}"/>
                </a:ext>
              </a:extLst>
            </p:cNvPr>
            <p:cNvGrpSpPr/>
            <p:nvPr/>
          </p:nvGrpSpPr>
          <p:grpSpPr>
            <a:xfrm rot="5400000">
              <a:off x="7088017" y="4380264"/>
              <a:ext cx="144000" cy="144000"/>
              <a:chOff x="1336771" y="1417923"/>
              <a:chExt cx="144000" cy="144000"/>
            </a:xfrm>
          </p:grpSpPr>
          <p:sp>
            <p:nvSpPr>
              <p:cNvPr id="468" name="부분 원형 467">
                <a:extLst>
                  <a:ext uri="{FF2B5EF4-FFF2-40B4-BE49-F238E27FC236}">
                    <a16:creationId xmlns:a16="http://schemas.microsoft.com/office/drawing/2014/main" id="{17D9E32C-6314-4923-A773-76386C904889}"/>
                  </a:ext>
                </a:extLst>
              </p:cNvPr>
              <p:cNvSpPr/>
              <p:nvPr/>
            </p:nvSpPr>
            <p:spPr>
              <a:xfrm>
                <a:off x="1336771" y="1417923"/>
                <a:ext cx="144000" cy="144000"/>
              </a:xfrm>
              <a:prstGeom prst="pie">
                <a:avLst>
                  <a:gd name="adj1" fmla="val 10802799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rgbClr val="00206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69" name="직선 화살표 연결선 468">
                <a:extLst>
                  <a:ext uri="{FF2B5EF4-FFF2-40B4-BE49-F238E27FC236}">
                    <a16:creationId xmlns:a16="http://schemas.microsoft.com/office/drawing/2014/main" id="{00619477-62B0-4586-A2C6-EE9322F694C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406820" y="1425386"/>
                <a:ext cx="2108" cy="126966"/>
              </a:xfrm>
              <a:prstGeom prst="straightConnector1">
                <a:avLst/>
              </a:prstGeom>
              <a:ln w="28575" cap="flat">
                <a:solidFill>
                  <a:schemeClr val="bg1"/>
                </a:solidFill>
                <a:round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0" name="그룹 469">
              <a:extLst>
                <a:ext uri="{FF2B5EF4-FFF2-40B4-BE49-F238E27FC236}">
                  <a16:creationId xmlns:a16="http://schemas.microsoft.com/office/drawing/2014/main" id="{910CABE1-6091-4BCF-A506-B8F3EAFB12D1}"/>
                </a:ext>
              </a:extLst>
            </p:cNvPr>
            <p:cNvGrpSpPr/>
            <p:nvPr/>
          </p:nvGrpSpPr>
          <p:grpSpPr>
            <a:xfrm rot="5400000">
              <a:off x="6305844" y="4380264"/>
              <a:ext cx="144000" cy="144000"/>
              <a:chOff x="1336771" y="1417923"/>
              <a:chExt cx="144000" cy="144000"/>
            </a:xfrm>
          </p:grpSpPr>
          <p:sp>
            <p:nvSpPr>
              <p:cNvPr id="471" name="부분 원형 470">
                <a:extLst>
                  <a:ext uri="{FF2B5EF4-FFF2-40B4-BE49-F238E27FC236}">
                    <a16:creationId xmlns:a16="http://schemas.microsoft.com/office/drawing/2014/main" id="{8F63D5D7-84BA-4DA1-A2EE-6072AA6A6953}"/>
                  </a:ext>
                </a:extLst>
              </p:cNvPr>
              <p:cNvSpPr/>
              <p:nvPr/>
            </p:nvSpPr>
            <p:spPr>
              <a:xfrm>
                <a:off x="1336771" y="1417923"/>
                <a:ext cx="144000" cy="144000"/>
              </a:xfrm>
              <a:prstGeom prst="pie">
                <a:avLst>
                  <a:gd name="adj1" fmla="val 10802799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72" name="직선 화살표 연결선 471">
                <a:extLst>
                  <a:ext uri="{FF2B5EF4-FFF2-40B4-BE49-F238E27FC236}">
                    <a16:creationId xmlns:a16="http://schemas.microsoft.com/office/drawing/2014/main" id="{85AC0E42-C767-4340-8592-389C4624A5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4391" y="1489923"/>
                <a:ext cx="129600" cy="0"/>
              </a:xfrm>
              <a:prstGeom prst="straightConnector1">
                <a:avLst/>
              </a:prstGeom>
              <a:ln w="28575" cap="flat">
                <a:solidFill>
                  <a:schemeClr val="bg1"/>
                </a:solidFill>
                <a:round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3" name="그룹 472">
              <a:extLst>
                <a:ext uri="{FF2B5EF4-FFF2-40B4-BE49-F238E27FC236}">
                  <a16:creationId xmlns:a16="http://schemas.microsoft.com/office/drawing/2014/main" id="{ABF38A67-6126-4623-AD91-9A233DB4CFFA}"/>
                </a:ext>
              </a:extLst>
            </p:cNvPr>
            <p:cNvGrpSpPr/>
            <p:nvPr/>
          </p:nvGrpSpPr>
          <p:grpSpPr>
            <a:xfrm rot="5400000">
              <a:off x="9771894" y="4380264"/>
              <a:ext cx="144000" cy="144000"/>
              <a:chOff x="1336771" y="1417923"/>
              <a:chExt cx="144000" cy="144000"/>
            </a:xfrm>
          </p:grpSpPr>
          <p:sp>
            <p:nvSpPr>
              <p:cNvPr id="474" name="부분 원형 473">
                <a:extLst>
                  <a:ext uri="{FF2B5EF4-FFF2-40B4-BE49-F238E27FC236}">
                    <a16:creationId xmlns:a16="http://schemas.microsoft.com/office/drawing/2014/main" id="{F0A87C88-4A68-4412-A6FD-DDEDF84BAF0F}"/>
                  </a:ext>
                </a:extLst>
              </p:cNvPr>
              <p:cNvSpPr/>
              <p:nvPr/>
            </p:nvSpPr>
            <p:spPr>
              <a:xfrm>
                <a:off x="1336771" y="1417923"/>
                <a:ext cx="144000" cy="144000"/>
              </a:xfrm>
              <a:prstGeom prst="pie">
                <a:avLst>
                  <a:gd name="adj1" fmla="val 10802799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rgbClr val="00206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75" name="직선 화살표 연결선 474">
                <a:extLst>
                  <a:ext uri="{FF2B5EF4-FFF2-40B4-BE49-F238E27FC236}">
                    <a16:creationId xmlns:a16="http://schemas.microsoft.com/office/drawing/2014/main" id="{7C7C7144-B283-4C30-9FE7-C60EC6C2049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406820" y="1425386"/>
                <a:ext cx="2108" cy="126966"/>
              </a:xfrm>
              <a:prstGeom prst="straightConnector1">
                <a:avLst/>
              </a:prstGeom>
              <a:ln w="28575" cap="flat">
                <a:solidFill>
                  <a:schemeClr val="bg1"/>
                </a:solidFill>
                <a:round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9" name="연결선: 꺾임 228">
              <a:extLst>
                <a:ext uri="{FF2B5EF4-FFF2-40B4-BE49-F238E27FC236}">
                  <a16:creationId xmlns:a16="http://schemas.microsoft.com/office/drawing/2014/main" id="{0264D6C4-EE94-4A26-9D90-ED10E9096493}"/>
                </a:ext>
              </a:extLst>
            </p:cNvPr>
            <p:cNvCxnSpPr>
              <a:cxnSpLocks/>
              <a:stCxn id="239" idx="0"/>
              <a:endCxn id="346" idx="2"/>
            </p:cNvCxnSpPr>
            <p:nvPr/>
          </p:nvCxnSpPr>
          <p:spPr>
            <a:xfrm rot="16200000" flipV="1">
              <a:off x="7492874" y="2356996"/>
              <a:ext cx="881730" cy="4651036"/>
            </a:xfrm>
            <a:prstGeom prst="bentConnector3">
              <a:avLst>
                <a:gd name="adj1" fmla="val 76435"/>
              </a:avLst>
            </a:prstGeom>
            <a:ln w="12700">
              <a:solidFill>
                <a:srgbClr val="00206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직선 화살표 연결선 514">
              <a:extLst>
                <a:ext uri="{FF2B5EF4-FFF2-40B4-BE49-F238E27FC236}">
                  <a16:creationId xmlns:a16="http://schemas.microsoft.com/office/drawing/2014/main" id="{CDB28573-DDFC-4746-BF5F-F204D6347E4A}"/>
                </a:ext>
              </a:extLst>
            </p:cNvPr>
            <p:cNvCxnSpPr>
              <a:cxnSpLocks/>
              <a:stCxn id="545" idx="0"/>
              <a:endCxn id="307" idx="2"/>
            </p:cNvCxnSpPr>
            <p:nvPr/>
          </p:nvCxnSpPr>
          <p:spPr>
            <a:xfrm flipV="1">
              <a:off x="3863271" y="5771597"/>
              <a:ext cx="0" cy="365028"/>
            </a:xfrm>
            <a:prstGeom prst="straightConnector1">
              <a:avLst/>
            </a:prstGeom>
            <a:ln w="12700">
              <a:solidFill>
                <a:srgbClr val="002060"/>
              </a:solidFill>
              <a:prstDash val="dash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연결선: 꺾임 534">
              <a:extLst>
                <a:ext uri="{FF2B5EF4-FFF2-40B4-BE49-F238E27FC236}">
                  <a16:creationId xmlns:a16="http://schemas.microsoft.com/office/drawing/2014/main" id="{88DDBAEC-FCB9-4DCF-8F9D-FDE249EC23F4}"/>
                </a:ext>
              </a:extLst>
            </p:cNvPr>
            <p:cNvCxnSpPr>
              <a:cxnSpLocks/>
              <a:stCxn id="238" idx="0"/>
              <a:endCxn id="1024" idx="2"/>
            </p:cNvCxnSpPr>
            <p:nvPr/>
          </p:nvCxnSpPr>
          <p:spPr>
            <a:xfrm rot="5400000" flipH="1" flipV="1">
              <a:off x="6946120" y="-885307"/>
              <a:ext cx="181586" cy="2857385"/>
            </a:xfrm>
            <a:prstGeom prst="bentConnector2">
              <a:avLst/>
            </a:prstGeom>
            <a:ln w="12700">
              <a:solidFill>
                <a:srgbClr val="00206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연결선: 꺾임 539">
              <a:extLst>
                <a:ext uri="{FF2B5EF4-FFF2-40B4-BE49-F238E27FC236}">
                  <a16:creationId xmlns:a16="http://schemas.microsoft.com/office/drawing/2014/main" id="{8A1B082F-4F1D-4077-8718-FF59F599DA22}"/>
                </a:ext>
              </a:extLst>
            </p:cNvPr>
            <p:cNvCxnSpPr>
              <a:cxnSpLocks/>
              <a:stCxn id="1282" idx="3"/>
              <a:endCxn id="1024" idx="6"/>
            </p:cNvCxnSpPr>
            <p:nvPr/>
          </p:nvCxnSpPr>
          <p:spPr>
            <a:xfrm flipH="1" flipV="1">
              <a:off x="8537606" y="452592"/>
              <a:ext cx="2574468" cy="3591057"/>
            </a:xfrm>
            <a:prstGeom prst="bentConnector3">
              <a:avLst>
                <a:gd name="adj1" fmla="val -36737"/>
              </a:avLst>
            </a:prstGeom>
            <a:ln w="12700">
              <a:solidFill>
                <a:srgbClr val="00206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0" name="그룹 549">
              <a:extLst>
                <a:ext uri="{FF2B5EF4-FFF2-40B4-BE49-F238E27FC236}">
                  <a16:creationId xmlns:a16="http://schemas.microsoft.com/office/drawing/2014/main" id="{FC041A2E-64EE-4AE7-B284-B28D46846BB8}"/>
                </a:ext>
              </a:extLst>
            </p:cNvPr>
            <p:cNvGrpSpPr/>
            <p:nvPr/>
          </p:nvGrpSpPr>
          <p:grpSpPr>
            <a:xfrm rot="5400000">
              <a:off x="11264908" y="3976729"/>
              <a:ext cx="144000" cy="144000"/>
              <a:chOff x="1336771" y="1417923"/>
              <a:chExt cx="144000" cy="144000"/>
            </a:xfrm>
          </p:grpSpPr>
          <p:sp>
            <p:nvSpPr>
              <p:cNvPr id="551" name="부분 원형 550">
                <a:extLst>
                  <a:ext uri="{FF2B5EF4-FFF2-40B4-BE49-F238E27FC236}">
                    <a16:creationId xmlns:a16="http://schemas.microsoft.com/office/drawing/2014/main" id="{F254D34B-D4D3-48A0-8FF9-B8184A4A6564}"/>
                  </a:ext>
                </a:extLst>
              </p:cNvPr>
              <p:cNvSpPr/>
              <p:nvPr/>
            </p:nvSpPr>
            <p:spPr>
              <a:xfrm>
                <a:off x="1336771" y="1417923"/>
                <a:ext cx="144000" cy="144000"/>
              </a:xfrm>
              <a:prstGeom prst="pie">
                <a:avLst>
                  <a:gd name="adj1" fmla="val 10802799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rgbClr val="00206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52" name="직선 화살표 연결선 551">
                <a:extLst>
                  <a:ext uri="{FF2B5EF4-FFF2-40B4-BE49-F238E27FC236}">
                    <a16:creationId xmlns:a16="http://schemas.microsoft.com/office/drawing/2014/main" id="{4409CC99-999C-4561-B5ED-83066813785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406820" y="1425386"/>
                <a:ext cx="2108" cy="126966"/>
              </a:xfrm>
              <a:prstGeom prst="straightConnector1">
                <a:avLst/>
              </a:prstGeom>
              <a:ln w="19050" cap="flat">
                <a:solidFill>
                  <a:schemeClr val="bg1"/>
                </a:solidFill>
                <a:round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1" name="그룹 570">
              <a:extLst>
                <a:ext uri="{FF2B5EF4-FFF2-40B4-BE49-F238E27FC236}">
                  <a16:creationId xmlns:a16="http://schemas.microsoft.com/office/drawing/2014/main" id="{B7F9A91B-5556-42DF-8AF9-D63424E9E934}"/>
                </a:ext>
              </a:extLst>
            </p:cNvPr>
            <p:cNvGrpSpPr/>
            <p:nvPr/>
          </p:nvGrpSpPr>
          <p:grpSpPr>
            <a:xfrm>
              <a:off x="4531065" y="3963851"/>
              <a:ext cx="144000" cy="144000"/>
              <a:chOff x="1336771" y="1417923"/>
              <a:chExt cx="144000" cy="144000"/>
            </a:xfrm>
          </p:grpSpPr>
          <p:sp>
            <p:nvSpPr>
              <p:cNvPr id="572" name="부분 원형 571">
                <a:extLst>
                  <a:ext uri="{FF2B5EF4-FFF2-40B4-BE49-F238E27FC236}">
                    <a16:creationId xmlns:a16="http://schemas.microsoft.com/office/drawing/2014/main" id="{90572D36-EDF7-42CC-A363-A37F83E27314}"/>
                  </a:ext>
                </a:extLst>
              </p:cNvPr>
              <p:cNvSpPr/>
              <p:nvPr/>
            </p:nvSpPr>
            <p:spPr>
              <a:xfrm>
                <a:off x="1336771" y="1417923"/>
                <a:ext cx="144000" cy="144000"/>
              </a:xfrm>
              <a:prstGeom prst="pie">
                <a:avLst>
                  <a:gd name="adj1" fmla="val 10802799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73" name="직선 화살표 연결선 572">
                <a:extLst>
                  <a:ext uri="{FF2B5EF4-FFF2-40B4-BE49-F238E27FC236}">
                    <a16:creationId xmlns:a16="http://schemas.microsoft.com/office/drawing/2014/main" id="{9B64B028-C200-4576-BEE7-3D5FD99BE3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4489" y="1492463"/>
                <a:ext cx="128565" cy="209"/>
              </a:xfrm>
              <a:prstGeom prst="straightConnector1">
                <a:avLst/>
              </a:prstGeom>
              <a:ln w="28575" cap="flat">
                <a:solidFill>
                  <a:schemeClr val="bg1"/>
                </a:solidFill>
                <a:round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5" name="그룹 574">
              <a:extLst>
                <a:ext uri="{FF2B5EF4-FFF2-40B4-BE49-F238E27FC236}">
                  <a16:creationId xmlns:a16="http://schemas.microsoft.com/office/drawing/2014/main" id="{07F9A112-3DEE-4540-905B-7339A84663B4}"/>
                </a:ext>
              </a:extLst>
            </p:cNvPr>
            <p:cNvGrpSpPr/>
            <p:nvPr/>
          </p:nvGrpSpPr>
          <p:grpSpPr>
            <a:xfrm>
              <a:off x="4531065" y="2649399"/>
              <a:ext cx="144000" cy="144000"/>
              <a:chOff x="1336771" y="1417923"/>
              <a:chExt cx="144000" cy="144000"/>
            </a:xfrm>
          </p:grpSpPr>
          <p:sp>
            <p:nvSpPr>
              <p:cNvPr id="576" name="부분 원형 575">
                <a:extLst>
                  <a:ext uri="{FF2B5EF4-FFF2-40B4-BE49-F238E27FC236}">
                    <a16:creationId xmlns:a16="http://schemas.microsoft.com/office/drawing/2014/main" id="{FA40323C-BEBE-4099-A852-4D495666F7AE}"/>
                  </a:ext>
                </a:extLst>
              </p:cNvPr>
              <p:cNvSpPr/>
              <p:nvPr/>
            </p:nvSpPr>
            <p:spPr>
              <a:xfrm>
                <a:off x="1336771" y="1417923"/>
                <a:ext cx="144000" cy="144000"/>
              </a:xfrm>
              <a:prstGeom prst="pie">
                <a:avLst>
                  <a:gd name="adj1" fmla="val 10802799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77" name="직선 화살표 연결선 576">
                <a:extLst>
                  <a:ext uri="{FF2B5EF4-FFF2-40B4-BE49-F238E27FC236}">
                    <a16:creationId xmlns:a16="http://schemas.microsoft.com/office/drawing/2014/main" id="{BDE676FB-CA0E-48FB-87B4-BE2E31AAA3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4489" y="1492463"/>
                <a:ext cx="128565" cy="209"/>
              </a:xfrm>
              <a:prstGeom prst="straightConnector1">
                <a:avLst/>
              </a:prstGeom>
              <a:ln w="28575" cap="flat">
                <a:solidFill>
                  <a:schemeClr val="bg1"/>
                </a:solidFill>
                <a:round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8" name="그룹 577">
              <a:extLst>
                <a:ext uri="{FF2B5EF4-FFF2-40B4-BE49-F238E27FC236}">
                  <a16:creationId xmlns:a16="http://schemas.microsoft.com/office/drawing/2014/main" id="{0B8DC1A0-76CE-43DC-889E-48C5619D1192}"/>
                </a:ext>
              </a:extLst>
            </p:cNvPr>
            <p:cNvGrpSpPr/>
            <p:nvPr/>
          </p:nvGrpSpPr>
          <p:grpSpPr>
            <a:xfrm>
              <a:off x="4531065" y="1420454"/>
              <a:ext cx="144000" cy="144000"/>
              <a:chOff x="1336771" y="1417923"/>
              <a:chExt cx="144000" cy="144000"/>
            </a:xfrm>
          </p:grpSpPr>
          <p:sp>
            <p:nvSpPr>
              <p:cNvPr id="579" name="부분 원형 578">
                <a:extLst>
                  <a:ext uri="{FF2B5EF4-FFF2-40B4-BE49-F238E27FC236}">
                    <a16:creationId xmlns:a16="http://schemas.microsoft.com/office/drawing/2014/main" id="{DDDD5516-979F-4020-86E4-12B5969C3533}"/>
                  </a:ext>
                </a:extLst>
              </p:cNvPr>
              <p:cNvSpPr/>
              <p:nvPr/>
            </p:nvSpPr>
            <p:spPr>
              <a:xfrm>
                <a:off x="1336771" y="1417923"/>
                <a:ext cx="144000" cy="144000"/>
              </a:xfrm>
              <a:prstGeom prst="pie">
                <a:avLst>
                  <a:gd name="adj1" fmla="val 10802799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80" name="직선 화살표 연결선 579">
                <a:extLst>
                  <a:ext uri="{FF2B5EF4-FFF2-40B4-BE49-F238E27FC236}">
                    <a16:creationId xmlns:a16="http://schemas.microsoft.com/office/drawing/2014/main" id="{F6DE0346-2FE7-4F3A-B8E7-5742ACDA35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4489" y="1492463"/>
                <a:ext cx="128565" cy="209"/>
              </a:xfrm>
              <a:prstGeom prst="straightConnector1">
                <a:avLst/>
              </a:prstGeom>
              <a:ln w="28575" cap="flat">
                <a:solidFill>
                  <a:schemeClr val="bg1"/>
                </a:solidFill>
                <a:round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53" name="연결선: 꺾임 552">
              <a:extLst>
                <a:ext uri="{FF2B5EF4-FFF2-40B4-BE49-F238E27FC236}">
                  <a16:creationId xmlns:a16="http://schemas.microsoft.com/office/drawing/2014/main" id="{6183F17E-5672-4D47-AB35-B827A595B11F}"/>
                </a:ext>
              </a:extLst>
            </p:cNvPr>
            <p:cNvCxnSpPr>
              <a:cxnSpLocks/>
              <a:stCxn id="1024" idx="0"/>
              <a:endCxn id="307" idx="3"/>
            </p:cNvCxnSpPr>
            <p:nvPr/>
          </p:nvCxnSpPr>
          <p:spPr>
            <a:xfrm rot="16200000" flipH="1" flipV="1">
              <a:off x="3873936" y="945926"/>
              <a:ext cx="5157005" cy="4098335"/>
            </a:xfrm>
            <a:prstGeom prst="bentConnector4">
              <a:avLst>
                <a:gd name="adj1" fmla="val -4433"/>
                <a:gd name="adj2" fmla="val 95062"/>
              </a:avLst>
            </a:prstGeom>
            <a:ln w="12700">
              <a:solidFill>
                <a:srgbClr val="00206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85" name="그룹 584">
              <a:extLst>
                <a:ext uri="{FF2B5EF4-FFF2-40B4-BE49-F238E27FC236}">
                  <a16:creationId xmlns:a16="http://schemas.microsoft.com/office/drawing/2014/main" id="{E9C4647E-09F0-41E1-A571-1AFF003ADACF}"/>
                </a:ext>
              </a:extLst>
            </p:cNvPr>
            <p:cNvGrpSpPr/>
            <p:nvPr/>
          </p:nvGrpSpPr>
          <p:grpSpPr>
            <a:xfrm>
              <a:off x="1345032" y="1420454"/>
              <a:ext cx="144000" cy="144000"/>
              <a:chOff x="1336771" y="1417923"/>
              <a:chExt cx="144000" cy="144000"/>
            </a:xfrm>
          </p:grpSpPr>
          <p:sp>
            <p:nvSpPr>
              <p:cNvPr id="586" name="부분 원형 585">
                <a:extLst>
                  <a:ext uri="{FF2B5EF4-FFF2-40B4-BE49-F238E27FC236}">
                    <a16:creationId xmlns:a16="http://schemas.microsoft.com/office/drawing/2014/main" id="{6CE6B614-CEC7-4F5C-A228-8BDB01DC4BD3}"/>
                  </a:ext>
                </a:extLst>
              </p:cNvPr>
              <p:cNvSpPr/>
              <p:nvPr/>
            </p:nvSpPr>
            <p:spPr>
              <a:xfrm>
                <a:off x="1336771" y="1417923"/>
                <a:ext cx="144000" cy="144000"/>
              </a:xfrm>
              <a:prstGeom prst="pie">
                <a:avLst>
                  <a:gd name="adj1" fmla="val 10802799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87" name="직선 화살표 연결선 586">
                <a:extLst>
                  <a:ext uri="{FF2B5EF4-FFF2-40B4-BE49-F238E27FC236}">
                    <a16:creationId xmlns:a16="http://schemas.microsoft.com/office/drawing/2014/main" id="{24788940-3800-463A-9EBA-67C7D8DD7F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4489" y="1492463"/>
                <a:ext cx="128565" cy="209"/>
              </a:xfrm>
              <a:prstGeom prst="straightConnector1">
                <a:avLst/>
              </a:prstGeom>
              <a:ln w="28575" cap="flat">
                <a:solidFill>
                  <a:schemeClr val="bg1"/>
                </a:solidFill>
                <a:round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8" name="그룹 587">
              <a:extLst>
                <a:ext uri="{FF2B5EF4-FFF2-40B4-BE49-F238E27FC236}">
                  <a16:creationId xmlns:a16="http://schemas.microsoft.com/office/drawing/2014/main" id="{827F74BD-2A5F-4412-A63C-F893A548B948}"/>
                </a:ext>
              </a:extLst>
            </p:cNvPr>
            <p:cNvGrpSpPr/>
            <p:nvPr/>
          </p:nvGrpSpPr>
          <p:grpSpPr>
            <a:xfrm rot="5400000">
              <a:off x="4536145" y="2042402"/>
              <a:ext cx="144000" cy="144000"/>
              <a:chOff x="1336771" y="1417923"/>
              <a:chExt cx="144000" cy="144000"/>
            </a:xfrm>
          </p:grpSpPr>
          <p:sp>
            <p:nvSpPr>
              <p:cNvPr id="589" name="부분 원형 588">
                <a:extLst>
                  <a:ext uri="{FF2B5EF4-FFF2-40B4-BE49-F238E27FC236}">
                    <a16:creationId xmlns:a16="http://schemas.microsoft.com/office/drawing/2014/main" id="{92156CA0-AB35-47F3-9A58-B1F317D801DB}"/>
                  </a:ext>
                </a:extLst>
              </p:cNvPr>
              <p:cNvSpPr/>
              <p:nvPr/>
            </p:nvSpPr>
            <p:spPr>
              <a:xfrm>
                <a:off x="1336771" y="1417923"/>
                <a:ext cx="144000" cy="144000"/>
              </a:xfrm>
              <a:prstGeom prst="pie">
                <a:avLst>
                  <a:gd name="adj1" fmla="val 10802799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rgbClr val="002060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90" name="직선 화살표 연결선 589">
                <a:extLst>
                  <a:ext uri="{FF2B5EF4-FFF2-40B4-BE49-F238E27FC236}">
                    <a16:creationId xmlns:a16="http://schemas.microsoft.com/office/drawing/2014/main" id="{E1972A78-3DFF-4FBB-88E6-F8B866A264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4489" y="1492463"/>
                <a:ext cx="128565" cy="209"/>
              </a:xfrm>
              <a:prstGeom prst="straightConnector1">
                <a:avLst/>
              </a:prstGeom>
              <a:ln w="28575" cap="flat">
                <a:solidFill>
                  <a:schemeClr val="bg1"/>
                </a:solidFill>
                <a:round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1" name="그룹 590">
              <a:extLst>
                <a:ext uri="{FF2B5EF4-FFF2-40B4-BE49-F238E27FC236}">
                  <a16:creationId xmlns:a16="http://schemas.microsoft.com/office/drawing/2014/main" id="{AE0DD24F-9BF2-4C45-9CDC-83506C142CC3}"/>
                </a:ext>
              </a:extLst>
            </p:cNvPr>
            <p:cNvGrpSpPr/>
            <p:nvPr/>
          </p:nvGrpSpPr>
          <p:grpSpPr>
            <a:xfrm rot="5400000">
              <a:off x="3690484" y="2042402"/>
              <a:ext cx="144000" cy="144000"/>
              <a:chOff x="1336771" y="1417923"/>
              <a:chExt cx="144000" cy="144000"/>
            </a:xfrm>
          </p:grpSpPr>
          <p:sp>
            <p:nvSpPr>
              <p:cNvPr id="592" name="부분 원형 591">
                <a:extLst>
                  <a:ext uri="{FF2B5EF4-FFF2-40B4-BE49-F238E27FC236}">
                    <a16:creationId xmlns:a16="http://schemas.microsoft.com/office/drawing/2014/main" id="{18C59C56-C15B-454C-B943-DA740CEA2FC2}"/>
                  </a:ext>
                </a:extLst>
              </p:cNvPr>
              <p:cNvSpPr/>
              <p:nvPr/>
            </p:nvSpPr>
            <p:spPr>
              <a:xfrm>
                <a:off x="1336771" y="1417923"/>
                <a:ext cx="144000" cy="144000"/>
              </a:xfrm>
              <a:prstGeom prst="pie">
                <a:avLst>
                  <a:gd name="adj1" fmla="val 10802799"/>
                  <a:gd name="adj2" fmla="val 0"/>
                </a:avLst>
              </a:prstGeom>
              <a:solidFill>
                <a:schemeClr val="bg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93" name="직선 화살표 연결선 592">
                <a:extLst>
                  <a:ext uri="{FF2B5EF4-FFF2-40B4-BE49-F238E27FC236}">
                    <a16:creationId xmlns:a16="http://schemas.microsoft.com/office/drawing/2014/main" id="{2298D807-C36E-4B71-84CA-6F9D18863E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4489" y="1492463"/>
                <a:ext cx="128565" cy="209"/>
              </a:xfrm>
              <a:prstGeom prst="straightConnector1">
                <a:avLst/>
              </a:prstGeom>
              <a:ln w="28575" cap="flat">
                <a:solidFill>
                  <a:schemeClr val="bg1"/>
                </a:solidFill>
                <a:round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6" name="연결선: 꺾임 225">
              <a:extLst>
                <a:ext uri="{FF2B5EF4-FFF2-40B4-BE49-F238E27FC236}">
                  <a16:creationId xmlns:a16="http://schemas.microsoft.com/office/drawing/2014/main" id="{078542E9-0FAA-4AA3-A4FB-0B22EEC3756A}"/>
                </a:ext>
              </a:extLst>
            </p:cNvPr>
            <p:cNvCxnSpPr>
              <a:cxnSpLocks/>
              <a:stCxn id="118" idx="1"/>
              <a:endCxn id="271" idx="1"/>
            </p:cNvCxnSpPr>
            <p:nvPr/>
          </p:nvCxnSpPr>
          <p:spPr>
            <a:xfrm rot="10800000" flipV="1">
              <a:off x="3216107" y="2116345"/>
              <a:ext cx="1852115" cy="1927304"/>
            </a:xfrm>
            <a:prstGeom prst="bentConnector3">
              <a:avLst>
                <a:gd name="adj1" fmla="val 112343"/>
              </a:avLst>
            </a:prstGeom>
            <a:ln w="12700">
              <a:solidFill>
                <a:srgbClr val="002060"/>
              </a:solidFill>
              <a:prstDash val="dash"/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6" name="그룹 505">
            <a:extLst>
              <a:ext uri="{FF2B5EF4-FFF2-40B4-BE49-F238E27FC236}">
                <a16:creationId xmlns:a16="http://schemas.microsoft.com/office/drawing/2014/main" id="{E49ADB8E-B7E3-4E0C-B60F-841AE8922ACB}"/>
              </a:ext>
            </a:extLst>
          </p:cNvPr>
          <p:cNvGrpSpPr/>
          <p:nvPr/>
        </p:nvGrpSpPr>
        <p:grpSpPr>
          <a:xfrm>
            <a:off x="9839454" y="489807"/>
            <a:ext cx="2070848" cy="1024866"/>
            <a:chOff x="9523849" y="561960"/>
            <a:chExt cx="2070848" cy="1024866"/>
          </a:xfrm>
        </p:grpSpPr>
        <p:grpSp>
          <p:nvGrpSpPr>
            <p:cNvPr id="617" name="그룹 616">
              <a:extLst>
                <a:ext uri="{FF2B5EF4-FFF2-40B4-BE49-F238E27FC236}">
                  <a16:creationId xmlns:a16="http://schemas.microsoft.com/office/drawing/2014/main" id="{B9D42A0E-A97B-4732-831C-33DCD57BFA1E}"/>
                </a:ext>
              </a:extLst>
            </p:cNvPr>
            <p:cNvGrpSpPr/>
            <p:nvPr/>
          </p:nvGrpSpPr>
          <p:grpSpPr>
            <a:xfrm>
              <a:off x="10478697" y="561960"/>
              <a:ext cx="1116000" cy="1024866"/>
              <a:chOff x="9423400" y="561960"/>
              <a:chExt cx="2436005" cy="1024866"/>
            </a:xfrm>
          </p:grpSpPr>
          <p:sp>
            <p:nvSpPr>
              <p:cNvPr id="618" name="직사각형 617">
                <a:extLst>
                  <a:ext uri="{FF2B5EF4-FFF2-40B4-BE49-F238E27FC236}">
                    <a16:creationId xmlns:a16="http://schemas.microsoft.com/office/drawing/2014/main" id="{98B4FBA1-A710-4364-897B-F3A6A97B5F11}"/>
                  </a:ext>
                </a:extLst>
              </p:cNvPr>
              <p:cNvSpPr/>
              <p:nvPr/>
            </p:nvSpPr>
            <p:spPr>
              <a:xfrm>
                <a:off x="9423400" y="561960"/>
                <a:ext cx="2436005" cy="21234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900" b="1" spc="-100" dirty="0">
                    <a:solidFill>
                      <a:sysClr val="windowText" lastClr="000000"/>
                    </a:solidFill>
                    <a:latin typeface="+mn-ea"/>
                  </a:rPr>
                  <a:t>사용자 用 개발 화면</a:t>
                </a:r>
              </a:p>
            </p:txBody>
          </p:sp>
          <p:sp>
            <p:nvSpPr>
              <p:cNvPr id="619" name="직사각형 618">
                <a:extLst>
                  <a:ext uri="{FF2B5EF4-FFF2-40B4-BE49-F238E27FC236}">
                    <a16:creationId xmlns:a16="http://schemas.microsoft.com/office/drawing/2014/main" id="{C925605F-647D-40CA-B95A-4B9EA5C06A73}"/>
                  </a:ext>
                </a:extLst>
              </p:cNvPr>
              <p:cNvSpPr/>
              <p:nvPr/>
            </p:nvSpPr>
            <p:spPr>
              <a:xfrm>
                <a:off x="9423400" y="832801"/>
                <a:ext cx="2436005" cy="212343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900" b="1" spc="-100" dirty="0">
                    <a:solidFill>
                      <a:sysClr val="windowText" lastClr="000000"/>
                    </a:solidFill>
                    <a:latin typeface="+mn-ea"/>
                  </a:rPr>
                  <a:t>관리자 用 개발 화면</a:t>
                </a:r>
              </a:p>
            </p:txBody>
          </p:sp>
          <p:sp>
            <p:nvSpPr>
              <p:cNvPr id="620" name="직사각형 619">
                <a:extLst>
                  <a:ext uri="{FF2B5EF4-FFF2-40B4-BE49-F238E27FC236}">
                    <a16:creationId xmlns:a16="http://schemas.microsoft.com/office/drawing/2014/main" id="{E3535B10-E48F-4C3F-BA04-9651BC43A227}"/>
                  </a:ext>
                </a:extLst>
              </p:cNvPr>
              <p:cNvSpPr/>
              <p:nvPr/>
            </p:nvSpPr>
            <p:spPr>
              <a:xfrm>
                <a:off x="9423400" y="1103642"/>
                <a:ext cx="2436005" cy="21234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900" b="1" spc="-100" dirty="0">
                    <a:solidFill>
                      <a:sysClr val="windowText" lastClr="000000"/>
                    </a:solidFill>
                    <a:latin typeface="+mn-ea"/>
                  </a:rPr>
                  <a:t>에스크로 연계 화면</a:t>
                </a:r>
              </a:p>
            </p:txBody>
          </p:sp>
          <p:sp>
            <p:nvSpPr>
              <p:cNvPr id="621" name="직사각형 620">
                <a:extLst>
                  <a:ext uri="{FF2B5EF4-FFF2-40B4-BE49-F238E27FC236}">
                    <a16:creationId xmlns:a16="http://schemas.microsoft.com/office/drawing/2014/main" id="{E74E76C4-8CE4-4ACD-B4CF-4081C352FBAC}"/>
                  </a:ext>
                </a:extLst>
              </p:cNvPr>
              <p:cNvSpPr/>
              <p:nvPr/>
            </p:nvSpPr>
            <p:spPr>
              <a:xfrm>
                <a:off x="9423400" y="1374483"/>
                <a:ext cx="2436005" cy="212343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900" b="1" spc="-100" dirty="0">
                    <a:solidFill>
                      <a:sysClr val="windowText" lastClr="000000"/>
                    </a:solidFill>
                    <a:latin typeface="+mn-ea"/>
                  </a:rPr>
                  <a:t>물류 연계 화면</a:t>
                </a:r>
              </a:p>
            </p:txBody>
          </p:sp>
        </p:grpSp>
        <p:grpSp>
          <p:nvGrpSpPr>
            <p:cNvPr id="504" name="그룹 503">
              <a:extLst>
                <a:ext uri="{FF2B5EF4-FFF2-40B4-BE49-F238E27FC236}">
                  <a16:creationId xmlns:a16="http://schemas.microsoft.com/office/drawing/2014/main" id="{968011ED-F52D-4E3E-BA2B-A5C36C61F320}"/>
                </a:ext>
              </a:extLst>
            </p:cNvPr>
            <p:cNvGrpSpPr/>
            <p:nvPr/>
          </p:nvGrpSpPr>
          <p:grpSpPr>
            <a:xfrm>
              <a:off x="9523849" y="561960"/>
              <a:ext cx="900000" cy="1023582"/>
              <a:chOff x="9523849" y="561960"/>
              <a:chExt cx="900000" cy="1023582"/>
            </a:xfrm>
          </p:grpSpPr>
          <p:sp>
            <p:nvSpPr>
              <p:cNvPr id="498" name="직사각형 497">
                <a:extLst>
                  <a:ext uri="{FF2B5EF4-FFF2-40B4-BE49-F238E27FC236}">
                    <a16:creationId xmlns:a16="http://schemas.microsoft.com/office/drawing/2014/main" id="{7AB7AA6D-974F-46B5-AABE-65FD087BBC1C}"/>
                  </a:ext>
                </a:extLst>
              </p:cNvPr>
              <p:cNvSpPr/>
              <p:nvPr/>
            </p:nvSpPr>
            <p:spPr>
              <a:xfrm>
                <a:off x="9523849" y="561960"/>
                <a:ext cx="900000" cy="483184"/>
              </a:xfrm>
              <a:prstGeom prst="rect">
                <a:avLst/>
              </a:prstGeom>
              <a:solidFill>
                <a:srgbClr val="0070C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900" b="1" spc="-100" dirty="0">
                    <a:solidFill>
                      <a:schemeClr val="bg1"/>
                    </a:solidFill>
                    <a:latin typeface="+mn-ea"/>
                  </a:rPr>
                  <a:t>사용자 用 </a:t>
                </a:r>
                <a:endParaRPr lang="en-US" altLang="ko-KR" sz="900" b="1" spc="-100" dirty="0">
                  <a:solidFill>
                    <a:schemeClr val="bg1"/>
                  </a:solidFill>
                  <a:latin typeface="+mn-ea"/>
                </a:endParaRPr>
              </a:p>
              <a:p>
                <a:pPr algn="ctr"/>
                <a:r>
                  <a:rPr lang="ko-KR" altLang="en-US" sz="900" b="1" spc="-100" dirty="0">
                    <a:solidFill>
                      <a:schemeClr val="bg1"/>
                    </a:solidFill>
                    <a:latin typeface="+mn-ea"/>
                  </a:rPr>
                  <a:t>우선 개발 화면</a:t>
                </a:r>
              </a:p>
            </p:txBody>
          </p:sp>
          <p:sp>
            <p:nvSpPr>
              <p:cNvPr id="503" name="직사각형 502">
                <a:extLst>
                  <a:ext uri="{FF2B5EF4-FFF2-40B4-BE49-F238E27FC236}">
                    <a16:creationId xmlns:a16="http://schemas.microsoft.com/office/drawing/2014/main" id="{9886EF20-C7D6-4EA6-AA4E-F99578D955E4}"/>
                  </a:ext>
                </a:extLst>
              </p:cNvPr>
              <p:cNvSpPr/>
              <p:nvPr/>
            </p:nvSpPr>
            <p:spPr>
              <a:xfrm>
                <a:off x="9523849" y="1103642"/>
                <a:ext cx="900000" cy="481900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900" b="1" spc="-100" dirty="0">
                    <a:solidFill>
                      <a:schemeClr val="bg1"/>
                    </a:solidFill>
                    <a:latin typeface="+mn-ea"/>
                  </a:rPr>
                  <a:t>관리자 用 </a:t>
                </a:r>
                <a:endParaRPr lang="en-US" altLang="ko-KR" sz="900" b="1" spc="-100" dirty="0">
                  <a:solidFill>
                    <a:schemeClr val="bg1"/>
                  </a:solidFill>
                  <a:latin typeface="+mn-ea"/>
                </a:endParaRPr>
              </a:p>
              <a:p>
                <a:pPr algn="ctr"/>
                <a:r>
                  <a:rPr lang="ko-KR" altLang="en-US" sz="900" b="1" spc="-100" dirty="0">
                    <a:solidFill>
                      <a:schemeClr val="bg1"/>
                    </a:solidFill>
                    <a:latin typeface="+mn-ea"/>
                  </a:rPr>
                  <a:t>우선 개발 화면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39322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모서리가 둥근 직사각형 254"/>
          <p:cNvSpPr/>
          <p:nvPr/>
        </p:nvSpPr>
        <p:spPr>
          <a:xfrm>
            <a:off x="8206392" y="223782"/>
            <a:ext cx="1764000" cy="1084014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spc="-1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1" name="모서리가 둥근 직사각형 210"/>
          <p:cNvSpPr/>
          <p:nvPr/>
        </p:nvSpPr>
        <p:spPr>
          <a:xfrm>
            <a:off x="6466472" y="223782"/>
            <a:ext cx="1764000" cy="3940548"/>
          </a:xfrm>
          <a:prstGeom prst="roundRect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spc="-1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66700" y="91699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User</a:t>
            </a:r>
            <a:endParaRPr lang="ko-KR" altLang="en-US" sz="1000" spc="-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4462111"/>
            <a:ext cx="4572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00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Admin</a:t>
            </a:r>
            <a:endParaRPr lang="ko-KR" altLang="en-US" sz="1000" spc="-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6" name="그룹 55"/>
          <p:cNvGrpSpPr/>
          <p:nvPr/>
        </p:nvGrpSpPr>
        <p:grpSpPr>
          <a:xfrm>
            <a:off x="2738331" y="313781"/>
            <a:ext cx="1620000" cy="1368000"/>
            <a:chOff x="2578311" y="561431"/>
            <a:chExt cx="1440000" cy="1368000"/>
          </a:xfrm>
        </p:grpSpPr>
        <p:sp>
          <p:nvSpPr>
            <p:cNvPr id="42" name="직사각형 41"/>
            <p:cNvSpPr/>
            <p:nvPr/>
          </p:nvSpPr>
          <p:spPr>
            <a:xfrm>
              <a:off x="2578311" y="561431"/>
              <a:ext cx="1440000" cy="136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t"/>
            <a:lstStyle/>
            <a:p>
              <a:pPr algn="ctr"/>
              <a:r>
                <a:rPr lang="ko-KR" altLang="en-US" sz="900" spc="-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회원 가입 화면</a:t>
              </a:r>
            </a:p>
          </p:txBody>
        </p:sp>
        <p:grpSp>
          <p:nvGrpSpPr>
            <p:cNvPr id="43" name="그룹 42"/>
            <p:cNvGrpSpPr/>
            <p:nvPr/>
          </p:nvGrpSpPr>
          <p:grpSpPr>
            <a:xfrm>
              <a:off x="2635911" y="854454"/>
              <a:ext cx="1324800" cy="1032400"/>
              <a:chOff x="1901466" y="255887"/>
              <a:chExt cx="900000" cy="1032400"/>
            </a:xfrm>
            <a:solidFill>
              <a:schemeClr val="bg1"/>
            </a:solidFill>
          </p:grpSpPr>
          <p:sp>
            <p:nvSpPr>
              <p:cNvPr id="44" name="모서리가 둥근 직사각형 43"/>
              <p:cNvSpPr/>
              <p:nvPr/>
            </p:nvSpPr>
            <p:spPr>
              <a:xfrm>
                <a:off x="1901466" y="788927"/>
                <a:ext cx="900000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약관 동의</a:t>
                </a:r>
              </a:p>
            </p:txBody>
          </p:sp>
          <p:sp>
            <p:nvSpPr>
              <p:cNvPr id="45" name="모서리가 둥근 직사각형 44"/>
              <p:cNvSpPr/>
              <p:nvPr/>
            </p:nvSpPr>
            <p:spPr>
              <a:xfrm>
                <a:off x="1901466" y="966607"/>
                <a:ext cx="900000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업종</a:t>
                </a:r>
                <a:r>
                  <a:rPr lang="en-US" altLang="ko-KR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및 업태 등록</a:t>
                </a:r>
              </a:p>
            </p:txBody>
          </p:sp>
          <p:sp>
            <p:nvSpPr>
              <p:cNvPr id="46" name="모서리가 둥근 직사각형 45"/>
              <p:cNvSpPr/>
              <p:nvPr/>
            </p:nvSpPr>
            <p:spPr>
              <a:xfrm>
                <a:off x="1901466" y="1144287"/>
                <a:ext cx="900000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수입 품목 선택</a:t>
                </a:r>
                <a:r>
                  <a:rPr lang="en-US" altLang="ko-KR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(2Level/Multi)</a:t>
                </a:r>
                <a:endPara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47" name="모서리가 둥근 직사각형 46"/>
              <p:cNvSpPr/>
              <p:nvPr/>
            </p:nvSpPr>
            <p:spPr>
              <a:xfrm>
                <a:off x="1901466" y="433567"/>
                <a:ext cx="900000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본인 실명 인증</a:t>
                </a:r>
              </a:p>
            </p:txBody>
          </p:sp>
          <p:sp>
            <p:nvSpPr>
              <p:cNvPr id="48" name="모서리가 둥근 직사각형 47"/>
              <p:cNvSpPr/>
              <p:nvPr/>
            </p:nvSpPr>
            <p:spPr>
              <a:xfrm>
                <a:off x="1901466" y="255887"/>
                <a:ext cx="900000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사업자등록번호 인증</a:t>
                </a:r>
              </a:p>
            </p:txBody>
          </p:sp>
          <p:sp>
            <p:nvSpPr>
              <p:cNvPr id="55" name="모서리가 둥근 직사각형 54"/>
              <p:cNvSpPr/>
              <p:nvPr/>
            </p:nvSpPr>
            <p:spPr>
              <a:xfrm>
                <a:off x="1901466" y="611247"/>
                <a:ext cx="900000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본인 실명 인증</a:t>
                </a:r>
              </a:p>
            </p:txBody>
          </p:sp>
        </p:grpSp>
      </p:grpSp>
      <p:grpSp>
        <p:nvGrpSpPr>
          <p:cNvPr id="57" name="그룹 56"/>
          <p:cNvGrpSpPr/>
          <p:nvPr/>
        </p:nvGrpSpPr>
        <p:grpSpPr>
          <a:xfrm>
            <a:off x="872481" y="313781"/>
            <a:ext cx="1620000" cy="1368000"/>
            <a:chOff x="2578311" y="561431"/>
            <a:chExt cx="1440000" cy="1368000"/>
          </a:xfrm>
        </p:grpSpPr>
        <p:sp>
          <p:nvSpPr>
            <p:cNvPr id="58" name="직사각형 57"/>
            <p:cNvSpPr/>
            <p:nvPr/>
          </p:nvSpPr>
          <p:spPr>
            <a:xfrm>
              <a:off x="2578311" y="561431"/>
              <a:ext cx="1440000" cy="136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t"/>
            <a:lstStyle/>
            <a:p>
              <a:pPr algn="ctr"/>
              <a:r>
                <a:rPr lang="ko-KR" altLang="en-US" sz="900" spc="-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로그인 전 메인 화면</a:t>
              </a:r>
            </a:p>
          </p:txBody>
        </p:sp>
        <p:grpSp>
          <p:nvGrpSpPr>
            <p:cNvPr id="59" name="그룹 58"/>
            <p:cNvGrpSpPr/>
            <p:nvPr/>
          </p:nvGrpSpPr>
          <p:grpSpPr>
            <a:xfrm>
              <a:off x="2635911" y="854454"/>
              <a:ext cx="1324800" cy="1032400"/>
              <a:chOff x="1901466" y="255887"/>
              <a:chExt cx="900000" cy="1032400"/>
            </a:xfrm>
            <a:solidFill>
              <a:schemeClr val="bg1"/>
            </a:solidFill>
          </p:grpSpPr>
          <p:sp>
            <p:nvSpPr>
              <p:cNvPr id="60" name="모서리가 둥근 직사각형 59"/>
              <p:cNvSpPr/>
              <p:nvPr/>
            </p:nvSpPr>
            <p:spPr>
              <a:xfrm>
                <a:off x="1901466" y="788927"/>
                <a:ext cx="900000" cy="144000"/>
              </a:xfrm>
              <a:prstGeom prst="roundRect">
                <a:avLst>
                  <a:gd name="adj" fmla="val 0"/>
                </a:avLst>
              </a:prstGeom>
              <a:grpFill/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공지사항</a:t>
                </a:r>
              </a:p>
            </p:txBody>
          </p:sp>
          <p:sp>
            <p:nvSpPr>
              <p:cNvPr id="61" name="모서리가 둥근 직사각형 60"/>
              <p:cNvSpPr/>
              <p:nvPr/>
            </p:nvSpPr>
            <p:spPr>
              <a:xfrm>
                <a:off x="1901466" y="966607"/>
                <a:ext cx="900000" cy="144000"/>
              </a:xfrm>
              <a:prstGeom prst="roundRect">
                <a:avLst>
                  <a:gd name="adj" fmla="val 0"/>
                </a:avLst>
              </a:prstGeom>
              <a:grpFill/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FAQ</a:t>
                </a:r>
                <a:endPara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2" name="모서리가 둥근 직사각형 61"/>
              <p:cNvSpPr/>
              <p:nvPr/>
            </p:nvSpPr>
            <p:spPr>
              <a:xfrm>
                <a:off x="1901466" y="1144287"/>
                <a:ext cx="900000" cy="144000"/>
              </a:xfrm>
              <a:prstGeom prst="roundRect">
                <a:avLst>
                  <a:gd name="adj" fmla="val 0"/>
                </a:avLst>
              </a:prstGeom>
              <a:grpFill/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Q&amp;A</a:t>
                </a:r>
                <a:endParaRPr lang="ko-KR" altLang="en-US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63" name="모서리가 둥근 직사각형 62"/>
              <p:cNvSpPr/>
              <p:nvPr/>
            </p:nvSpPr>
            <p:spPr>
              <a:xfrm>
                <a:off x="1901466" y="433567"/>
                <a:ext cx="900000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회원</a:t>
                </a:r>
                <a:r>
                  <a:rPr lang="en-US" altLang="ko-KR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가입</a:t>
                </a:r>
              </a:p>
            </p:txBody>
          </p:sp>
          <p:sp>
            <p:nvSpPr>
              <p:cNvPr id="64" name="모서리가 둥근 직사각형 63"/>
              <p:cNvSpPr/>
              <p:nvPr/>
            </p:nvSpPr>
            <p:spPr>
              <a:xfrm>
                <a:off x="1901466" y="255887"/>
                <a:ext cx="900000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로그인</a:t>
                </a:r>
              </a:p>
            </p:txBody>
          </p:sp>
          <p:sp>
            <p:nvSpPr>
              <p:cNvPr id="65" name="모서리가 둥근 직사각형 64"/>
              <p:cNvSpPr/>
              <p:nvPr/>
            </p:nvSpPr>
            <p:spPr>
              <a:xfrm>
                <a:off x="1901466" y="611247"/>
                <a:ext cx="900000" cy="144000"/>
              </a:xfrm>
              <a:prstGeom prst="roundRect">
                <a:avLst>
                  <a:gd name="adj" fmla="val 0"/>
                </a:avLst>
              </a:prstGeom>
              <a:grpFill/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서비스 소개</a:t>
                </a:r>
              </a:p>
            </p:txBody>
          </p:sp>
        </p:grpSp>
      </p:grpSp>
      <p:grpSp>
        <p:nvGrpSpPr>
          <p:cNvPr id="66" name="그룹 65"/>
          <p:cNvGrpSpPr/>
          <p:nvPr/>
        </p:nvGrpSpPr>
        <p:grpSpPr>
          <a:xfrm>
            <a:off x="4598661" y="313781"/>
            <a:ext cx="1620000" cy="1368000"/>
            <a:chOff x="2578311" y="561431"/>
            <a:chExt cx="1440000" cy="1368000"/>
          </a:xfrm>
        </p:grpSpPr>
        <p:sp>
          <p:nvSpPr>
            <p:cNvPr id="67" name="직사각형 66"/>
            <p:cNvSpPr/>
            <p:nvPr/>
          </p:nvSpPr>
          <p:spPr>
            <a:xfrm>
              <a:off x="2578311" y="561431"/>
              <a:ext cx="1440000" cy="136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t"/>
            <a:lstStyle/>
            <a:p>
              <a:pPr algn="ctr"/>
              <a:r>
                <a:rPr lang="ko-KR" altLang="en-US" sz="900" spc="-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로그인 후 메인 화면</a:t>
              </a:r>
            </a:p>
          </p:txBody>
        </p:sp>
        <p:grpSp>
          <p:nvGrpSpPr>
            <p:cNvPr id="68" name="그룹 67"/>
            <p:cNvGrpSpPr/>
            <p:nvPr/>
          </p:nvGrpSpPr>
          <p:grpSpPr>
            <a:xfrm>
              <a:off x="2635905" y="854454"/>
              <a:ext cx="1324803" cy="1032400"/>
              <a:chOff x="1901463" y="255887"/>
              <a:chExt cx="900003" cy="1032400"/>
            </a:xfrm>
            <a:solidFill>
              <a:schemeClr val="bg1"/>
            </a:solidFill>
          </p:grpSpPr>
          <p:sp>
            <p:nvSpPr>
              <p:cNvPr id="69" name="모서리가 둥근 직사각형 68"/>
              <p:cNvSpPr/>
              <p:nvPr/>
            </p:nvSpPr>
            <p:spPr>
              <a:xfrm>
                <a:off x="1901466" y="788927"/>
                <a:ext cx="900000" cy="144000"/>
              </a:xfrm>
              <a:prstGeom prst="roundRect">
                <a:avLst>
                  <a:gd name="adj" fmla="val 0"/>
                </a:avLst>
              </a:prstGeom>
              <a:grpFill/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참여</a:t>
                </a:r>
                <a:r>
                  <a:rPr lang="en-US" altLang="ko-KR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추천</a:t>
                </a:r>
                <a:r>
                  <a:rPr lang="en-US" altLang="ko-KR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예정</a:t>
                </a:r>
                <a:r>
                  <a:rPr lang="en-US" altLang="ko-KR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종료</a:t>
                </a:r>
                <a:r>
                  <a:rPr lang="en-US" altLang="ko-KR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공동구매</a:t>
                </a:r>
                <a:r>
                  <a:rPr lang="en-US" altLang="ko-KR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(3)</a:t>
                </a:r>
                <a:endPara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70" name="모서리가 둥근 직사각형 69"/>
              <p:cNvSpPr/>
              <p:nvPr/>
            </p:nvSpPr>
            <p:spPr>
              <a:xfrm>
                <a:off x="1901466" y="966607"/>
                <a:ext cx="434783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전체 제품 메뉴</a:t>
                </a:r>
              </a:p>
            </p:txBody>
          </p:sp>
          <p:sp>
            <p:nvSpPr>
              <p:cNvPr id="71" name="모서리가 둥근 직사각형 70"/>
              <p:cNvSpPr/>
              <p:nvPr/>
            </p:nvSpPr>
            <p:spPr>
              <a:xfrm>
                <a:off x="1901463" y="1144287"/>
                <a:ext cx="304348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700" spc="-10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서비스</a:t>
                </a:r>
                <a:r>
                  <a:rPr lang="en-US" altLang="ko-KR" sz="7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7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소개</a:t>
                </a:r>
              </a:p>
            </p:txBody>
          </p:sp>
          <p:sp>
            <p:nvSpPr>
              <p:cNvPr id="72" name="모서리가 둥근 직사각형 71"/>
              <p:cNvSpPr/>
              <p:nvPr/>
            </p:nvSpPr>
            <p:spPr>
              <a:xfrm>
                <a:off x="1901466" y="433567"/>
                <a:ext cx="900000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공동구매 신청하기</a:t>
                </a:r>
              </a:p>
            </p:txBody>
          </p:sp>
          <p:sp>
            <p:nvSpPr>
              <p:cNvPr id="73" name="모서리가 둥근 직사각형 72"/>
              <p:cNvSpPr/>
              <p:nvPr/>
            </p:nvSpPr>
            <p:spPr>
              <a:xfrm>
                <a:off x="1901466" y="255887"/>
                <a:ext cx="434783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개인정보 관리</a:t>
                </a:r>
              </a:p>
            </p:txBody>
          </p:sp>
          <p:sp>
            <p:nvSpPr>
              <p:cNvPr id="74" name="모서리가 둥근 직사각형 73"/>
              <p:cNvSpPr/>
              <p:nvPr/>
            </p:nvSpPr>
            <p:spPr>
              <a:xfrm>
                <a:off x="1901466" y="611247"/>
                <a:ext cx="900000" cy="144000"/>
              </a:xfrm>
              <a:prstGeom prst="roundRect">
                <a:avLst>
                  <a:gd name="adj" fmla="val 0"/>
                </a:avLst>
              </a:prstGeom>
              <a:grpFill/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공지사항</a:t>
                </a:r>
              </a:p>
            </p:txBody>
          </p:sp>
          <p:sp>
            <p:nvSpPr>
              <p:cNvPr id="75" name="모서리가 둥근 직사각형 74"/>
              <p:cNvSpPr/>
              <p:nvPr/>
            </p:nvSpPr>
            <p:spPr>
              <a:xfrm>
                <a:off x="2497118" y="1144287"/>
                <a:ext cx="304348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Q&amp;A</a:t>
                </a:r>
                <a:endParaRPr lang="ko-KR" altLang="en-US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76" name="모서리가 둥근 직사각형 75"/>
              <p:cNvSpPr/>
              <p:nvPr/>
            </p:nvSpPr>
            <p:spPr>
              <a:xfrm>
                <a:off x="2226656" y="1144287"/>
                <a:ext cx="249619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7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FAQ</a:t>
                </a:r>
                <a:endParaRPr lang="ko-KR" altLang="en-US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77" name="모서리가 둥근 직사각형 76"/>
              <p:cNvSpPr/>
              <p:nvPr/>
            </p:nvSpPr>
            <p:spPr>
              <a:xfrm>
                <a:off x="2366683" y="966607"/>
                <a:ext cx="434783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나의 제품 메뉴</a:t>
                </a:r>
              </a:p>
            </p:txBody>
          </p:sp>
          <p:sp>
            <p:nvSpPr>
              <p:cNvPr id="118" name="모서리가 둥근 직사각형 117"/>
              <p:cNvSpPr/>
              <p:nvPr/>
            </p:nvSpPr>
            <p:spPr>
              <a:xfrm>
                <a:off x="2366683" y="255887"/>
                <a:ext cx="434783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나의 공동구매 </a:t>
                </a:r>
              </a:p>
            </p:txBody>
          </p:sp>
        </p:grpSp>
      </p:grpSp>
      <p:sp>
        <p:nvSpPr>
          <p:cNvPr id="79" name="모서리가 둥근 직사각형 78"/>
          <p:cNvSpPr/>
          <p:nvPr/>
        </p:nvSpPr>
        <p:spPr>
          <a:xfrm>
            <a:off x="758331" y="65463"/>
            <a:ext cx="1980000" cy="144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Sub </a:t>
            </a:r>
            <a:r>
              <a:rPr lang="ko-KR" altLang="en-US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</a:t>
            </a:r>
            <a:r>
              <a:rPr lang="en-US" altLang="ko-KR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더 보기 선택 시 해당 화면으로 이동</a:t>
            </a:r>
            <a:r>
              <a:rPr lang="en-US" altLang="ko-KR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spc="-10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152481" y="67152"/>
            <a:ext cx="540000" cy="14062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Main </a:t>
            </a:r>
            <a:r>
              <a:rPr lang="ko-KR" altLang="en-US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</a:t>
            </a:r>
          </a:p>
        </p:txBody>
      </p:sp>
      <p:sp>
        <p:nvSpPr>
          <p:cNvPr id="81" name="모서리가 둥근 직사각형 80"/>
          <p:cNvSpPr/>
          <p:nvPr/>
        </p:nvSpPr>
        <p:spPr>
          <a:xfrm>
            <a:off x="2803131" y="65463"/>
            <a:ext cx="1980000" cy="144000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 화면</a:t>
            </a:r>
            <a:r>
              <a:rPr lang="en-US" altLang="ko-KR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 선택 시 해당 화면으로 이동</a:t>
            </a:r>
            <a:r>
              <a:rPr lang="en-US" altLang="ko-KR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spc="-10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모서리가 둥근 직사각형 81"/>
          <p:cNvSpPr/>
          <p:nvPr/>
        </p:nvSpPr>
        <p:spPr>
          <a:xfrm>
            <a:off x="4847931" y="65463"/>
            <a:ext cx="871832" cy="144000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  <a:r>
              <a:rPr lang="en-US" altLang="ko-KR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입력</a:t>
            </a:r>
            <a:r>
              <a:rPr lang="en-US" altLang="ko-KR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8257352" y="308169"/>
            <a:ext cx="1620000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전체 조회 화면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6538476" y="3208757"/>
            <a:ext cx="1620000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참여 중 공동구매 전체  목록 화면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6538476" y="3441749"/>
            <a:ext cx="1620000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추천 공동구매 전체  목록 화면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6538476" y="3674741"/>
            <a:ext cx="1620000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예정 공동구매 전체  목록 화면</a:t>
            </a:r>
          </a:p>
        </p:txBody>
      </p:sp>
      <p:sp>
        <p:nvSpPr>
          <p:cNvPr id="90" name="직사각형 89"/>
          <p:cNvSpPr/>
          <p:nvPr/>
        </p:nvSpPr>
        <p:spPr>
          <a:xfrm>
            <a:off x="6538476" y="3907733"/>
            <a:ext cx="1620000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종료 공동구매 전체  목록 화면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8257352" y="792175"/>
            <a:ext cx="1620000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FAQ </a:t>
            </a:r>
            <a:r>
              <a:rPr lang="ko-KR" altLang="en-US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조회 화면</a:t>
            </a:r>
          </a:p>
        </p:txBody>
      </p:sp>
      <p:sp>
        <p:nvSpPr>
          <p:cNvPr id="92" name="직사각형 91"/>
          <p:cNvSpPr/>
          <p:nvPr/>
        </p:nvSpPr>
        <p:spPr>
          <a:xfrm>
            <a:off x="8257352" y="1034179"/>
            <a:ext cx="1620000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Q&amp;A </a:t>
            </a:r>
            <a:r>
              <a:rPr lang="ko-KR" altLang="en-US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조회 화면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8257352" y="550172"/>
            <a:ext cx="1620000" cy="18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서비스</a:t>
            </a:r>
            <a:r>
              <a:rPr lang="en-US" altLang="ko-KR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소개 화면</a:t>
            </a:r>
          </a:p>
        </p:txBody>
      </p:sp>
      <p:grpSp>
        <p:nvGrpSpPr>
          <p:cNvPr id="95" name="그룹 94"/>
          <p:cNvGrpSpPr/>
          <p:nvPr/>
        </p:nvGrpSpPr>
        <p:grpSpPr>
          <a:xfrm>
            <a:off x="6538476" y="870773"/>
            <a:ext cx="1620000" cy="864000"/>
            <a:chOff x="2578311" y="599531"/>
            <a:chExt cx="1440000" cy="864000"/>
          </a:xfrm>
        </p:grpSpPr>
        <p:sp>
          <p:nvSpPr>
            <p:cNvPr id="96" name="직사각형 95"/>
            <p:cNvSpPr/>
            <p:nvPr/>
          </p:nvSpPr>
          <p:spPr>
            <a:xfrm>
              <a:off x="2578311" y="599531"/>
              <a:ext cx="1440000" cy="86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t"/>
            <a:lstStyle/>
            <a:p>
              <a:pPr algn="ctr"/>
              <a:r>
                <a:rPr lang="ko-KR" altLang="en-US" sz="900" spc="-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나의 공동구매 현황 조회 화면</a:t>
              </a:r>
            </a:p>
          </p:txBody>
        </p:sp>
        <p:grpSp>
          <p:nvGrpSpPr>
            <p:cNvPr id="97" name="그룹 96"/>
            <p:cNvGrpSpPr/>
            <p:nvPr/>
          </p:nvGrpSpPr>
          <p:grpSpPr>
            <a:xfrm>
              <a:off x="2635908" y="892554"/>
              <a:ext cx="1324800" cy="499360"/>
              <a:chOff x="1901465" y="293987"/>
              <a:chExt cx="900001" cy="499360"/>
            </a:xfrm>
            <a:solidFill>
              <a:schemeClr val="bg1"/>
            </a:solidFill>
          </p:grpSpPr>
          <p:sp>
            <p:nvSpPr>
              <p:cNvPr id="101" name="모서리가 둥근 직사각형 100"/>
              <p:cNvSpPr/>
              <p:nvPr/>
            </p:nvSpPr>
            <p:spPr>
              <a:xfrm>
                <a:off x="1901466" y="471667"/>
                <a:ext cx="900000" cy="144000"/>
              </a:xfrm>
              <a:prstGeom prst="roundRect">
                <a:avLst>
                  <a:gd name="adj" fmla="val 0"/>
                </a:avLst>
              </a:prstGeom>
              <a:grpFill/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참여한</a:t>
                </a:r>
                <a:r>
                  <a:rPr lang="en-US" altLang="ko-KR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종료된</a:t>
                </a:r>
                <a:r>
                  <a:rPr lang="en-US" altLang="ko-KR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공동구매 현황</a:t>
                </a:r>
              </a:p>
            </p:txBody>
          </p:sp>
          <p:sp>
            <p:nvSpPr>
              <p:cNvPr id="102" name="모서리가 둥근 직사각형 101"/>
              <p:cNvSpPr/>
              <p:nvPr/>
            </p:nvSpPr>
            <p:spPr>
              <a:xfrm>
                <a:off x="1901466" y="293987"/>
                <a:ext cx="900000" cy="144000"/>
              </a:xfrm>
              <a:prstGeom prst="roundRect">
                <a:avLst>
                  <a:gd name="adj" fmla="val 0"/>
                </a:avLst>
              </a:prstGeom>
              <a:grpFill/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참여 중 공동구매 현황</a:t>
                </a:r>
              </a:p>
            </p:txBody>
          </p:sp>
          <p:sp>
            <p:nvSpPr>
              <p:cNvPr id="103" name="모서리가 둥근 직사각형 102"/>
              <p:cNvSpPr/>
              <p:nvPr/>
            </p:nvSpPr>
            <p:spPr>
              <a:xfrm>
                <a:off x="1901465" y="649347"/>
                <a:ext cx="900000" cy="144000"/>
              </a:xfrm>
              <a:prstGeom prst="roundRect">
                <a:avLst>
                  <a:gd name="adj" fmla="val 0"/>
                </a:avLst>
              </a:prstGeom>
              <a:grpFill/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개인별 데이터 분석 결과</a:t>
                </a:r>
              </a:p>
            </p:txBody>
          </p:sp>
        </p:grpSp>
      </p:grpSp>
      <p:grpSp>
        <p:nvGrpSpPr>
          <p:cNvPr id="109" name="그룹 108"/>
          <p:cNvGrpSpPr/>
          <p:nvPr/>
        </p:nvGrpSpPr>
        <p:grpSpPr>
          <a:xfrm>
            <a:off x="6538476" y="313781"/>
            <a:ext cx="1620000" cy="504000"/>
            <a:chOff x="2578311" y="561431"/>
            <a:chExt cx="1440000" cy="504000"/>
          </a:xfrm>
        </p:grpSpPr>
        <p:sp>
          <p:nvSpPr>
            <p:cNvPr id="110" name="직사각형 109"/>
            <p:cNvSpPr/>
            <p:nvPr/>
          </p:nvSpPr>
          <p:spPr>
            <a:xfrm>
              <a:off x="2578311" y="561431"/>
              <a:ext cx="1440000" cy="50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t"/>
            <a:lstStyle/>
            <a:p>
              <a:pPr algn="ctr"/>
              <a:r>
                <a:rPr lang="ko-KR" altLang="en-US" sz="900" spc="-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개인정보 관리 화면</a:t>
              </a:r>
            </a:p>
          </p:txBody>
        </p:sp>
        <p:sp>
          <p:nvSpPr>
            <p:cNvPr id="113" name="모서리가 둥근 직사각형 112"/>
            <p:cNvSpPr/>
            <p:nvPr/>
          </p:nvSpPr>
          <p:spPr>
            <a:xfrm>
              <a:off x="2635910" y="854454"/>
              <a:ext cx="1324799" cy="144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개인정보 조회</a:t>
              </a:r>
              <a:r>
                <a:rPr lang="en-US" altLang="ko-KR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변경</a:t>
              </a:r>
              <a:r>
                <a:rPr lang="en-US" altLang="ko-KR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탈퇴 등</a:t>
              </a:r>
            </a:p>
          </p:txBody>
        </p:sp>
      </p:grpSp>
      <p:grpSp>
        <p:nvGrpSpPr>
          <p:cNvPr id="158" name="그룹 157"/>
          <p:cNvGrpSpPr/>
          <p:nvPr/>
        </p:nvGrpSpPr>
        <p:grpSpPr>
          <a:xfrm>
            <a:off x="6538476" y="1787765"/>
            <a:ext cx="1620000" cy="1368000"/>
            <a:chOff x="6458987" y="2051429"/>
            <a:chExt cx="1620000" cy="1368000"/>
          </a:xfrm>
        </p:grpSpPr>
        <p:sp>
          <p:nvSpPr>
            <p:cNvPr id="134" name="직사각형 133"/>
            <p:cNvSpPr/>
            <p:nvPr/>
          </p:nvSpPr>
          <p:spPr>
            <a:xfrm>
              <a:off x="6458987" y="2051429"/>
              <a:ext cx="1620000" cy="136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t"/>
            <a:lstStyle/>
            <a:p>
              <a:pPr algn="ctr"/>
              <a:r>
                <a:rPr lang="ko-KR" altLang="en-US" sz="900" spc="-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공동구매 신청 화면</a:t>
              </a:r>
            </a:p>
          </p:txBody>
        </p:sp>
        <p:grpSp>
          <p:nvGrpSpPr>
            <p:cNvPr id="156" name="그룹 155"/>
            <p:cNvGrpSpPr/>
            <p:nvPr/>
          </p:nvGrpSpPr>
          <p:grpSpPr>
            <a:xfrm>
              <a:off x="6523785" y="2344452"/>
              <a:ext cx="1490400" cy="1030945"/>
              <a:chOff x="8276924" y="2344452"/>
              <a:chExt cx="1490400" cy="1030945"/>
            </a:xfrm>
          </p:grpSpPr>
          <p:sp>
            <p:nvSpPr>
              <p:cNvPr id="140" name="모서리가 둥근 직사각형 139"/>
              <p:cNvSpPr/>
              <p:nvPr/>
            </p:nvSpPr>
            <p:spPr>
              <a:xfrm>
                <a:off x="8276924" y="2344452"/>
                <a:ext cx="1490398" cy="144000"/>
              </a:xfrm>
              <a:prstGeom prst="roundRect">
                <a:avLst>
                  <a:gd name="adj" fmla="val 0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신청인 정보</a:t>
                </a:r>
                <a:r>
                  <a:rPr lang="en-US" altLang="ko-KR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자동 입력</a:t>
                </a:r>
                <a:r>
                  <a:rPr lang="en-US" altLang="ko-KR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endPara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1" name="모서리가 둥근 직사각형 140"/>
              <p:cNvSpPr/>
              <p:nvPr/>
            </p:nvSpPr>
            <p:spPr>
              <a:xfrm>
                <a:off x="8276924" y="2522132"/>
                <a:ext cx="1490398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품목 코드</a:t>
                </a:r>
                <a:r>
                  <a:rPr lang="en-US" altLang="ko-KR" sz="7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7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코드 입력 시 품목 자동입력</a:t>
                </a:r>
                <a:r>
                  <a:rPr lang="en-US" altLang="ko-KR" sz="7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endParaRPr lang="ko-KR" altLang="en-US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7" name="모서리가 둥근 직사각형 146"/>
              <p:cNvSpPr/>
              <p:nvPr/>
            </p:nvSpPr>
            <p:spPr>
              <a:xfrm>
                <a:off x="8276924" y="2697761"/>
                <a:ext cx="503995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필요 수량</a:t>
                </a:r>
              </a:p>
            </p:txBody>
          </p:sp>
          <p:sp>
            <p:nvSpPr>
              <p:cNvPr id="148" name="모서리가 둥근 직사각형 147"/>
              <p:cNvSpPr/>
              <p:nvPr/>
            </p:nvSpPr>
            <p:spPr>
              <a:xfrm>
                <a:off x="8815438" y="2697761"/>
                <a:ext cx="447885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en-US" altLang="ko-KR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Due Date</a:t>
                </a:r>
                <a:endPara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49" name="모서리가 둥근 직사각형 148"/>
              <p:cNvSpPr/>
              <p:nvPr/>
            </p:nvSpPr>
            <p:spPr>
              <a:xfrm>
                <a:off x="8276924" y="2877492"/>
                <a:ext cx="1490398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 err="1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배송지</a:t>
                </a:r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형태</a:t>
                </a:r>
                <a:r>
                  <a:rPr lang="en-US" altLang="ko-KR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공장</a:t>
                </a:r>
                <a:r>
                  <a:rPr lang="en-US" altLang="ko-KR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창고</a:t>
                </a:r>
                <a:r>
                  <a:rPr lang="en-US" altLang="ko-KR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사무실 등</a:t>
                </a:r>
                <a:r>
                  <a:rPr lang="en-US" altLang="ko-KR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endPara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1" name="모서리가 둥근 직사각형 150"/>
              <p:cNvSpPr/>
              <p:nvPr/>
            </p:nvSpPr>
            <p:spPr>
              <a:xfrm>
                <a:off x="8276924" y="3055172"/>
                <a:ext cx="1490400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최근 구매 내역</a:t>
                </a:r>
                <a:r>
                  <a:rPr lang="en-US" altLang="ko-KR" sz="7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7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가격</a:t>
                </a:r>
                <a:r>
                  <a:rPr lang="en-US" altLang="ko-KR" sz="7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</a:t>
                </a:r>
                <a:r>
                  <a:rPr lang="ko-KR" altLang="en-US" sz="7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판매자</a:t>
                </a:r>
                <a:r>
                  <a:rPr lang="en-US" altLang="ko-KR" sz="7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/URL </a:t>
                </a:r>
                <a:r>
                  <a:rPr lang="ko-KR" altLang="en-US" sz="7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등</a:t>
                </a:r>
                <a:r>
                  <a:rPr lang="en-US" altLang="ko-KR" sz="7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endPara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  <p:sp>
            <p:nvSpPr>
              <p:cNvPr id="152" name="모서리가 둥근 직사각형 151"/>
              <p:cNvSpPr/>
              <p:nvPr/>
            </p:nvSpPr>
            <p:spPr>
              <a:xfrm>
                <a:off x="9319438" y="2697761"/>
                <a:ext cx="447885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배송 주소</a:t>
                </a:r>
              </a:p>
            </p:txBody>
          </p:sp>
          <p:sp>
            <p:nvSpPr>
              <p:cNvPr id="155" name="모서리가 둥근 직사각형 154"/>
              <p:cNvSpPr/>
              <p:nvPr/>
            </p:nvSpPr>
            <p:spPr>
              <a:xfrm>
                <a:off x="8276924" y="3231397"/>
                <a:ext cx="1490398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추가 요청 내역</a:t>
                </a:r>
              </a:p>
            </p:txBody>
          </p:sp>
        </p:grpSp>
      </p:grpSp>
      <p:grpSp>
        <p:nvGrpSpPr>
          <p:cNvPr id="264" name="그룹 263"/>
          <p:cNvGrpSpPr/>
          <p:nvPr/>
        </p:nvGrpSpPr>
        <p:grpSpPr>
          <a:xfrm>
            <a:off x="4598661" y="2264296"/>
            <a:ext cx="1620000" cy="1368000"/>
            <a:chOff x="4598661" y="3528908"/>
            <a:chExt cx="1620000" cy="1368000"/>
          </a:xfrm>
        </p:grpSpPr>
        <p:sp>
          <p:nvSpPr>
            <p:cNvPr id="169" name="직사각형 168"/>
            <p:cNvSpPr/>
            <p:nvPr/>
          </p:nvSpPr>
          <p:spPr>
            <a:xfrm>
              <a:off x="4598661" y="3528908"/>
              <a:ext cx="1620000" cy="1368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t"/>
            <a:lstStyle/>
            <a:p>
              <a:pPr algn="ctr"/>
              <a:r>
                <a:rPr lang="ko-KR" altLang="en-US" sz="900" spc="-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공동구매 상세 조회 화면</a:t>
              </a:r>
            </a:p>
          </p:txBody>
        </p:sp>
        <p:sp>
          <p:nvSpPr>
            <p:cNvPr id="171" name="모서리가 둥근 직사각형 170"/>
            <p:cNvSpPr/>
            <p:nvPr/>
          </p:nvSpPr>
          <p:spPr>
            <a:xfrm>
              <a:off x="4663459" y="3821931"/>
              <a:ext cx="612000" cy="144000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317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공동구매 코드</a:t>
              </a:r>
            </a:p>
          </p:txBody>
        </p:sp>
        <p:sp>
          <p:nvSpPr>
            <p:cNvPr id="173" name="모서리가 둥근 직사각형 172"/>
            <p:cNvSpPr/>
            <p:nvPr/>
          </p:nvSpPr>
          <p:spPr>
            <a:xfrm>
              <a:off x="4663459" y="4175240"/>
              <a:ext cx="1490398" cy="144000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317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공동구매 진척률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마감 날짜 대비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lang="ko-KR" altLang="en-US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5" name="모서리가 둥근 직사각형 174"/>
            <p:cNvSpPr/>
            <p:nvPr/>
          </p:nvSpPr>
          <p:spPr>
            <a:xfrm>
              <a:off x="4663459" y="4354971"/>
              <a:ext cx="1490398" cy="144000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317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상품 정보</a:t>
              </a:r>
              <a:r>
                <a:rPr lang="en-US" altLang="ko-KR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판매자 정보</a:t>
              </a:r>
              <a:r>
                <a:rPr lang="en-US" altLang="ko-KR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</a:t>
              </a:r>
            </a:p>
          </p:txBody>
        </p:sp>
        <p:sp>
          <p:nvSpPr>
            <p:cNvPr id="176" name="모서리가 둥근 직사각형 175"/>
            <p:cNvSpPr/>
            <p:nvPr/>
          </p:nvSpPr>
          <p:spPr>
            <a:xfrm>
              <a:off x="4663459" y="4532651"/>
              <a:ext cx="1490400" cy="1440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최근 구매 내역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가격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판매자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/URL </a:t>
              </a:r>
              <a:r>
                <a:rPr lang="ko-KR" altLang="en-US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등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lang="ko-KR" altLang="en-US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8" name="모서리가 둥근 직사각형 177"/>
            <p:cNvSpPr/>
            <p:nvPr/>
          </p:nvSpPr>
          <p:spPr>
            <a:xfrm>
              <a:off x="4663459" y="4708876"/>
              <a:ext cx="1490398" cy="1440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추가 요청 내역</a:t>
              </a:r>
            </a:p>
          </p:txBody>
        </p:sp>
        <p:sp>
          <p:nvSpPr>
            <p:cNvPr id="180" name="모서리가 둥근 직사각형 179"/>
            <p:cNvSpPr/>
            <p:nvPr/>
          </p:nvSpPr>
          <p:spPr>
            <a:xfrm>
              <a:off x="5318658" y="3821931"/>
              <a:ext cx="432000" cy="144000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317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품목 코드</a:t>
              </a:r>
            </a:p>
          </p:txBody>
        </p:sp>
        <p:sp>
          <p:nvSpPr>
            <p:cNvPr id="181" name="모서리가 둥근 직사각형 180"/>
            <p:cNvSpPr/>
            <p:nvPr/>
          </p:nvSpPr>
          <p:spPr>
            <a:xfrm>
              <a:off x="5793857" y="3821931"/>
              <a:ext cx="360000" cy="144000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317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품목 명</a:t>
              </a:r>
            </a:p>
          </p:txBody>
        </p:sp>
        <p:sp>
          <p:nvSpPr>
            <p:cNvPr id="182" name="모서리가 둥근 직사각형 181"/>
            <p:cNvSpPr/>
            <p:nvPr/>
          </p:nvSpPr>
          <p:spPr>
            <a:xfrm>
              <a:off x="4663459" y="3999611"/>
              <a:ext cx="1490398" cy="144000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317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공동구매 달성률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최대 목표 대비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lang="ko-KR" altLang="en-US" sz="7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cxnSp>
        <p:nvCxnSpPr>
          <p:cNvPr id="204" name="직선 화살표 연결선 203"/>
          <p:cNvCxnSpPr>
            <a:stCxn id="58" idx="3"/>
            <a:endCxn id="42" idx="1"/>
          </p:cNvCxnSpPr>
          <p:nvPr/>
        </p:nvCxnSpPr>
        <p:spPr>
          <a:xfrm>
            <a:off x="2492481" y="997781"/>
            <a:ext cx="245850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화살표 연결선 204"/>
          <p:cNvCxnSpPr>
            <a:stCxn id="42" idx="3"/>
            <a:endCxn id="67" idx="1"/>
          </p:cNvCxnSpPr>
          <p:nvPr/>
        </p:nvCxnSpPr>
        <p:spPr>
          <a:xfrm>
            <a:off x="4358331" y="997781"/>
            <a:ext cx="240330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화살표 연결선 207"/>
          <p:cNvCxnSpPr>
            <a:stCxn id="67" idx="3"/>
          </p:cNvCxnSpPr>
          <p:nvPr/>
        </p:nvCxnSpPr>
        <p:spPr>
          <a:xfrm>
            <a:off x="6218660" y="997781"/>
            <a:ext cx="252000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꺾인 연결선 214"/>
          <p:cNvCxnSpPr>
            <a:stCxn id="88" idx="1"/>
            <a:endCxn id="90" idx="1"/>
          </p:cNvCxnSpPr>
          <p:nvPr/>
        </p:nvCxnSpPr>
        <p:spPr>
          <a:xfrm rot="10800000" flipV="1">
            <a:off x="6538476" y="3531749"/>
            <a:ext cx="12700" cy="465984"/>
          </a:xfrm>
          <a:prstGeom prst="bentConnector3">
            <a:avLst>
              <a:gd name="adj1" fmla="val 1000000"/>
            </a:avLst>
          </a:prstGeom>
          <a:ln>
            <a:solidFill>
              <a:srgbClr val="00206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직선 연결선 219"/>
          <p:cNvCxnSpPr/>
          <p:nvPr/>
        </p:nvCxnSpPr>
        <p:spPr>
          <a:xfrm>
            <a:off x="6417473" y="3764106"/>
            <a:ext cx="144000" cy="355"/>
          </a:xfrm>
          <a:prstGeom prst="line">
            <a:avLst/>
          </a:prstGeom>
          <a:ln>
            <a:solidFill>
              <a:srgbClr val="002060"/>
            </a:solidFill>
            <a:prstDash val="dash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꺾인 연결선 224"/>
          <p:cNvCxnSpPr>
            <a:stCxn id="69" idx="1"/>
            <a:endCxn id="169" idx="1"/>
          </p:cNvCxnSpPr>
          <p:nvPr/>
        </p:nvCxnSpPr>
        <p:spPr>
          <a:xfrm rot="10800000" flipV="1">
            <a:off x="4598661" y="1211844"/>
            <a:ext cx="64798" cy="1736452"/>
          </a:xfrm>
          <a:prstGeom prst="bentConnector3">
            <a:avLst>
              <a:gd name="adj1" fmla="val 276394"/>
            </a:avLst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꺾인 연결선 225"/>
          <p:cNvCxnSpPr>
            <a:stCxn id="102" idx="1"/>
            <a:endCxn id="103" idx="1"/>
          </p:cNvCxnSpPr>
          <p:nvPr/>
        </p:nvCxnSpPr>
        <p:spPr>
          <a:xfrm rot="10800000" flipV="1">
            <a:off x="6603273" y="1235796"/>
            <a:ext cx="2" cy="355360"/>
          </a:xfrm>
          <a:prstGeom prst="bentConnector3">
            <a:avLst>
              <a:gd name="adj1" fmla="val 11430100000"/>
            </a:avLst>
          </a:prstGeom>
          <a:ln>
            <a:solidFill>
              <a:srgbClr val="00206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직선 연결선 238"/>
          <p:cNvCxnSpPr/>
          <p:nvPr/>
        </p:nvCxnSpPr>
        <p:spPr>
          <a:xfrm>
            <a:off x="6290663" y="1418721"/>
            <a:ext cx="312612" cy="497"/>
          </a:xfrm>
          <a:prstGeom prst="line">
            <a:avLst/>
          </a:prstGeom>
          <a:ln>
            <a:solidFill>
              <a:srgbClr val="002060"/>
            </a:solidFill>
            <a:prstDash val="dash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꺾인 연결선 266"/>
          <p:cNvCxnSpPr>
            <a:endCxn id="169" idx="0"/>
          </p:cNvCxnSpPr>
          <p:nvPr/>
        </p:nvCxnSpPr>
        <p:spPr>
          <a:xfrm rot="10800000" flipV="1">
            <a:off x="5408661" y="1991450"/>
            <a:ext cx="882002" cy="272846"/>
          </a:xfrm>
          <a:prstGeom prst="bentConnector2">
            <a:avLst/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꺾인 연결선 271"/>
          <p:cNvCxnSpPr>
            <a:stCxn id="87" idx="1"/>
            <a:endCxn id="169" idx="3"/>
          </p:cNvCxnSpPr>
          <p:nvPr/>
        </p:nvCxnSpPr>
        <p:spPr>
          <a:xfrm rot="10800000">
            <a:off x="6218662" y="2948297"/>
            <a:ext cx="319815" cy="350461"/>
          </a:xfrm>
          <a:prstGeom prst="bentConnector3">
            <a:avLst>
              <a:gd name="adj1" fmla="val 34116"/>
            </a:avLst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직선 연결선 281"/>
          <p:cNvCxnSpPr/>
          <p:nvPr/>
        </p:nvCxnSpPr>
        <p:spPr>
          <a:xfrm>
            <a:off x="6290663" y="1425117"/>
            <a:ext cx="0" cy="566332"/>
          </a:xfrm>
          <a:prstGeom prst="line">
            <a:avLst/>
          </a:prstGeom>
          <a:ln>
            <a:solidFill>
              <a:srgbClr val="002060"/>
            </a:solidFill>
            <a:prstDash val="dash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타원 318"/>
          <p:cNvSpPr/>
          <p:nvPr/>
        </p:nvSpPr>
        <p:spPr>
          <a:xfrm>
            <a:off x="8505472" y="2309765"/>
            <a:ext cx="324000" cy="324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</a:t>
            </a:r>
            <a:endParaRPr lang="ko-KR" altLang="en-US" sz="1200" b="1" spc="-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21" name="직선 화살표 연결선 320"/>
          <p:cNvCxnSpPr>
            <a:stCxn id="134" idx="3"/>
            <a:endCxn id="319" idx="2"/>
          </p:cNvCxnSpPr>
          <p:nvPr/>
        </p:nvCxnSpPr>
        <p:spPr>
          <a:xfrm>
            <a:off x="8158476" y="2471765"/>
            <a:ext cx="346996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타원 324"/>
          <p:cNvSpPr/>
          <p:nvPr/>
        </p:nvSpPr>
        <p:spPr>
          <a:xfrm>
            <a:off x="1520478" y="3169930"/>
            <a:ext cx="324000" cy="324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</a:t>
            </a:r>
            <a:endParaRPr lang="ko-KR" altLang="en-US" sz="1200" b="1" spc="-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26" name="직선 화살표 연결선 325"/>
          <p:cNvCxnSpPr>
            <a:stCxn id="325" idx="4"/>
            <a:endCxn id="343" idx="0"/>
          </p:cNvCxnSpPr>
          <p:nvPr/>
        </p:nvCxnSpPr>
        <p:spPr>
          <a:xfrm>
            <a:off x="1682478" y="3493930"/>
            <a:ext cx="3" cy="26352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직사각형 338"/>
          <p:cNvSpPr/>
          <p:nvPr/>
        </p:nvSpPr>
        <p:spPr>
          <a:xfrm>
            <a:off x="2737288" y="3590838"/>
            <a:ext cx="1620000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t"/>
          <a:lstStyle/>
          <a:p>
            <a:pPr algn="ctr"/>
            <a:r>
              <a:rPr lang="ko-KR" altLang="en-US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샘플 검토 결과 관리 화면</a:t>
            </a:r>
          </a:p>
        </p:txBody>
      </p:sp>
      <p:grpSp>
        <p:nvGrpSpPr>
          <p:cNvPr id="342" name="그룹 341"/>
          <p:cNvGrpSpPr/>
          <p:nvPr/>
        </p:nvGrpSpPr>
        <p:grpSpPr>
          <a:xfrm>
            <a:off x="872481" y="3757453"/>
            <a:ext cx="1620000" cy="1570899"/>
            <a:chOff x="6458987" y="2051428"/>
            <a:chExt cx="1620000" cy="1570899"/>
          </a:xfrm>
        </p:grpSpPr>
        <p:sp>
          <p:nvSpPr>
            <p:cNvPr id="343" name="직사각형 342"/>
            <p:cNvSpPr/>
            <p:nvPr/>
          </p:nvSpPr>
          <p:spPr>
            <a:xfrm>
              <a:off x="6458987" y="2051428"/>
              <a:ext cx="1620000" cy="157089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t"/>
            <a:lstStyle/>
            <a:p>
              <a:pPr algn="ctr"/>
              <a:r>
                <a:rPr lang="ko-KR" altLang="en-US" sz="900" spc="-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공동구매 신청 관리 화면</a:t>
              </a:r>
            </a:p>
          </p:txBody>
        </p:sp>
        <p:grpSp>
          <p:nvGrpSpPr>
            <p:cNvPr id="344" name="그룹 343"/>
            <p:cNvGrpSpPr/>
            <p:nvPr/>
          </p:nvGrpSpPr>
          <p:grpSpPr>
            <a:xfrm>
              <a:off x="6523785" y="3055172"/>
              <a:ext cx="1490400" cy="502281"/>
              <a:chOff x="8276924" y="3055172"/>
              <a:chExt cx="1490400" cy="502281"/>
            </a:xfrm>
          </p:grpSpPr>
          <p:sp>
            <p:nvSpPr>
              <p:cNvPr id="347" name="모서리가 둥근 직사각형 346"/>
              <p:cNvSpPr/>
              <p:nvPr/>
            </p:nvSpPr>
            <p:spPr>
              <a:xfrm>
                <a:off x="8276924" y="3055172"/>
                <a:ext cx="1490400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샘플 신청</a:t>
                </a:r>
              </a:p>
            </p:txBody>
          </p:sp>
          <p:sp>
            <p:nvSpPr>
              <p:cNvPr id="348" name="모서리가 둥근 직사각형 347"/>
              <p:cNvSpPr/>
              <p:nvPr/>
            </p:nvSpPr>
            <p:spPr>
              <a:xfrm>
                <a:off x="8276924" y="3231397"/>
                <a:ext cx="1490398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협상 딜 생성</a:t>
                </a:r>
              </a:p>
            </p:txBody>
          </p:sp>
          <p:sp>
            <p:nvSpPr>
              <p:cNvPr id="362" name="모서리가 둥근 직사각형 361"/>
              <p:cNvSpPr/>
              <p:nvPr/>
            </p:nvSpPr>
            <p:spPr>
              <a:xfrm>
                <a:off x="8276924" y="3413453"/>
                <a:ext cx="1490398" cy="144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31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algn="ctr"/>
                <a:r>
                  <a: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공동구매 생성</a:t>
                </a:r>
              </a:p>
            </p:txBody>
          </p:sp>
        </p:grpSp>
      </p:grpSp>
      <p:sp>
        <p:nvSpPr>
          <p:cNvPr id="351" name="모서리가 둥근 직사각형 350"/>
          <p:cNvSpPr/>
          <p:nvPr/>
        </p:nvSpPr>
        <p:spPr>
          <a:xfrm>
            <a:off x="2045493" y="4050477"/>
            <a:ext cx="382183" cy="144000"/>
          </a:xfrm>
          <a:prstGeom prst="roundRect">
            <a:avLst>
              <a:gd name="adj" fmla="val 0"/>
            </a:avLst>
          </a:prstGeom>
          <a:solidFill>
            <a:schemeClr val="accent4">
              <a:lumMod val="40000"/>
              <a:lumOff val="60000"/>
            </a:schemeClr>
          </a:solidFill>
          <a:ln w="31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0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명</a:t>
            </a:r>
            <a:endParaRPr lang="ko-KR" altLang="en-US" sz="800" spc="-10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2" name="모서리가 둥근 직사각형 351"/>
          <p:cNvSpPr/>
          <p:nvPr/>
        </p:nvSpPr>
        <p:spPr>
          <a:xfrm>
            <a:off x="937279" y="4405837"/>
            <a:ext cx="1490398" cy="144000"/>
          </a:xfrm>
          <a:prstGeom prst="roundRect">
            <a:avLst>
              <a:gd name="adj" fmla="val 0"/>
            </a:avLst>
          </a:prstGeom>
          <a:solidFill>
            <a:schemeClr val="accent4">
              <a:lumMod val="40000"/>
              <a:lumOff val="60000"/>
            </a:schemeClr>
          </a:solidFill>
          <a:ln w="31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코드 당 개별 신청 수량</a:t>
            </a:r>
            <a:r>
              <a:rPr lang="en-US" altLang="ko-KR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(3</a:t>
            </a:r>
            <a:r>
              <a:rPr lang="ko-KR" altLang="en-US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순위</a:t>
            </a:r>
            <a:r>
              <a:rPr lang="en-US" altLang="ko-KR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spc="-10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3" name="모서리가 둥근 직사각형 352"/>
          <p:cNvSpPr/>
          <p:nvPr/>
        </p:nvSpPr>
        <p:spPr>
          <a:xfrm>
            <a:off x="937279" y="4050477"/>
            <a:ext cx="1062971" cy="144000"/>
          </a:xfrm>
          <a:prstGeom prst="roundRect">
            <a:avLst>
              <a:gd name="adj" fmla="val 0"/>
            </a:avLst>
          </a:prstGeom>
          <a:solidFill>
            <a:schemeClr val="accent4">
              <a:lumMod val="40000"/>
              <a:lumOff val="60000"/>
            </a:schemeClr>
          </a:solidFill>
          <a:ln w="31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코드 별 정렬</a:t>
            </a:r>
            <a:r>
              <a:rPr lang="en-US" altLang="ko-KR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(1</a:t>
            </a:r>
            <a:r>
              <a:rPr lang="ko-KR" altLang="en-US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순위</a:t>
            </a:r>
            <a:r>
              <a:rPr lang="en-US" altLang="ko-KR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spc="-10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5" name="모서리가 둥근 직사각형 354"/>
          <p:cNvSpPr/>
          <p:nvPr/>
        </p:nvSpPr>
        <p:spPr>
          <a:xfrm>
            <a:off x="937279" y="4583517"/>
            <a:ext cx="1490398" cy="144000"/>
          </a:xfrm>
          <a:prstGeom prst="roundRect">
            <a:avLst>
              <a:gd name="adj" fmla="val 0"/>
            </a:avLst>
          </a:prstGeom>
          <a:solidFill>
            <a:schemeClr val="accent4">
              <a:lumMod val="40000"/>
              <a:lumOff val="60000"/>
            </a:schemeClr>
          </a:solidFill>
          <a:ln w="31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품목 코드 당 전체 신청 수량</a:t>
            </a:r>
            <a:r>
              <a:rPr lang="en-US" altLang="ko-KR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(4</a:t>
            </a:r>
            <a:r>
              <a:rPr lang="ko-KR" altLang="en-US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순위</a:t>
            </a:r>
            <a:r>
              <a:rPr lang="en-US" altLang="ko-KR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spc="-10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6" name="모서리가 둥근 직사각형 355"/>
          <p:cNvSpPr/>
          <p:nvPr/>
        </p:nvSpPr>
        <p:spPr>
          <a:xfrm>
            <a:off x="937279" y="4228157"/>
            <a:ext cx="1490398" cy="144000"/>
          </a:xfrm>
          <a:prstGeom prst="roundRect">
            <a:avLst>
              <a:gd name="adj" fmla="val 0"/>
            </a:avLst>
          </a:prstGeom>
          <a:solidFill>
            <a:schemeClr val="accent4">
              <a:lumMod val="40000"/>
              <a:lumOff val="60000"/>
            </a:schemeClr>
          </a:solidFill>
          <a:ln w="31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Due Date </a:t>
            </a:r>
            <a:r>
              <a:rPr lang="ko-KR" altLang="en-US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별 정렬</a:t>
            </a:r>
            <a:r>
              <a:rPr lang="en-US" altLang="ko-KR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</a:t>
            </a:r>
            <a:r>
              <a:rPr lang="ko-KR" altLang="en-US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순위</a:t>
            </a:r>
            <a:r>
              <a:rPr lang="en-US" altLang="ko-KR" sz="8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spc="-100" dirty="0">
              <a:solidFill>
                <a:sysClr val="windowText" lastClr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58" name="꺾인 연결선 357"/>
          <p:cNvCxnSpPr>
            <a:stCxn id="347" idx="3"/>
            <a:endCxn id="420" idx="1"/>
          </p:cNvCxnSpPr>
          <p:nvPr/>
        </p:nvCxnSpPr>
        <p:spPr>
          <a:xfrm flipV="1">
            <a:off x="2427679" y="3160039"/>
            <a:ext cx="309609" cy="1673158"/>
          </a:xfrm>
          <a:prstGeom prst="bentConnector3">
            <a:avLst>
              <a:gd name="adj1" fmla="val 50000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9" name="직사각형 378"/>
          <p:cNvSpPr/>
          <p:nvPr/>
        </p:nvSpPr>
        <p:spPr>
          <a:xfrm>
            <a:off x="4618755" y="4715122"/>
            <a:ext cx="1620000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t"/>
          <a:lstStyle/>
          <a:p>
            <a:pPr algn="ctr"/>
            <a:r>
              <a:rPr lang="ko-KR" altLang="en-US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수수료 정책 관리 화면</a:t>
            </a:r>
          </a:p>
        </p:txBody>
      </p:sp>
      <p:grpSp>
        <p:nvGrpSpPr>
          <p:cNvPr id="397" name="그룹 396"/>
          <p:cNvGrpSpPr/>
          <p:nvPr/>
        </p:nvGrpSpPr>
        <p:grpSpPr>
          <a:xfrm>
            <a:off x="2738531" y="4181217"/>
            <a:ext cx="1620000" cy="1654799"/>
            <a:chOff x="2749700" y="4304731"/>
            <a:chExt cx="1620000" cy="1654799"/>
          </a:xfrm>
        </p:grpSpPr>
        <p:grpSp>
          <p:nvGrpSpPr>
            <p:cNvPr id="192" name="그룹 191"/>
            <p:cNvGrpSpPr/>
            <p:nvPr/>
          </p:nvGrpSpPr>
          <p:grpSpPr>
            <a:xfrm>
              <a:off x="2749700" y="4304731"/>
              <a:ext cx="1620000" cy="1654799"/>
              <a:chOff x="6457743" y="2051427"/>
              <a:chExt cx="1620000" cy="1654799"/>
            </a:xfrm>
          </p:grpSpPr>
          <p:sp>
            <p:nvSpPr>
              <p:cNvPr id="193" name="직사각형 192"/>
              <p:cNvSpPr/>
              <p:nvPr/>
            </p:nvSpPr>
            <p:spPr>
              <a:xfrm>
                <a:off x="6457743" y="2051427"/>
                <a:ext cx="1620000" cy="165479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72000" rIns="0" bIns="0" rtlCol="0" anchor="t"/>
              <a:lstStyle/>
              <a:p>
                <a:pPr algn="ctr"/>
                <a:r>
                  <a:rPr lang="ko-KR" altLang="en-US" sz="900" spc="-100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협상 딜 생성 화면</a:t>
                </a:r>
              </a:p>
            </p:txBody>
          </p:sp>
          <p:grpSp>
            <p:nvGrpSpPr>
              <p:cNvPr id="194" name="그룹 193"/>
              <p:cNvGrpSpPr/>
              <p:nvPr/>
            </p:nvGrpSpPr>
            <p:grpSpPr>
              <a:xfrm>
                <a:off x="6523785" y="2344452"/>
                <a:ext cx="1490398" cy="1217902"/>
                <a:chOff x="8276924" y="2344452"/>
                <a:chExt cx="1490398" cy="1217902"/>
              </a:xfrm>
            </p:grpSpPr>
            <p:sp>
              <p:nvSpPr>
                <p:cNvPr id="195" name="모서리가 둥근 직사각형 194"/>
                <p:cNvSpPr/>
                <p:nvPr/>
              </p:nvSpPr>
              <p:spPr>
                <a:xfrm>
                  <a:off x="8276924" y="2344452"/>
                  <a:ext cx="1490398" cy="144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175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협상 딜 코드 자동 생성</a:t>
                  </a:r>
                </a:p>
              </p:txBody>
            </p:sp>
            <p:sp>
              <p:nvSpPr>
                <p:cNvPr id="196" name="모서리가 둥근 직사각형 195"/>
                <p:cNvSpPr/>
                <p:nvPr/>
              </p:nvSpPr>
              <p:spPr>
                <a:xfrm>
                  <a:off x="8276924" y="2522132"/>
                  <a:ext cx="1490398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31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품목 코드</a:t>
                  </a:r>
                  <a:r>
                    <a:rPr lang="en-US" altLang="ko-KR" sz="7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(</a:t>
                  </a:r>
                  <a:r>
                    <a:rPr lang="ko-KR" altLang="en-US" sz="7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코드 입력 시 품목 자동입력</a:t>
                  </a:r>
                  <a:r>
                    <a:rPr lang="en-US" altLang="ko-KR" sz="7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)</a:t>
                  </a:r>
                  <a:endParaRPr lang="ko-KR" altLang="en-US" sz="7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199" name="모서리가 둥근 직사각형 198"/>
                <p:cNvSpPr/>
                <p:nvPr/>
              </p:nvSpPr>
              <p:spPr>
                <a:xfrm>
                  <a:off x="8276924" y="2877492"/>
                  <a:ext cx="1490398" cy="144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175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기존 수량 구간별 단가 </a:t>
                  </a:r>
                  <a:r>
                    <a:rPr lang="en-US" altLang="ko-KR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(</a:t>
                  </a:r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자동입력</a:t>
                  </a:r>
                  <a:r>
                    <a:rPr lang="en-US" altLang="ko-KR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)</a:t>
                  </a:r>
                  <a:endPara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202" name="모서리가 둥근 직사각형 201"/>
                <p:cNvSpPr/>
                <p:nvPr/>
              </p:nvSpPr>
              <p:spPr>
                <a:xfrm>
                  <a:off x="8276924" y="3231397"/>
                  <a:ext cx="1490398" cy="144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175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참여 업체 별 최저</a:t>
                  </a:r>
                  <a:r>
                    <a:rPr lang="en-US" altLang="ko-KR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/</a:t>
                  </a:r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최고 </a:t>
                  </a:r>
                  <a:r>
                    <a:rPr lang="ko-KR" altLang="en-US" sz="800" spc="-100" dirty="0" err="1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마진률</a:t>
                  </a:r>
                  <a:endPara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380" name="모서리가 둥근 직사각형 379"/>
                <p:cNvSpPr/>
                <p:nvPr/>
              </p:nvSpPr>
              <p:spPr>
                <a:xfrm>
                  <a:off x="8276924" y="3054359"/>
                  <a:ext cx="1490398" cy="144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175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수량 구간 별 최저</a:t>
                  </a:r>
                  <a:r>
                    <a:rPr lang="en-US" altLang="ko-KR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/</a:t>
                  </a:r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최고 마진 단가</a:t>
                  </a:r>
                </a:p>
              </p:txBody>
            </p:sp>
            <p:sp>
              <p:nvSpPr>
                <p:cNvPr id="512" name="모서리가 둥근 직사각형 511"/>
                <p:cNvSpPr/>
                <p:nvPr/>
              </p:nvSpPr>
              <p:spPr>
                <a:xfrm>
                  <a:off x="8276924" y="3418354"/>
                  <a:ext cx="1490398" cy="144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175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우선 협상 판매처</a:t>
                  </a:r>
                  <a:r>
                    <a:rPr lang="en-US" altLang="ko-KR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(Supplier) </a:t>
                  </a:r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목록</a:t>
                  </a:r>
                </a:p>
              </p:txBody>
            </p:sp>
          </p:grpSp>
        </p:grpSp>
        <p:sp>
          <p:nvSpPr>
            <p:cNvPr id="385" name="모서리가 둥근 직사각형 384"/>
            <p:cNvSpPr/>
            <p:nvPr/>
          </p:nvSpPr>
          <p:spPr>
            <a:xfrm>
              <a:off x="2815742" y="4951065"/>
              <a:ext cx="1490398" cy="144000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317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수수료 정책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에스크로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물류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플랫폼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lang="ko-KR" altLang="en-US" sz="7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400" name="직사각형 399"/>
          <p:cNvSpPr/>
          <p:nvPr/>
        </p:nvSpPr>
        <p:spPr>
          <a:xfrm>
            <a:off x="4618755" y="5436901"/>
            <a:ext cx="1620000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t"/>
          <a:lstStyle/>
          <a:p>
            <a:pPr algn="ctr"/>
            <a:r>
              <a:rPr lang="ko-KR" altLang="en-US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판매처</a:t>
            </a:r>
            <a:r>
              <a:rPr lang="en-US" altLang="ko-KR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/Supplier</a:t>
            </a:r>
            <a:r>
              <a:rPr lang="ko-KR" altLang="en-US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관리 화면</a:t>
            </a:r>
          </a:p>
        </p:txBody>
      </p:sp>
      <p:sp>
        <p:nvSpPr>
          <p:cNvPr id="420" name="직사각형 419"/>
          <p:cNvSpPr/>
          <p:nvPr/>
        </p:nvSpPr>
        <p:spPr>
          <a:xfrm>
            <a:off x="2737288" y="2980039"/>
            <a:ext cx="1620000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t"/>
          <a:lstStyle/>
          <a:p>
            <a:pPr algn="ctr"/>
            <a:r>
              <a:rPr lang="ko-KR" altLang="en-US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샘플 신청 관리 화면</a:t>
            </a:r>
          </a:p>
          <a:p>
            <a:pPr algn="ctr"/>
            <a:endParaRPr lang="ko-KR" altLang="en-US" sz="900" spc="-1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421" name="직선 화살표 연결선 420"/>
          <p:cNvCxnSpPr>
            <a:stCxn id="420" idx="2"/>
            <a:endCxn id="339" idx="0"/>
          </p:cNvCxnSpPr>
          <p:nvPr/>
        </p:nvCxnSpPr>
        <p:spPr>
          <a:xfrm>
            <a:off x="3547288" y="3340039"/>
            <a:ext cx="0" cy="250799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꺾인 연결선 426"/>
          <p:cNvCxnSpPr>
            <a:stCxn id="339" idx="3"/>
            <a:endCxn id="400" idx="3"/>
          </p:cNvCxnSpPr>
          <p:nvPr/>
        </p:nvCxnSpPr>
        <p:spPr>
          <a:xfrm>
            <a:off x="4357288" y="3770838"/>
            <a:ext cx="1881467" cy="1846063"/>
          </a:xfrm>
          <a:prstGeom prst="bentConnector3">
            <a:avLst>
              <a:gd name="adj1" fmla="val 106480"/>
            </a:avLst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8" name="직사각형 477"/>
          <p:cNvSpPr/>
          <p:nvPr/>
        </p:nvSpPr>
        <p:spPr>
          <a:xfrm>
            <a:off x="4618755" y="4244718"/>
            <a:ext cx="1620000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t"/>
          <a:lstStyle/>
          <a:p>
            <a:pPr algn="ctr"/>
            <a:r>
              <a:rPr lang="ko-KR" altLang="en-US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협상 딜 결과 관리 화면</a:t>
            </a:r>
          </a:p>
        </p:txBody>
      </p:sp>
      <p:cxnSp>
        <p:nvCxnSpPr>
          <p:cNvPr id="479" name="꺾인 연결선 478"/>
          <p:cNvCxnSpPr>
            <a:stCxn id="193" idx="0"/>
            <a:endCxn id="478" idx="0"/>
          </p:cNvCxnSpPr>
          <p:nvPr/>
        </p:nvCxnSpPr>
        <p:spPr>
          <a:xfrm rot="16200000" flipH="1">
            <a:off x="4456892" y="3272855"/>
            <a:ext cx="63501" cy="1880224"/>
          </a:xfrm>
          <a:prstGeom prst="bentConnector3">
            <a:avLst>
              <a:gd name="adj1" fmla="val -199994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직선 화살표 연결선 513"/>
          <p:cNvCxnSpPr>
            <a:stCxn id="348" idx="3"/>
            <a:endCxn id="193" idx="1"/>
          </p:cNvCxnSpPr>
          <p:nvPr/>
        </p:nvCxnSpPr>
        <p:spPr>
          <a:xfrm flipV="1">
            <a:off x="2427677" y="5008617"/>
            <a:ext cx="310854" cy="805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직선 화살표 연결선 518"/>
          <p:cNvCxnSpPr>
            <a:stCxn id="400" idx="1"/>
            <a:endCxn id="512" idx="3"/>
          </p:cNvCxnSpPr>
          <p:nvPr/>
        </p:nvCxnSpPr>
        <p:spPr>
          <a:xfrm flipH="1">
            <a:off x="4294971" y="5616901"/>
            <a:ext cx="323784" cy="3243"/>
          </a:xfrm>
          <a:prstGeom prst="straightConnector1">
            <a:avLst/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직선 화살표 연결선 521"/>
          <p:cNvCxnSpPr>
            <a:stCxn id="379" idx="1"/>
            <a:endCxn id="385" idx="3"/>
          </p:cNvCxnSpPr>
          <p:nvPr/>
        </p:nvCxnSpPr>
        <p:spPr>
          <a:xfrm flipH="1">
            <a:off x="4294971" y="4895122"/>
            <a:ext cx="323784" cy="4429"/>
          </a:xfrm>
          <a:prstGeom prst="straightConnector1">
            <a:avLst/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꺾인 연결선 531"/>
          <p:cNvCxnSpPr>
            <a:stCxn id="193" idx="2"/>
            <a:endCxn id="291" idx="1"/>
          </p:cNvCxnSpPr>
          <p:nvPr/>
        </p:nvCxnSpPr>
        <p:spPr>
          <a:xfrm rot="5400000" flipH="1" flipV="1">
            <a:off x="5009725" y="4312625"/>
            <a:ext cx="62197" cy="2984586"/>
          </a:xfrm>
          <a:prstGeom prst="bentConnector4">
            <a:avLst>
              <a:gd name="adj1" fmla="val -367542"/>
              <a:gd name="adj2" fmla="val 94207"/>
            </a:avLst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7" name="직사각형 536"/>
          <p:cNvSpPr/>
          <p:nvPr/>
        </p:nvSpPr>
        <p:spPr>
          <a:xfrm>
            <a:off x="10232902" y="5575819"/>
            <a:ext cx="1620000" cy="396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t"/>
          <a:lstStyle/>
          <a:p>
            <a:pPr algn="ctr"/>
            <a:r>
              <a:rPr lang="ko-KR" altLang="en-US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공동구매 생성 </a:t>
            </a:r>
            <a:r>
              <a:rPr lang="ko-KR" altLang="en-US" sz="900" spc="-10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 관리 </a:t>
            </a:r>
            <a:r>
              <a:rPr lang="ko-KR" altLang="en-US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</a:t>
            </a:r>
          </a:p>
        </p:txBody>
      </p:sp>
      <p:cxnSp>
        <p:nvCxnSpPr>
          <p:cNvPr id="538" name="직선 화살표 연결선 537"/>
          <p:cNvCxnSpPr>
            <a:stCxn id="7" idx="3"/>
            <a:endCxn id="343" idx="1"/>
          </p:cNvCxnSpPr>
          <p:nvPr/>
        </p:nvCxnSpPr>
        <p:spPr>
          <a:xfrm>
            <a:off x="685800" y="4539055"/>
            <a:ext cx="186681" cy="3848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직선 화살표 연결선 541"/>
          <p:cNvCxnSpPr>
            <a:stCxn id="6" idx="3"/>
            <a:endCxn id="58" idx="1"/>
          </p:cNvCxnSpPr>
          <p:nvPr/>
        </p:nvCxnSpPr>
        <p:spPr>
          <a:xfrm>
            <a:off x="647700" y="993934"/>
            <a:ext cx="224781" cy="3847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5" name="그룹 544"/>
          <p:cNvGrpSpPr/>
          <p:nvPr/>
        </p:nvGrpSpPr>
        <p:grpSpPr>
          <a:xfrm>
            <a:off x="8413664" y="4891819"/>
            <a:ext cx="1620000" cy="1764000"/>
            <a:chOff x="2749700" y="4304730"/>
            <a:chExt cx="1620000" cy="1764000"/>
          </a:xfrm>
        </p:grpSpPr>
        <p:grpSp>
          <p:nvGrpSpPr>
            <p:cNvPr id="546" name="그룹 545"/>
            <p:cNvGrpSpPr/>
            <p:nvPr/>
          </p:nvGrpSpPr>
          <p:grpSpPr>
            <a:xfrm>
              <a:off x="2749700" y="4304730"/>
              <a:ext cx="1620000" cy="1764000"/>
              <a:chOff x="6457743" y="2051426"/>
              <a:chExt cx="1620000" cy="1764000"/>
            </a:xfrm>
          </p:grpSpPr>
          <p:sp>
            <p:nvSpPr>
              <p:cNvPr id="548" name="직사각형 547"/>
              <p:cNvSpPr/>
              <p:nvPr/>
            </p:nvSpPr>
            <p:spPr>
              <a:xfrm>
                <a:off x="6457743" y="2051426"/>
                <a:ext cx="1620000" cy="176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72000" rIns="0" bIns="0" rtlCol="0" anchor="t"/>
              <a:lstStyle/>
              <a:p>
                <a:pPr algn="ctr"/>
                <a:r>
                  <a:rPr lang="ko-KR" altLang="en-US" sz="900" spc="-100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공동구매 생성 정보 등록 화면</a:t>
                </a:r>
              </a:p>
            </p:txBody>
          </p:sp>
          <p:grpSp>
            <p:nvGrpSpPr>
              <p:cNvPr id="549" name="그룹 548"/>
              <p:cNvGrpSpPr/>
              <p:nvPr/>
            </p:nvGrpSpPr>
            <p:grpSpPr>
              <a:xfrm>
                <a:off x="6523785" y="2344452"/>
                <a:ext cx="1490398" cy="1405620"/>
                <a:chOff x="8276924" y="2344452"/>
                <a:chExt cx="1490398" cy="1405620"/>
              </a:xfrm>
            </p:grpSpPr>
            <p:sp>
              <p:nvSpPr>
                <p:cNvPr id="550" name="모서리가 둥근 직사각형 549"/>
                <p:cNvSpPr/>
                <p:nvPr/>
              </p:nvSpPr>
              <p:spPr>
                <a:xfrm>
                  <a:off x="8276924" y="2344452"/>
                  <a:ext cx="1490398" cy="144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175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공동구매 코드 자동 생성</a:t>
                  </a:r>
                </a:p>
              </p:txBody>
            </p:sp>
            <p:sp>
              <p:nvSpPr>
                <p:cNvPr id="551" name="모서리가 둥근 직사각형 550"/>
                <p:cNvSpPr/>
                <p:nvPr/>
              </p:nvSpPr>
              <p:spPr>
                <a:xfrm>
                  <a:off x="8276924" y="2704914"/>
                  <a:ext cx="1490398" cy="144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317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품목 코드</a:t>
                  </a:r>
                  <a:r>
                    <a:rPr lang="en-US" altLang="ko-KR" sz="7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(</a:t>
                  </a:r>
                  <a:r>
                    <a:rPr lang="ko-KR" altLang="en-US" sz="7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코드 입력 시 품목 자동입력</a:t>
                  </a:r>
                  <a:r>
                    <a:rPr lang="en-US" altLang="ko-KR" sz="7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)</a:t>
                  </a:r>
                  <a:endParaRPr lang="ko-KR" altLang="en-US" sz="7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552" name="모서리가 둥근 직사각형 551"/>
                <p:cNvSpPr/>
                <p:nvPr/>
              </p:nvSpPr>
              <p:spPr>
                <a:xfrm>
                  <a:off x="8276924" y="3065376"/>
                  <a:ext cx="1490398" cy="144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175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제품 정보</a:t>
                  </a:r>
                  <a:r>
                    <a:rPr lang="en-US" altLang="ko-KR" sz="7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(Product Detail)</a:t>
                  </a:r>
                  <a:r>
                    <a:rPr lang="en-US" altLang="ko-KR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 </a:t>
                  </a:r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등록</a:t>
                  </a:r>
                </a:p>
              </p:txBody>
            </p:sp>
            <p:sp>
              <p:nvSpPr>
                <p:cNvPr id="553" name="모서리가 둥근 직사각형 552"/>
                <p:cNvSpPr/>
                <p:nvPr/>
              </p:nvSpPr>
              <p:spPr>
                <a:xfrm>
                  <a:off x="8276924" y="3425838"/>
                  <a:ext cx="1490398" cy="144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175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기존 </a:t>
                  </a:r>
                  <a:r>
                    <a:rPr lang="en-US" altLang="ko-KR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Alibaba URL </a:t>
                  </a:r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등록</a:t>
                  </a:r>
                </a:p>
              </p:txBody>
            </p:sp>
            <p:sp>
              <p:nvSpPr>
                <p:cNvPr id="554" name="모서리가 둥근 직사각형 553"/>
                <p:cNvSpPr/>
                <p:nvPr/>
              </p:nvSpPr>
              <p:spPr>
                <a:xfrm>
                  <a:off x="8276924" y="3245607"/>
                  <a:ext cx="1490398" cy="144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175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기업 정보</a:t>
                  </a:r>
                  <a:r>
                    <a:rPr lang="en-US" altLang="ko-KR" sz="7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(Company Info.)</a:t>
                  </a:r>
                  <a:r>
                    <a:rPr lang="en-US" altLang="ko-KR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 </a:t>
                  </a:r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등록</a:t>
                  </a:r>
                </a:p>
              </p:txBody>
            </p:sp>
            <p:sp>
              <p:nvSpPr>
                <p:cNvPr id="555" name="모서리가 둥근 직사각형 554"/>
                <p:cNvSpPr/>
                <p:nvPr/>
              </p:nvSpPr>
              <p:spPr>
                <a:xfrm>
                  <a:off x="8276924" y="3606072"/>
                  <a:ext cx="1490398" cy="144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175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우선 협상 판매처</a:t>
                  </a:r>
                  <a:r>
                    <a:rPr lang="en-US" altLang="ko-KR" sz="7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(Supplier)</a:t>
                  </a:r>
                  <a:r>
                    <a:rPr lang="en-US" altLang="ko-KR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 </a:t>
                  </a:r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목록</a:t>
                  </a:r>
                </a:p>
              </p:txBody>
            </p:sp>
            <p:sp>
              <p:nvSpPr>
                <p:cNvPr id="556" name="모서리가 둥근 직사각형 555"/>
                <p:cNvSpPr/>
                <p:nvPr/>
              </p:nvSpPr>
              <p:spPr>
                <a:xfrm>
                  <a:off x="8276924" y="2524683"/>
                  <a:ext cx="1490398" cy="144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175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800" spc="-100" dirty="0">
                      <a:solidFill>
                        <a:schemeClr val="tx1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판매처</a:t>
                  </a:r>
                  <a:r>
                    <a:rPr lang="en-US" altLang="ko-KR" sz="800" spc="-100" dirty="0">
                      <a:solidFill>
                        <a:schemeClr val="tx1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/Supplier </a:t>
                  </a:r>
                  <a:r>
                    <a:rPr lang="ko-KR" altLang="en-US" sz="800" spc="-100" dirty="0">
                      <a:solidFill>
                        <a:schemeClr val="tx1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정보 자동 생성</a:t>
                  </a:r>
                  <a:endPara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</p:grpSp>
        <p:sp>
          <p:nvSpPr>
            <p:cNvPr id="547" name="모서리가 둥근 직사각형 546"/>
            <p:cNvSpPr/>
            <p:nvPr/>
          </p:nvSpPr>
          <p:spPr>
            <a:xfrm>
              <a:off x="2815742" y="5138449"/>
              <a:ext cx="1490398" cy="144000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317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수량 구간별 단가 등록</a:t>
              </a:r>
              <a:endParaRPr lang="ko-KR" altLang="en-US" sz="7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cxnSp>
        <p:nvCxnSpPr>
          <p:cNvPr id="584" name="직선 화살표 연결선 583"/>
          <p:cNvCxnSpPr>
            <a:stCxn id="548" idx="3"/>
            <a:endCxn id="537" idx="1"/>
          </p:cNvCxnSpPr>
          <p:nvPr/>
        </p:nvCxnSpPr>
        <p:spPr>
          <a:xfrm>
            <a:off x="10033664" y="5773819"/>
            <a:ext cx="199238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0" name="그룹 599"/>
          <p:cNvGrpSpPr/>
          <p:nvPr/>
        </p:nvGrpSpPr>
        <p:grpSpPr>
          <a:xfrm>
            <a:off x="6533117" y="4783819"/>
            <a:ext cx="1620000" cy="1980000"/>
            <a:chOff x="6995980" y="4334974"/>
            <a:chExt cx="1620000" cy="1980000"/>
          </a:xfrm>
        </p:grpSpPr>
        <p:sp>
          <p:nvSpPr>
            <p:cNvPr id="291" name="직사각형 290"/>
            <p:cNvSpPr/>
            <p:nvPr/>
          </p:nvSpPr>
          <p:spPr>
            <a:xfrm>
              <a:off x="6995980" y="4334974"/>
              <a:ext cx="1620000" cy="1980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72000" rIns="0" bIns="0" rtlCol="0" anchor="t"/>
            <a:lstStyle/>
            <a:p>
              <a:pPr algn="ctr"/>
              <a:r>
                <a:rPr lang="ko-KR" altLang="en-US" sz="900" spc="-100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공동구매 생성 화면</a:t>
              </a:r>
            </a:p>
          </p:txBody>
        </p:sp>
        <p:sp>
          <p:nvSpPr>
            <p:cNvPr id="577" name="모서리가 둥근 직사각형 576"/>
            <p:cNvSpPr/>
            <p:nvPr/>
          </p:nvSpPr>
          <p:spPr>
            <a:xfrm>
              <a:off x="7060778" y="5546427"/>
              <a:ext cx="1490398" cy="144000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317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제품 정보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(Product Detail)(</a:t>
              </a:r>
              <a:r>
                <a:rPr lang="ko-KR" altLang="en-US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자동입력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lang="ko-KR" altLang="en-US" sz="7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8" name="모서리가 둥근 직사각형 577"/>
            <p:cNvSpPr/>
            <p:nvPr/>
          </p:nvSpPr>
          <p:spPr>
            <a:xfrm>
              <a:off x="7060778" y="5730113"/>
              <a:ext cx="1490400" cy="144000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317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기업 정보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(Company Info.)(</a:t>
              </a:r>
              <a:r>
                <a:rPr lang="ko-KR" altLang="en-US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자동입력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lang="ko-KR" altLang="en-US" sz="7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79" name="모서리가 둥근 직사각형 578"/>
            <p:cNvSpPr/>
            <p:nvPr/>
          </p:nvSpPr>
          <p:spPr>
            <a:xfrm>
              <a:off x="7060778" y="5913799"/>
              <a:ext cx="1490398" cy="144000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317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추가 정보 입력</a:t>
              </a:r>
            </a:p>
          </p:txBody>
        </p:sp>
        <p:sp>
          <p:nvSpPr>
            <p:cNvPr id="580" name="모서리가 둥근 직사각형 579"/>
            <p:cNvSpPr/>
            <p:nvPr/>
          </p:nvSpPr>
          <p:spPr>
            <a:xfrm>
              <a:off x="7060778" y="5179055"/>
              <a:ext cx="1490398" cy="144000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317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판매처</a:t>
              </a:r>
              <a:r>
                <a:rPr lang="en-US" altLang="ko-KR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/Supplier </a:t>
              </a:r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코드</a:t>
              </a:r>
              <a:r>
                <a:rPr lang="en-US" altLang="ko-KR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입력</a:t>
              </a:r>
            </a:p>
          </p:txBody>
        </p:sp>
        <p:sp>
          <p:nvSpPr>
            <p:cNvPr id="581" name="모서리가 둥근 직사각형 580"/>
            <p:cNvSpPr/>
            <p:nvPr/>
          </p:nvSpPr>
          <p:spPr>
            <a:xfrm>
              <a:off x="7060778" y="5362741"/>
              <a:ext cx="1490398" cy="144000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317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수량 구간별 단가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자동입력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lang="ko-KR" altLang="en-US" sz="7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82" name="모서리가 둥근 직사각형 581"/>
            <p:cNvSpPr/>
            <p:nvPr/>
          </p:nvSpPr>
          <p:spPr>
            <a:xfrm>
              <a:off x="7060778" y="6097482"/>
              <a:ext cx="1490398" cy="144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31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공동구매 참여</a:t>
              </a:r>
            </a:p>
          </p:txBody>
        </p:sp>
        <p:sp>
          <p:nvSpPr>
            <p:cNvPr id="593" name="모서리가 둥근 직사각형 592"/>
            <p:cNvSpPr/>
            <p:nvPr/>
          </p:nvSpPr>
          <p:spPr>
            <a:xfrm>
              <a:off x="7060778" y="4627997"/>
              <a:ext cx="1490398" cy="144000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317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공동구매 코드 자동 생성</a:t>
              </a:r>
            </a:p>
          </p:txBody>
        </p:sp>
        <p:sp>
          <p:nvSpPr>
            <p:cNvPr id="594" name="모서리가 둥근 직사각형 593"/>
            <p:cNvSpPr/>
            <p:nvPr/>
          </p:nvSpPr>
          <p:spPr>
            <a:xfrm>
              <a:off x="7060778" y="4811683"/>
              <a:ext cx="1490398" cy="1440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품목 코드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코드 입력 시 품목 자동입력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lang="ko-KR" altLang="en-US" sz="7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595" name="모서리가 둥근 직사각형 594"/>
            <p:cNvSpPr/>
            <p:nvPr/>
          </p:nvSpPr>
          <p:spPr>
            <a:xfrm>
              <a:off x="7060778" y="4995369"/>
              <a:ext cx="1490398" cy="144000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317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공동구매 기간 입력</a:t>
              </a:r>
            </a:p>
          </p:txBody>
        </p:sp>
      </p:grpSp>
      <p:cxnSp>
        <p:nvCxnSpPr>
          <p:cNvPr id="597" name="직선 화살표 연결선 596"/>
          <p:cNvCxnSpPr>
            <a:stCxn id="548" idx="1"/>
            <a:endCxn id="291" idx="3"/>
          </p:cNvCxnSpPr>
          <p:nvPr/>
        </p:nvCxnSpPr>
        <p:spPr>
          <a:xfrm flipH="1">
            <a:off x="8153117" y="5773819"/>
            <a:ext cx="260547" cy="0"/>
          </a:xfrm>
          <a:prstGeom prst="straightConnector1">
            <a:avLst/>
          </a:prstGeom>
          <a:ln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9" name="타원 608"/>
          <p:cNvSpPr/>
          <p:nvPr/>
        </p:nvSpPr>
        <p:spPr>
          <a:xfrm>
            <a:off x="6020660" y="6462002"/>
            <a:ext cx="324000" cy="324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</a:t>
            </a:r>
            <a:endParaRPr lang="ko-KR" altLang="en-US" sz="1200" b="1" spc="-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13" name="직선 화살표 연결선 612"/>
          <p:cNvCxnSpPr>
            <a:stCxn id="582" idx="1"/>
            <a:endCxn id="609" idx="6"/>
          </p:cNvCxnSpPr>
          <p:nvPr/>
        </p:nvCxnSpPr>
        <p:spPr>
          <a:xfrm flipH="1">
            <a:off x="6344660" y="6618327"/>
            <a:ext cx="253255" cy="5675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8" name="타원 617"/>
          <p:cNvSpPr/>
          <p:nvPr/>
        </p:nvSpPr>
        <p:spPr>
          <a:xfrm>
            <a:off x="8926392" y="2311984"/>
            <a:ext cx="324000" cy="324000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</a:t>
            </a:r>
            <a:endParaRPr lang="ko-KR" altLang="en-US" sz="1200" b="1" spc="-1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619" name="그룹 618"/>
          <p:cNvGrpSpPr/>
          <p:nvPr/>
        </p:nvGrpSpPr>
        <p:grpSpPr>
          <a:xfrm>
            <a:off x="9415238" y="1592347"/>
            <a:ext cx="1620000" cy="1764000"/>
            <a:chOff x="2749700" y="4304730"/>
            <a:chExt cx="1620000" cy="1764000"/>
          </a:xfrm>
        </p:grpSpPr>
        <p:grpSp>
          <p:nvGrpSpPr>
            <p:cNvPr id="620" name="그룹 619"/>
            <p:cNvGrpSpPr/>
            <p:nvPr/>
          </p:nvGrpSpPr>
          <p:grpSpPr>
            <a:xfrm>
              <a:off x="2749700" y="4304730"/>
              <a:ext cx="1620000" cy="1764000"/>
              <a:chOff x="6457743" y="2051426"/>
              <a:chExt cx="1620000" cy="1764000"/>
            </a:xfrm>
          </p:grpSpPr>
          <p:sp>
            <p:nvSpPr>
              <p:cNvPr id="622" name="직사각형 621"/>
              <p:cNvSpPr/>
              <p:nvPr/>
            </p:nvSpPr>
            <p:spPr>
              <a:xfrm>
                <a:off x="6457743" y="2051426"/>
                <a:ext cx="1620000" cy="1764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72000" rIns="0" bIns="0" rtlCol="0" anchor="t"/>
              <a:lstStyle/>
              <a:p>
                <a:pPr algn="ctr"/>
                <a:r>
                  <a:rPr lang="ko-KR" altLang="en-US" sz="900" spc="-100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공동구매 참여</a:t>
                </a:r>
              </a:p>
            </p:txBody>
          </p:sp>
          <p:grpSp>
            <p:nvGrpSpPr>
              <p:cNvPr id="623" name="그룹 622"/>
              <p:cNvGrpSpPr/>
              <p:nvPr/>
            </p:nvGrpSpPr>
            <p:grpSpPr>
              <a:xfrm>
                <a:off x="6523785" y="2344452"/>
                <a:ext cx="1490398" cy="1405620"/>
                <a:chOff x="8276924" y="2344452"/>
                <a:chExt cx="1490398" cy="1405620"/>
              </a:xfrm>
            </p:grpSpPr>
            <p:sp>
              <p:nvSpPr>
                <p:cNvPr id="624" name="모서리가 둥근 직사각형 623"/>
                <p:cNvSpPr/>
                <p:nvPr/>
              </p:nvSpPr>
              <p:spPr>
                <a:xfrm>
                  <a:off x="8276924" y="2344452"/>
                  <a:ext cx="1490398" cy="144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175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공동구매 코드 자동 생성</a:t>
                  </a:r>
                </a:p>
              </p:txBody>
            </p:sp>
            <p:sp>
              <p:nvSpPr>
                <p:cNvPr id="625" name="모서리가 둥근 직사각형 624"/>
                <p:cNvSpPr/>
                <p:nvPr/>
              </p:nvSpPr>
              <p:spPr>
                <a:xfrm>
                  <a:off x="8276924" y="2704914"/>
                  <a:ext cx="1490398" cy="144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175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800" spc="-100" dirty="0">
                      <a:solidFill>
                        <a:schemeClr val="tx1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구매 수량 입력</a:t>
                  </a:r>
                </a:p>
              </p:txBody>
            </p:sp>
            <p:sp>
              <p:nvSpPr>
                <p:cNvPr id="626" name="모서리가 둥근 직사각형 625"/>
                <p:cNvSpPr/>
                <p:nvPr/>
              </p:nvSpPr>
              <p:spPr>
                <a:xfrm>
                  <a:off x="8276924" y="3065376"/>
                  <a:ext cx="1490398" cy="144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175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기존 구매 가격</a:t>
                  </a:r>
                  <a:r>
                    <a:rPr lang="en-US" altLang="ko-KR" sz="7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(</a:t>
                  </a:r>
                  <a:r>
                    <a:rPr lang="ko-KR" altLang="en-US" sz="7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자동 생성</a:t>
                  </a:r>
                  <a:r>
                    <a:rPr lang="en-US" altLang="ko-KR" sz="7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)</a:t>
                  </a:r>
                  <a:endParaRPr lang="ko-KR" altLang="en-US" sz="7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627" name="모서리가 둥근 직사각형 626"/>
                <p:cNvSpPr/>
                <p:nvPr/>
              </p:nvSpPr>
              <p:spPr>
                <a:xfrm>
                  <a:off x="8276924" y="3425838"/>
                  <a:ext cx="1490398" cy="144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175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예상 절감률</a:t>
                  </a:r>
                  <a:r>
                    <a:rPr lang="en-US" altLang="ko-KR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(</a:t>
                  </a:r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최저</a:t>
                  </a:r>
                  <a:r>
                    <a:rPr lang="en-US" altLang="ko-KR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~</a:t>
                  </a:r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최고</a:t>
                  </a:r>
                  <a:r>
                    <a:rPr lang="en-US" altLang="ko-KR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)</a:t>
                  </a:r>
                  <a:endPara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628" name="모서리가 둥근 직사각형 627"/>
                <p:cNvSpPr/>
                <p:nvPr/>
              </p:nvSpPr>
              <p:spPr>
                <a:xfrm>
                  <a:off x="8276924" y="3245607"/>
                  <a:ext cx="1490398" cy="144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175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구매 가격</a:t>
                  </a:r>
                  <a:r>
                    <a:rPr lang="en-US" altLang="ko-KR" sz="7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(</a:t>
                  </a:r>
                  <a:r>
                    <a:rPr lang="ko-KR" altLang="en-US" sz="7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수수료 혜택 포함 자동 생성</a:t>
                  </a:r>
                  <a:r>
                    <a:rPr lang="en-US" altLang="ko-KR" sz="7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)</a:t>
                  </a:r>
                  <a:endPara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629" name="모서리가 둥근 직사각형 628"/>
                <p:cNvSpPr/>
                <p:nvPr/>
              </p:nvSpPr>
              <p:spPr>
                <a:xfrm>
                  <a:off x="8276924" y="3606072"/>
                  <a:ext cx="1490398" cy="144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175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en-US" altLang="ko-KR" sz="800" spc="-100" dirty="0">
                      <a:solidFill>
                        <a:sysClr val="windowText" lastClr="000000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///</a:t>
                  </a:r>
                  <a:endParaRPr lang="ko-KR" altLang="en-US" sz="800" spc="-100" dirty="0">
                    <a:solidFill>
                      <a:sysClr val="windowText" lastClr="000000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  <p:sp>
              <p:nvSpPr>
                <p:cNvPr id="630" name="모서리가 둥근 직사각형 629"/>
                <p:cNvSpPr/>
                <p:nvPr/>
              </p:nvSpPr>
              <p:spPr>
                <a:xfrm>
                  <a:off x="8276924" y="2524683"/>
                  <a:ext cx="1490398" cy="144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175">
                  <a:noFill/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r>
                    <a:rPr lang="ko-KR" altLang="en-US" sz="800" spc="-100" dirty="0">
                      <a:solidFill>
                        <a:schemeClr val="tx1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품목 코드</a:t>
                  </a:r>
                  <a:r>
                    <a:rPr lang="en-US" altLang="ko-KR" sz="700" spc="-100" dirty="0">
                      <a:solidFill>
                        <a:schemeClr val="tx1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(</a:t>
                  </a:r>
                  <a:r>
                    <a:rPr lang="ko-KR" altLang="en-US" sz="700" spc="-100" dirty="0">
                      <a:solidFill>
                        <a:schemeClr val="tx1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코드 입력 시 품목 자동입력</a:t>
                  </a:r>
                  <a:r>
                    <a:rPr lang="en-US" altLang="ko-KR" sz="700" spc="-100" dirty="0">
                      <a:solidFill>
                        <a:schemeClr val="tx1"/>
                      </a:solidFill>
                      <a:latin typeface="나눔고딕" panose="020D0604000000000000" pitchFamily="50" charset="-127"/>
                      <a:ea typeface="나눔고딕" panose="020D0604000000000000" pitchFamily="50" charset="-127"/>
                    </a:rPr>
                    <a:t>)</a:t>
                  </a:r>
                  <a:endParaRPr lang="en-US" altLang="ko-KR" sz="800" spc="-100" dirty="0">
                    <a:solidFill>
                      <a:schemeClr val="tx1"/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endParaRPr>
                </a:p>
              </p:txBody>
            </p:sp>
          </p:grpSp>
        </p:grpSp>
        <p:sp>
          <p:nvSpPr>
            <p:cNvPr id="621" name="모서리가 둥근 직사각형 620"/>
            <p:cNvSpPr/>
            <p:nvPr/>
          </p:nvSpPr>
          <p:spPr>
            <a:xfrm>
              <a:off x="2815742" y="5138449"/>
              <a:ext cx="1490398" cy="144000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3175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수수료 혜택 대상 여부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자동 생성</a:t>
              </a:r>
              <a:r>
                <a:rPr lang="en-US" altLang="ko-KR" sz="700" spc="-100" dirty="0">
                  <a:solidFill>
                    <a:sysClr val="windowText" lastClr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lang="ko-KR" altLang="en-US" sz="700" spc="-100" dirty="0">
                <a:solidFill>
                  <a:sysClr val="windowText" lastClr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cxnSp>
        <p:nvCxnSpPr>
          <p:cNvPr id="636" name="직선 화살표 연결선 635"/>
          <p:cNvCxnSpPr>
            <a:stCxn id="618" idx="6"/>
            <a:endCxn id="622" idx="1"/>
          </p:cNvCxnSpPr>
          <p:nvPr/>
        </p:nvCxnSpPr>
        <p:spPr>
          <a:xfrm>
            <a:off x="9250392" y="2473984"/>
            <a:ext cx="164846" cy="36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B041F2F6-A15F-412A-AA1B-249EAC810B88}"/>
              </a:ext>
            </a:extLst>
          </p:cNvPr>
          <p:cNvSpPr/>
          <p:nvPr/>
        </p:nvSpPr>
        <p:spPr>
          <a:xfrm>
            <a:off x="2071459" y="2307460"/>
            <a:ext cx="1620000" cy="3600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0" rtlCol="0" anchor="t"/>
          <a:lstStyle/>
          <a:p>
            <a:pPr algn="ctr"/>
            <a:r>
              <a:rPr lang="ko-KR" altLang="en-US" sz="900" spc="-1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공동구매 확인 요청</a:t>
            </a:r>
          </a:p>
        </p:txBody>
      </p:sp>
    </p:spTree>
    <p:extLst>
      <p:ext uri="{BB962C8B-B14F-4D97-AF65-F5344CB8AC3E}">
        <p14:creationId xmlns:p14="http://schemas.microsoft.com/office/powerpoint/2010/main" val="711739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" name="표 12">
            <a:extLst>
              <a:ext uri="{FF2B5EF4-FFF2-40B4-BE49-F238E27FC236}">
                <a16:creationId xmlns:a16="http://schemas.microsoft.com/office/drawing/2014/main" id="{1260EF11-491A-47DA-B1C7-DB761B84F77D}"/>
              </a:ext>
            </a:extLst>
          </p:cNvPr>
          <p:cNvGraphicFramePr>
            <a:graphicFrameLocks noGrp="1"/>
          </p:cNvGraphicFramePr>
          <p:nvPr/>
        </p:nvGraphicFramePr>
        <p:xfrm>
          <a:off x="165358" y="518160"/>
          <a:ext cx="11843763" cy="600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099">
                  <a:extLst>
                    <a:ext uri="{9D8B030D-6E8A-4147-A177-3AD203B41FA5}">
                      <a16:colId xmlns:a16="http://schemas.microsoft.com/office/drawing/2014/main" val="999043949"/>
                    </a:ext>
                  </a:extLst>
                </a:gridCol>
                <a:gridCol w="377099">
                  <a:extLst>
                    <a:ext uri="{9D8B030D-6E8A-4147-A177-3AD203B41FA5}">
                      <a16:colId xmlns:a16="http://schemas.microsoft.com/office/drawing/2014/main" val="3057325299"/>
                    </a:ext>
                  </a:extLst>
                </a:gridCol>
                <a:gridCol w="377099">
                  <a:extLst>
                    <a:ext uri="{9D8B030D-6E8A-4147-A177-3AD203B41FA5}">
                      <a16:colId xmlns:a16="http://schemas.microsoft.com/office/drawing/2014/main" val="2419896460"/>
                    </a:ext>
                  </a:extLst>
                </a:gridCol>
                <a:gridCol w="2073562">
                  <a:extLst>
                    <a:ext uri="{9D8B030D-6E8A-4147-A177-3AD203B41FA5}">
                      <a16:colId xmlns:a16="http://schemas.microsoft.com/office/drawing/2014/main" val="1148843124"/>
                    </a:ext>
                  </a:extLst>
                </a:gridCol>
                <a:gridCol w="2333897">
                  <a:extLst>
                    <a:ext uri="{9D8B030D-6E8A-4147-A177-3AD203B41FA5}">
                      <a16:colId xmlns:a16="http://schemas.microsoft.com/office/drawing/2014/main" val="3974386761"/>
                    </a:ext>
                  </a:extLst>
                </a:gridCol>
                <a:gridCol w="6305007">
                  <a:extLst>
                    <a:ext uri="{9D8B030D-6E8A-4147-A177-3AD203B41FA5}">
                      <a16:colId xmlns:a16="http://schemas.microsoft.com/office/drawing/2014/main" val="3775028424"/>
                    </a:ext>
                  </a:extLst>
                </a:gridCol>
              </a:tblGrid>
              <a:tr h="150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No.</a:t>
                      </a:r>
                      <a:endParaRPr lang="ko-KR" altLang="en-US" sz="1100" dirty="0">
                        <a:solidFill>
                          <a:sysClr val="windowText" lastClr="000000"/>
                        </a:solidFill>
                        <a:latin typeface="나눔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순위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사용자 관리</a:t>
                      </a:r>
                      <a:r>
                        <a:rPr lang="en-US" altLang="ko-KR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페이지 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나눔고딕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기능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728498"/>
                  </a:ext>
                </a:extLst>
              </a:tr>
              <a:tr h="150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로그인 전 메인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657534"/>
                  </a:ext>
                </a:extLst>
              </a:tr>
              <a:tr h="150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회원가입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30261"/>
                  </a:ext>
                </a:extLst>
              </a:tr>
              <a:tr h="150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로그인 후 메인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338587"/>
                  </a:ext>
                </a:extLst>
              </a:tr>
              <a:tr h="24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관리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User_personal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info_mgmt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개인정보 관리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회원 가입 시 등록한 법인 정보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개인 정보를 변경</a:t>
                      </a:r>
                      <a:endParaRPr lang="en-US" altLang="ko-KR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정보 변경에 따른 추가적인 인증이 필요한 경우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회원 가입 시와 동일한 절차를 준용</a:t>
                      </a:r>
                      <a:endParaRPr lang="en-US" altLang="ko-KR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055774"/>
                  </a:ext>
                </a:extLst>
              </a:tr>
              <a:tr h="24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관리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User_my_application</a:t>
                      </a:r>
                      <a:endParaRPr lang="en-US" altLang="ko-KR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내가 신청한 공동구매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내가 신청한 공동구매 목록 및 상세 내용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신청한 공동구매의 공동구매化 및 진행 결과 등을 조회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관리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874008"/>
                  </a:ext>
                </a:extLst>
              </a:tr>
              <a:tr h="150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관리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User_my_purchase_mgmt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나의 공동구매 관리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나의 공동구매 관리는 참여 중 공동구매와 참여한 공동구매 결과로 구분하여 조회</a:t>
                      </a:r>
                      <a:endParaRPr lang="en-US" altLang="ko-KR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507088"/>
                  </a:ext>
                </a:extLst>
              </a:tr>
              <a:tr h="150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관리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User_my_purchase_ongoing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내가 참여 중인 공동구매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공동구매 상세 정보 조회 및 공동구매 진행 상황 확인이 가능</a:t>
                      </a:r>
                      <a:endParaRPr lang="en-US" altLang="ko-KR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029456"/>
                  </a:ext>
                </a:extLst>
              </a:tr>
              <a:tr h="247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관리</a:t>
                      </a:r>
                      <a:endParaRPr lang="en-US" altLang="ko-KR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User_my_purchase_end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내가 참여한 공동구매 결과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공동구매 상세 정보 조회 및 공동구매 결과 확인이 가능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구매 비용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수량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절감률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등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487037"/>
                  </a:ext>
                </a:extLst>
              </a:tr>
              <a:tr h="150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관리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User_my_coupon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쿠폰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관리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현재 보유한 쿠폰의 상세 정보를 조회하고 관리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4405063"/>
                  </a:ext>
                </a:extLst>
              </a:tr>
              <a:tr h="150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관리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User_my_point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포인트 관리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현재 나의 포인트 적립 내역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사용 내역 등을 조회하고 관리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166150"/>
                  </a:ext>
                </a:extLst>
              </a:tr>
              <a:tr h="1500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관리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User_my_message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메시지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관리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Q&amp;A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및 채팅 등 관리자와의 커뮤니케이션 내역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알림을 조회하고 관리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295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12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관리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User_my_escrow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에스크로 입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출금 관리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에스크로에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예치한 금액 및 출금 내역을 조회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15070"/>
                  </a:ext>
                </a:extLst>
              </a:tr>
              <a:tr h="2019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13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User_purchasing_requisition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공동구매 신청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공동구매 오픈을 요청하는 공동구매 신청 화면이 출력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공동구매 오픈에 필요한 정보를 입력하고 신청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공동구매 신청이 정상적으로 완료되면 해당 신청 내역은 공동구매 신청 확인서로 화면에 출력되고 해당 내용은 사용자의 메일로 자동 전송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향후 블록체인 기술을 활용하여 위조 방지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98164"/>
                  </a:ext>
                </a:extLst>
              </a:tr>
              <a:tr h="1795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14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User_purchasing_join_list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참여 중인 공동구매 목록 전체 보기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로그인 후 메인 화면에서 참여 중 공동구매 목록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(3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출력 화면의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View More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선택하면 내가 참여 중인 공동구매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전체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목록이 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790792"/>
                  </a:ext>
                </a:extLst>
              </a:tr>
              <a:tr h="157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15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User_purchasing_</a:t>
                      </a: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recommend_</a:t>
                      </a: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list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추천 공동구매 목록 전체 보기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로그인 후 메인 화면에서 추천 공동구매 목록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(3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출력 화면의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View More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를 선택하면 나에게 추천하는 공동구매 전체 목록이 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28271"/>
                  </a:ext>
                </a:extLst>
              </a:tr>
              <a:tr h="134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16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User_purchasing</a:t>
                      </a: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_schedule_</a:t>
                      </a: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list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오픈 예정 공동구매 목록 전체 보기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로그인 후 메인 화면에서 오픈 예정 공동구매 목록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(3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출력 화면의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View More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선택하면 내가 신청했거나 나에게 추천하는 오픈 예정인 공동구매 전체 목록이 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99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17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User_purchasing_end_list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종료된 공동구매 목록 전체 보기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로그인 후 메인 화면에서 종료된 공동구매 목록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(3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출력 화면의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View More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선택하면 내가 참여하였거나 나에게 추천하는 종료된 공동구매 전체 목록이 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165348"/>
                  </a:ext>
                </a:extLst>
              </a:tr>
              <a:tr h="41741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18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User_purchasing_d</a:t>
                      </a:r>
                      <a:r>
                        <a:rPr lang="en-US" altLang="ko-KR" sz="10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etail_info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공동구매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상세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특정 공동구매 목록 선택 시 해당 공동구매에 대한 상세 조회 화면을 출력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참여 중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추천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오픈 예정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종료된 공동구매 목록 선택 시 동일한 조회 화면을 출력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추천 공동구매는 공동구매 참여하기 버튼이 활성화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참여 중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오픈 예정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종료된 공동구매 화면에서는 공동구매 참여하기 버튼이 비활성화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0334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2D37DFC-48F0-45E3-93AE-DF313B2BCDE7}"/>
              </a:ext>
            </a:extLst>
          </p:cNvPr>
          <p:cNvSpPr txBox="1"/>
          <p:nvPr/>
        </p:nvSpPr>
        <p:spPr>
          <a:xfrm>
            <a:off x="41372" y="34836"/>
            <a:ext cx="3696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1" dirty="0">
                <a:latin typeface="+mn-ea"/>
              </a:rPr>
              <a:t>Ⅱ. </a:t>
            </a:r>
            <a:r>
              <a:rPr lang="ko-KR" altLang="en-US" b="1" dirty="0">
                <a:latin typeface="+mn-ea"/>
              </a:rPr>
              <a:t>전체 화면 명세 </a:t>
            </a:r>
            <a:r>
              <a:rPr lang="en-US" altLang="ko-KR" b="1" dirty="0">
                <a:latin typeface="+mn-ea"/>
              </a:rPr>
              <a:t>– </a:t>
            </a:r>
            <a:r>
              <a:rPr lang="ko-KR" altLang="en-US" b="1" dirty="0">
                <a:latin typeface="+mn-ea"/>
              </a:rPr>
              <a:t>사용자 </a:t>
            </a:r>
            <a:r>
              <a:rPr lang="en-US" altLang="ko-KR" b="1" dirty="0">
                <a:latin typeface="+mn-ea"/>
              </a:rPr>
              <a:t>(1/2)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09003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" name="표 12">
            <a:extLst>
              <a:ext uri="{FF2B5EF4-FFF2-40B4-BE49-F238E27FC236}">
                <a16:creationId xmlns:a16="http://schemas.microsoft.com/office/drawing/2014/main" id="{1260EF11-491A-47DA-B1C7-DB761B84F77D}"/>
              </a:ext>
            </a:extLst>
          </p:cNvPr>
          <p:cNvGraphicFramePr>
            <a:graphicFrameLocks noGrp="1"/>
          </p:cNvGraphicFramePr>
          <p:nvPr/>
        </p:nvGraphicFramePr>
        <p:xfrm>
          <a:off x="165358" y="518160"/>
          <a:ext cx="11843762" cy="506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119">
                  <a:extLst>
                    <a:ext uri="{9D8B030D-6E8A-4147-A177-3AD203B41FA5}">
                      <a16:colId xmlns:a16="http://schemas.microsoft.com/office/drawing/2014/main" val="2408407552"/>
                    </a:ext>
                  </a:extLst>
                </a:gridCol>
                <a:gridCol w="377119">
                  <a:extLst>
                    <a:ext uri="{9D8B030D-6E8A-4147-A177-3AD203B41FA5}">
                      <a16:colId xmlns:a16="http://schemas.microsoft.com/office/drawing/2014/main" val="3057325299"/>
                    </a:ext>
                  </a:extLst>
                </a:gridCol>
                <a:gridCol w="377119">
                  <a:extLst>
                    <a:ext uri="{9D8B030D-6E8A-4147-A177-3AD203B41FA5}">
                      <a16:colId xmlns:a16="http://schemas.microsoft.com/office/drawing/2014/main" val="2419896460"/>
                    </a:ext>
                  </a:extLst>
                </a:gridCol>
                <a:gridCol w="2073502">
                  <a:extLst>
                    <a:ext uri="{9D8B030D-6E8A-4147-A177-3AD203B41FA5}">
                      <a16:colId xmlns:a16="http://schemas.microsoft.com/office/drawing/2014/main" val="1148843124"/>
                    </a:ext>
                  </a:extLst>
                </a:gridCol>
                <a:gridCol w="2333897">
                  <a:extLst>
                    <a:ext uri="{9D8B030D-6E8A-4147-A177-3AD203B41FA5}">
                      <a16:colId xmlns:a16="http://schemas.microsoft.com/office/drawing/2014/main" val="3974386761"/>
                    </a:ext>
                  </a:extLst>
                </a:gridCol>
                <a:gridCol w="6305006">
                  <a:extLst>
                    <a:ext uri="{9D8B030D-6E8A-4147-A177-3AD203B41FA5}">
                      <a16:colId xmlns:a16="http://schemas.microsoft.com/office/drawing/2014/main" val="3775028424"/>
                    </a:ext>
                  </a:extLst>
                </a:gridCol>
              </a:tblGrid>
              <a:tr h="150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No.</a:t>
                      </a:r>
                      <a:endParaRPr lang="ko-KR" altLang="en-US" sz="1100" dirty="0">
                        <a:solidFill>
                          <a:sysClr val="windowText" lastClr="000000"/>
                        </a:solidFill>
                        <a:latin typeface="나눔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순위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사용자 관리</a:t>
                      </a:r>
                      <a:r>
                        <a:rPr lang="en-US" altLang="ko-KR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페이지 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나눔고딕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기능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728498"/>
                  </a:ext>
                </a:extLst>
              </a:tr>
              <a:tr h="2139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19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일반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User_purchasing_participation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공동구매 참여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특정 공동구매의 상세 조회 화면으로 이동하여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활성화된 공동구매 참여하기 버튼을 클릭하면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해당 공동 구매 참여를 위한 공동구매 참여 화면이 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657534"/>
                  </a:ext>
                </a:extLst>
              </a:tr>
              <a:tr h="150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20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일반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User_escrow_deposit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에스크로 입금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공동구매 참여를 위한 필수 정보를 입력하면 화면에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입급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금액이 자동으로 산정되어 출력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산정된 금액이 출력되고 사용자가 화면 내 에스크로 예치 버튼을 선택하면 에스크로 예치를 위한 별도의 화면이 출력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에스크로에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금액이 정상적으로 예치 완료되면 예치 확인 메시지와 함께 공동구매 참여가 종료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에스크로 이체 확인서와 공동구매 참여 확인서는 시스템에서 자동으로 생성되어 화면에 출력되고 해당 확인서는 사용자에게 자동으로 메일로 전송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향후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확인서는 블록체인 기술을 활용하여 위조 방지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30261"/>
                  </a:ext>
                </a:extLst>
              </a:tr>
              <a:tr h="150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일반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공동구매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진행 현황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사용자가 참여한 공동구매의 처리 현황이 단계별로 구분되어 출력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처리 현황 단계는 공동구매 모집 중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–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공동구매 종료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제품 발주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주문 접수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–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제품 출하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–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중국 내 배송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제품 검수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중국 통관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–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국제 배송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국내 통관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국내 검수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국내 배송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–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제품 전달 등으로 구분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처리 현황 단계에서 주문 접수까지는 플랫폼 자체적으로 처리하고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제품 출하 단계부터 제품 전달까지의 단계 업데이트는 물류 플랫폼의 정보를 받아서 전달 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338587"/>
                  </a:ext>
                </a:extLst>
              </a:tr>
              <a:tr h="24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22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일반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제품 수취 확인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사용자가 참여한 공동구매의 제품이 최종 목적지에 도착하여 수취한 이후 수취 확인을 하는 화면</a:t>
                      </a:r>
                      <a:endParaRPr lang="en-US" altLang="ko-KR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사용자가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일 내 수취 확인을 하지 않을 경우 자동으로 수취 확인이 되는 것으로 셋팅하고 해당 내용은 이용 약관에 포함할 수 있도록 함</a:t>
                      </a:r>
                      <a:endParaRPr lang="en-US" altLang="ko-KR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055774"/>
                  </a:ext>
                </a:extLst>
              </a:tr>
              <a:tr h="24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23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일반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제품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배송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AS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요청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공동구매 제품에 불량 등이 발생한 경우 이에 대한 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AS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를 요청하는 화면</a:t>
                      </a:r>
                      <a:endParaRPr lang="en-US" altLang="ko-KR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AS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요청은 제품 수취 후 사전에 명시한 기간 내 가능</a:t>
                      </a:r>
                      <a:endParaRPr lang="en-US" altLang="ko-KR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제품의 특성 상 즉각적인 확인이 어려운 경우에 대한 별도의 약관 또는 반품 처리 정책 마련이 필요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874008"/>
                  </a:ext>
                </a:extLst>
              </a:tr>
              <a:tr h="134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24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나의 공동구매 참여 현황 분석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99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25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나의 업종별 공동구매 참여 현황 분석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165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26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나의 산업별 공동구매 참여 현황 분석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03349"/>
                  </a:ext>
                </a:extLst>
              </a:tr>
              <a:tr h="1043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27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맞춤 선 제안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249863"/>
                  </a:ext>
                </a:extLst>
              </a:tr>
              <a:tr h="120045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897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555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3296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2D37DFC-48F0-45E3-93AE-DF313B2BCDE7}"/>
              </a:ext>
            </a:extLst>
          </p:cNvPr>
          <p:cNvSpPr txBox="1"/>
          <p:nvPr/>
        </p:nvSpPr>
        <p:spPr>
          <a:xfrm>
            <a:off x="41372" y="34836"/>
            <a:ext cx="3696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1" dirty="0">
                <a:latin typeface="+mn-ea"/>
              </a:rPr>
              <a:t>Ⅱ. </a:t>
            </a:r>
            <a:r>
              <a:rPr lang="ko-KR" altLang="en-US" b="1" dirty="0">
                <a:latin typeface="+mn-ea"/>
              </a:rPr>
              <a:t>전체 화면 명세 </a:t>
            </a:r>
            <a:r>
              <a:rPr lang="en-US" altLang="ko-KR" b="1" dirty="0">
                <a:latin typeface="+mn-ea"/>
              </a:rPr>
              <a:t>– </a:t>
            </a:r>
            <a:r>
              <a:rPr lang="ko-KR" altLang="en-US" b="1" dirty="0">
                <a:latin typeface="+mn-ea"/>
              </a:rPr>
              <a:t>사용자 </a:t>
            </a:r>
            <a:r>
              <a:rPr lang="en-US" altLang="ko-KR" b="1" dirty="0">
                <a:latin typeface="+mn-ea"/>
              </a:rPr>
              <a:t>(2/2)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2336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" name="표 12">
            <a:extLst>
              <a:ext uri="{FF2B5EF4-FFF2-40B4-BE49-F238E27FC236}">
                <a16:creationId xmlns:a16="http://schemas.microsoft.com/office/drawing/2014/main" id="{1260EF11-491A-47DA-B1C7-DB761B84F77D}"/>
              </a:ext>
            </a:extLst>
          </p:cNvPr>
          <p:cNvGraphicFramePr>
            <a:graphicFrameLocks noGrp="1"/>
          </p:cNvGraphicFramePr>
          <p:nvPr/>
        </p:nvGraphicFramePr>
        <p:xfrm>
          <a:off x="165358" y="518160"/>
          <a:ext cx="11843762" cy="582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119">
                  <a:extLst>
                    <a:ext uri="{9D8B030D-6E8A-4147-A177-3AD203B41FA5}">
                      <a16:colId xmlns:a16="http://schemas.microsoft.com/office/drawing/2014/main" val="2408407552"/>
                    </a:ext>
                  </a:extLst>
                </a:gridCol>
                <a:gridCol w="377119">
                  <a:extLst>
                    <a:ext uri="{9D8B030D-6E8A-4147-A177-3AD203B41FA5}">
                      <a16:colId xmlns:a16="http://schemas.microsoft.com/office/drawing/2014/main" val="3057325299"/>
                    </a:ext>
                  </a:extLst>
                </a:gridCol>
                <a:gridCol w="377119">
                  <a:extLst>
                    <a:ext uri="{9D8B030D-6E8A-4147-A177-3AD203B41FA5}">
                      <a16:colId xmlns:a16="http://schemas.microsoft.com/office/drawing/2014/main" val="2419896460"/>
                    </a:ext>
                  </a:extLst>
                </a:gridCol>
                <a:gridCol w="2073502">
                  <a:extLst>
                    <a:ext uri="{9D8B030D-6E8A-4147-A177-3AD203B41FA5}">
                      <a16:colId xmlns:a16="http://schemas.microsoft.com/office/drawing/2014/main" val="1148843124"/>
                    </a:ext>
                  </a:extLst>
                </a:gridCol>
                <a:gridCol w="2333897">
                  <a:extLst>
                    <a:ext uri="{9D8B030D-6E8A-4147-A177-3AD203B41FA5}">
                      <a16:colId xmlns:a16="http://schemas.microsoft.com/office/drawing/2014/main" val="3974386761"/>
                    </a:ext>
                  </a:extLst>
                </a:gridCol>
                <a:gridCol w="6305006">
                  <a:extLst>
                    <a:ext uri="{9D8B030D-6E8A-4147-A177-3AD203B41FA5}">
                      <a16:colId xmlns:a16="http://schemas.microsoft.com/office/drawing/2014/main" val="3775028424"/>
                    </a:ext>
                  </a:extLst>
                </a:gridCol>
              </a:tblGrid>
              <a:tr h="150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No.</a:t>
                      </a:r>
                      <a:endParaRPr lang="ko-KR" altLang="en-US" sz="1100" dirty="0">
                        <a:solidFill>
                          <a:sysClr val="windowText" lastClr="000000"/>
                        </a:solidFill>
                        <a:latin typeface="나눔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순위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사용자 관리</a:t>
                      </a:r>
                      <a:r>
                        <a:rPr lang="en-US" altLang="ko-KR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페이지 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나눔고딕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기능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728498"/>
                  </a:ext>
                </a:extLst>
              </a:tr>
              <a:tr h="2139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Admin_Notice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공지사항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공지사항을 등록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삭제하는 관리 화면</a:t>
                      </a:r>
                      <a:endParaRPr lang="en-US" altLang="ko-KR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개의 공지사항 관리 페이지에서 카테고리 옵션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공지 관리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이벤트 관리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보도자료 관리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을 선택하여 등록하면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카테고리에 맞는 공지사항 게시판으로 게시물이 등록되는 기능</a:t>
                      </a:r>
                      <a:endParaRPr lang="en-US" altLang="ko-KR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657534"/>
                  </a:ext>
                </a:extLst>
              </a:tr>
              <a:tr h="2139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Admin_performance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홍보 데이터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로그인 전 메인 화면의 홍보 카테고리에 나타나는 데이터 분석 결과를 등록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삭제하는 관리 화면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596773"/>
                  </a:ext>
                </a:extLst>
              </a:tr>
              <a:tr h="2139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Admin_FAQs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FAQ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관리</a:t>
                      </a:r>
                      <a:endParaRPr lang="en-US" altLang="ko-KR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FAQs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를 등록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수정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삭제하는 관리 화면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319905"/>
                  </a:ext>
                </a:extLst>
              </a:tr>
              <a:tr h="2139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Admin_QnA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Q&amp;A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noProof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등록된 </a:t>
                      </a:r>
                      <a:r>
                        <a:rPr lang="en-US" altLang="ko-KR" sz="1000" kern="1200" noProof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Question</a:t>
                      </a:r>
                      <a:r>
                        <a:rPr lang="ko-KR" altLang="en-US" sz="1000" kern="1200" noProof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에 대한 답변을 등록</a:t>
                      </a:r>
                      <a:r>
                        <a:rPr lang="en-US" altLang="ko-KR" sz="1000" kern="1200" noProof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noProof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수정</a:t>
                      </a:r>
                      <a:r>
                        <a:rPr lang="en-US" altLang="ko-KR" sz="1000" kern="1200" noProof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noProof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삭제하는 관리 화면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486569"/>
                  </a:ext>
                </a:extLst>
              </a:tr>
              <a:tr h="2139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5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Admin_membe_mgmt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회원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등록된 회원정보를 조회</a:t>
                      </a:r>
                      <a:r>
                        <a:rPr lang="en-US" altLang="ko-KR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등록</a:t>
                      </a:r>
                      <a:r>
                        <a:rPr lang="en-US" altLang="ko-KR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수정</a:t>
                      </a:r>
                      <a:r>
                        <a:rPr lang="en-US" altLang="ko-KR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삭제</a:t>
                      </a:r>
                      <a:r>
                        <a:rPr lang="en-US" altLang="ko-KR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하는 관리 화면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82741"/>
                  </a:ext>
                </a:extLst>
              </a:tr>
              <a:tr h="150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Admin_application_mgmt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공동구매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신청 내역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회원들이 신청한 공동구매 신청 내역을 조회</a:t>
                      </a:r>
                      <a:endParaRPr lang="en-US" altLang="ko-KR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공동구매 신청 내역을 기반으로 필요한 경우</a:t>
                      </a:r>
                      <a:r>
                        <a:rPr lang="en-US" altLang="ko-KR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샘플 신청 화면으로 이동</a:t>
                      </a:r>
                      <a:endParaRPr lang="en-US" altLang="ko-KR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공동구매 신청 내역을 자동 또는 수동으로 </a:t>
                      </a:r>
                      <a:r>
                        <a:rPr lang="ko-KR" altLang="en-US" sz="1000" kern="12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그룹핑하고</a:t>
                      </a:r>
                      <a:r>
                        <a:rPr lang="en-US" altLang="ko-KR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 협상을 위한 딜 생성 화면으로 이동</a:t>
                      </a:r>
                      <a:endParaRPr lang="en-US" altLang="ko-KR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공동구매 신청 내역을 자동 또는 수동으로 </a:t>
                      </a:r>
                      <a:r>
                        <a:rPr lang="ko-KR" altLang="en-US" sz="1000" kern="12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그룹핑하고</a:t>
                      </a:r>
                      <a:r>
                        <a:rPr lang="en-US" altLang="ko-KR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 공동구매 생성 화면으로 이동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30261"/>
                  </a:ext>
                </a:extLst>
              </a:tr>
              <a:tr h="150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공동구매 확인 요청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?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338587"/>
                  </a:ext>
                </a:extLst>
              </a:tr>
              <a:tr h="24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샘플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샘플을 신청하고</a:t>
                      </a:r>
                      <a:r>
                        <a:rPr lang="en-US" altLang="ko-KR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샘플 검수 결과를 관리하는 화면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055774"/>
                  </a:ext>
                </a:extLst>
              </a:tr>
              <a:tr h="2472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협상 딜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공동구매 신청 내역 관리를 통해 </a:t>
                      </a:r>
                      <a:r>
                        <a:rPr lang="ko-KR" altLang="en-US" sz="1000" kern="1200" dirty="0" err="1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그룹핑</a:t>
                      </a: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 된 신청 건을 기반으로 판매처</a:t>
                      </a:r>
                      <a:r>
                        <a:rPr lang="en-US" altLang="ko-KR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/Supplier</a:t>
                      </a: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와 협상을 위한 딜을 생성하는 화면</a:t>
                      </a:r>
                      <a:endParaRPr lang="en-US" altLang="ko-KR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판매처</a:t>
                      </a:r>
                      <a:r>
                        <a:rPr lang="en-US" altLang="ko-KR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/Supplier</a:t>
                      </a: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와 협상한 결과를 등록 및 관리하는 화면</a:t>
                      </a:r>
                      <a:endParaRPr lang="en-US" altLang="ko-KR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협상 딜 결과를 등록하면 공동구매 생성 버튼이 활성화</a:t>
                      </a:r>
                      <a:endParaRPr lang="en-US" altLang="ko-KR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협상 딜 관리 화면에 데이터는 동일 제품의 공동구매 재 생성 시 활용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874008"/>
                  </a:ext>
                </a:extLst>
              </a:tr>
              <a:tr h="134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공동구매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협상이 완료된 공동구매 건에 대하여 공동구매를 생성하는 화면</a:t>
                      </a:r>
                      <a:endParaRPr lang="en-US" altLang="ko-KR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공동구매 생성 완료 시 공동구매를 신청했던 회원들에게 </a:t>
                      </a:r>
                      <a:r>
                        <a:rPr lang="en-US" altLang="ko-KR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SMS, </a:t>
                      </a: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이메일 등으로 공동구매 참여 안내를 전송</a:t>
                      </a:r>
                      <a:endParaRPr lang="en-US" altLang="ko-KR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공동구매가 진행 사항</a:t>
                      </a:r>
                      <a:r>
                        <a:rPr lang="en-US" altLang="ko-KR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  <a:cs typeface="+mn-cs"/>
                        </a:rPr>
                        <a:t>결과 등을 조회하는 화면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99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수수료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165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12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판매처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/Supplier 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03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13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공동구매 검수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통관</a:t>
                      </a:r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물류 현황 조회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249863"/>
                  </a:ext>
                </a:extLst>
              </a:tr>
              <a:tr h="1200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14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에스크로 입출금 내역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897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15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수수료 정산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555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3296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2D37DFC-48F0-45E3-93AE-DF313B2BCDE7}"/>
              </a:ext>
            </a:extLst>
          </p:cNvPr>
          <p:cNvSpPr txBox="1"/>
          <p:nvPr/>
        </p:nvSpPr>
        <p:spPr>
          <a:xfrm>
            <a:off x="41372" y="34836"/>
            <a:ext cx="3696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1" dirty="0">
                <a:latin typeface="+mn-ea"/>
              </a:rPr>
              <a:t>Ⅱ. </a:t>
            </a:r>
            <a:r>
              <a:rPr lang="ko-KR" altLang="en-US" b="1" dirty="0">
                <a:latin typeface="+mn-ea"/>
              </a:rPr>
              <a:t>전체 화면 명세 </a:t>
            </a:r>
            <a:r>
              <a:rPr lang="en-US" altLang="ko-KR" b="1" dirty="0">
                <a:latin typeface="+mn-ea"/>
              </a:rPr>
              <a:t>– </a:t>
            </a:r>
            <a:r>
              <a:rPr lang="ko-KR" altLang="en-US" b="1" dirty="0">
                <a:latin typeface="+mn-ea"/>
              </a:rPr>
              <a:t>관리자 </a:t>
            </a:r>
            <a:r>
              <a:rPr lang="en-US" altLang="ko-KR" b="1" dirty="0">
                <a:latin typeface="+mn-ea"/>
              </a:rPr>
              <a:t>(1/2)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0303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" name="표 12">
            <a:extLst>
              <a:ext uri="{FF2B5EF4-FFF2-40B4-BE49-F238E27FC236}">
                <a16:creationId xmlns:a16="http://schemas.microsoft.com/office/drawing/2014/main" id="{1260EF11-491A-47DA-B1C7-DB761B84F77D}"/>
              </a:ext>
            </a:extLst>
          </p:cNvPr>
          <p:cNvGraphicFramePr>
            <a:graphicFrameLocks noGrp="1"/>
          </p:cNvGraphicFramePr>
          <p:nvPr/>
        </p:nvGraphicFramePr>
        <p:xfrm>
          <a:off x="165358" y="518160"/>
          <a:ext cx="11843762" cy="41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119">
                  <a:extLst>
                    <a:ext uri="{9D8B030D-6E8A-4147-A177-3AD203B41FA5}">
                      <a16:colId xmlns:a16="http://schemas.microsoft.com/office/drawing/2014/main" val="2408407552"/>
                    </a:ext>
                  </a:extLst>
                </a:gridCol>
                <a:gridCol w="377119">
                  <a:extLst>
                    <a:ext uri="{9D8B030D-6E8A-4147-A177-3AD203B41FA5}">
                      <a16:colId xmlns:a16="http://schemas.microsoft.com/office/drawing/2014/main" val="3057325299"/>
                    </a:ext>
                  </a:extLst>
                </a:gridCol>
                <a:gridCol w="377119">
                  <a:extLst>
                    <a:ext uri="{9D8B030D-6E8A-4147-A177-3AD203B41FA5}">
                      <a16:colId xmlns:a16="http://schemas.microsoft.com/office/drawing/2014/main" val="2419896460"/>
                    </a:ext>
                  </a:extLst>
                </a:gridCol>
                <a:gridCol w="2073502">
                  <a:extLst>
                    <a:ext uri="{9D8B030D-6E8A-4147-A177-3AD203B41FA5}">
                      <a16:colId xmlns:a16="http://schemas.microsoft.com/office/drawing/2014/main" val="1148843124"/>
                    </a:ext>
                  </a:extLst>
                </a:gridCol>
                <a:gridCol w="2333897">
                  <a:extLst>
                    <a:ext uri="{9D8B030D-6E8A-4147-A177-3AD203B41FA5}">
                      <a16:colId xmlns:a16="http://schemas.microsoft.com/office/drawing/2014/main" val="3974386761"/>
                    </a:ext>
                  </a:extLst>
                </a:gridCol>
                <a:gridCol w="6305006">
                  <a:extLst>
                    <a:ext uri="{9D8B030D-6E8A-4147-A177-3AD203B41FA5}">
                      <a16:colId xmlns:a16="http://schemas.microsoft.com/office/drawing/2014/main" val="3775028424"/>
                    </a:ext>
                  </a:extLst>
                </a:gridCol>
              </a:tblGrid>
              <a:tr h="150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No.</a:t>
                      </a:r>
                      <a:endParaRPr lang="ko-KR" altLang="en-US" sz="1100" dirty="0">
                        <a:solidFill>
                          <a:sysClr val="windowText" lastClr="000000"/>
                        </a:solidFill>
                        <a:latin typeface="나눔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순위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사용자 관리</a:t>
                      </a:r>
                      <a:r>
                        <a:rPr lang="en-US" altLang="ko-KR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페이지 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나눔고딕"/>
                      </a:endParaRPr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solidFill>
                            <a:sysClr val="windowText" lastClr="000000"/>
                          </a:solidFill>
                          <a:latin typeface="나눔고딕"/>
                        </a:rPr>
                        <a:t>기능 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728498"/>
                  </a:ext>
                </a:extLst>
              </a:tr>
              <a:tr h="21397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657534"/>
                  </a:ext>
                </a:extLst>
              </a:tr>
              <a:tr h="21397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596773"/>
                  </a:ext>
                </a:extLst>
              </a:tr>
              <a:tr h="21397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319905"/>
                  </a:ext>
                </a:extLst>
              </a:tr>
              <a:tr h="21397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000" kern="1200" noProof="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486569"/>
                  </a:ext>
                </a:extLst>
              </a:tr>
              <a:tr h="213971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582741"/>
                  </a:ext>
                </a:extLst>
              </a:tr>
              <a:tr h="150086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30261"/>
                  </a:ext>
                </a:extLst>
              </a:tr>
              <a:tr h="150086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338587"/>
                  </a:ext>
                </a:extLst>
              </a:tr>
              <a:tr h="2472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055774"/>
                  </a:ext>
                </a:extLst>
              </a:tr>
              <a:tr h="2472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874008"/>
                  </a:ext>
                </a:extLst>
              </a:tr>
              <a:tr h="1346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99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165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603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249863"/>
                  </a:ext>
                </a:extLst>
              </a:tr>
              <a:tr h="120045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897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555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3296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2D37DFC-48F0-45E3-93AE-DF313B2BCDE7}"/>
              </a:ext>
            </a:extLst>
          </p:cNvPr>
          <p:cNvSpPr txBox="1"/>
          <p:nvPr/>
        </p:nvSpPr>
        <p:spPr>
          <a:xfrm>
            <a:off x="41372" y="34836"/>
            <a:ext cx="3829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b="1" dirty="0">
                <a:latin typeface="+mn-ea"/>
              </a:rPr>
              <a:t>Ⅱ. </a:t>
            </a:r>
            <a:r>
              <a:rPr lang="ko-KR" altLang="en-US" b="1" dirty="0">
                <a:latin typeface="+mn-ea"/>
              </a:rPr>
              <a:t>전체 화면 명세 </a:t>
            </a:r>
            <a:r>
              <a:rPr lang="en-US" altLang="ko-KR" b="1" dirty="0">
                <a:latin typeface="+mn-ea"/>
              </a:rPr>
              <a:t>– </a:t>
            </a:r>
            <a:r>
              <a:rPr lang="ko-KR" altLang="en-US" b="1" dirty="0">
                <a:latin typeface="+mn-ea"/>
              </a:rPr>
              <a:t>관리자 </a:t>
            </a:r>
            <a:r>
              <a:rPr lang="en-US" altLang="ko-KR" b="1" dirty="0">
                <a:latin typeface="+mn-ea"/>
              </a:rPr>
              <a:t>(2/2)</a:t>
            </a:r>
            <a:endParaRPr lang="ko-KR" altLang="en-US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42638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42757F30-510B-416B-8C95-D78087C12082}"/>
              </a:ext>
            </a:extLst>
          </p:cNvPr>
          <p:cNvSpPr txBox="1"/>
          <p:nvPr/>
        </p:nvSpPr>
        <p:spPr>
          <a:xfrm>
            <a:off x="105692" y="91541"/>
            <a:ext cx="5679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2. </a:t>
            </a:r>
            <a:r>
              <a:rPr lang="ko-KR" altLang="en-US" b="1" dirty="0">
                <a:latin typeface="+mn-ea"/>
              </a:rPr>
              <a:t>로그인 후 메인 화면 </a:t>
            </a:r>
            <a:r>
              <a:rPr lang="en-US" altLang="ko-KR" b="1" dirty="0">
                <a:latin typeface="+mn-ea"/>
              </a:rPr>
              <a:t>– </a:t>
            </a:r>
            <a:r>
              <a:rPr lang="ko-KR" altLang="en-US" b="1" dirty="0">
                <a:latin typeface="+mn-ea"/>
              </a:rPr>
              <a:t>개인화 화면</a:t>
            </a:r>
            <a:r>
              <a:rPr lang="en-US" altLang="ko-KR" b="1" dirty="0">
                <a:latin typeface="+mn-ea"/>
              </a:rPr>
              <a:t>: </a:t>
            </a:r>
            <a:r>
              <a:rPr lang="ko-KR" altLang="en-US" b="1" dirty="0">
                <a:latin typeface="+mn-ea"/>
              </a:rPr>
              <a:t>개인정보 관리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BB50C194-D285-4E2D-9EFC-4907AD61A6B5}"/>
              </a:ext>
            </a:extLst>
          </p:cNvPr>
          <p:cNvSpPr txBox="1"/>
          <p:nvPr/>
        </p:nvSpPr>
        <p:spPr>
          <a:xfrm>
            <a:off x="15240" y="6558082"/>
            <a:ext cx="7734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+mn-ea"/>
              </a:rPr>
              <a:t>Page 11</a:t>
            </a:r>
            <a:endParaRPr lang="ko-KR" altLang="en-US" sz="1200" b="1" dirty="0">
              <a:latin typeface="+mn-ea"/>
            </a:endParaRP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3438384D-C590-4A2C-9A54-9133E71FFD64}"/>
              </a:ext>
            </a:extLst>
          </p:cNvPr>
          <p:cNvGrpSpPr/>
          <p:nvPr/>
        </p:nvGrpSpPr>
        <p:grpSpPr>
          <a:xfrm>
            <a:off x="56632" y="539931"/>
            <a:ext cx="2146638" cy="6018151"/>
            <a:chOff x="56632" y="539931"/>
            <a:chExt cx="2146638" cy="6018151"/>
          </a:xfrm>
        </p:grpSpPr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DC09D5D4-383C-43DA-961E-0F55DD41D27F}"/>
                </a:ext>
              </a:extLst>
            </p:cNvPr>
            <p:cNvSpPr/>
            <p:nvPr/>
          </p:nvSpPr>
          <p:spPr>
            <a:xfrm>
              <a:off x="56632" y="827920"/>
              <a:ext cx="2146638" cy="5730162"/>
            </a:xfrm>
            <a:prstGeom prst="rect">
              <a:avLst/>
            </a:prstGeom>
            <a:solidFill>
              <a:srgbClr val="002B82"/>
            </a:solidFill>
            <a:ln w="28575">
              <a:solidFill>
                <a:srgbClr val="002B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latin typeface="+mn-ea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981F11E1-C8AD-44A5-8415-39FE225F2749}"/>
                </a:ext>
              </a:extLst>
            </p:cNvPr>
            <p:cNvSpPr/>
            <p:nvPr/>
          </p:nvSpPr>
          <p:spPr>
            <a:xfrm>
              <a:off x="56632" y="539931"/>
              <a:ext cx="2146637" cy="276999"/>
            </a:xfrm>
            <a:prstGeom prst="rect">
              <a:avLst/>
            </a:prstGeom>
            <a:solidFill>
              <a:srgbClr val="002B82"/>
            </a:solidFill>
            <a:ln w="28575">
              <a:solidFill>
                <a:srgbClr val="002B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latin typeface="+mn-ea"/>
                </a:rPr>
                <a:t>[</a:t>
              </a:r>
              <a:r>
                <a:rPr lang="ko-KR" altLang="en-US" sz="1200" b="1" dirty="0">
                  <a:latin typeface="+mn-ea"/>
                </a:rPr>
                <a:t>개인화 화면</a:t>
              </a:r>
              <a:r>
                <a:rPr lang="en-US" altLang="ko-KR" sz="1200" b="1" dirty="0">
                  <a:latin typeface="+mn-ea"/>
                </a:rPr>
                <a:t>]</a:t>
              </a:r>
              <a:endParaRPr lang="ko-KR" altLang="en-US" sz="1200" b="1" dirty="0">
                <a:latin typeface="+mn-ea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06862B2-B803-4A01-A530-2FE840D6DB4A}"/>
              </a:ext>
            </a:extLst>
          </p:cNvPr>
          <p:cNvGrpSpPr/>
          <p:nvPr/>
        </p:nvGrpSpPr>
        <p:grpSpPr>
          <a:xfrm>
            <a:off x="139951" y="889272"/>
            <a:ext cx="1980000" cy="3528000"/>
            <a:chOff x="4930122" y="1543315"/>
            <a:chExt cx="2052000" cy="3564000"/>
          </a:xfrm>
        </p:grpSpPr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DE794B5E-DBDA-448B-845A-A2960F8C1B38}"/>
                </a:ext>
              </a:extLst>
            </p:cNvPr>
            <p:cNvSpPr/>
            <p:nvPr/>
          </p:nvSpPr>
          <p:spPr>
            <a:xfrm>
              <a:off x="4930122" y="1543315"/>
              <a:ext cx="2051917" cy="356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3ED3FE5D-5E97-4CCC-BABA-9E9508B0380F}"/>
                </a:ext>
              </a:extLst>
            </p:cNvPr>
            <p:cNvGrpSpPr/>
            <p:nvPr/>
          </p:nvGrpSpPr>
          <p:grpSpPr>
            <a:xfrm>
              <a:off x="4930122" y="1617742"/>
              <a:ext cx="2052000" cy="3415162"/>
              <a:chOff x="4930122" y="1617742"/>
              <a:chExt cx="2052000" cy="3415162"/>
            </a:xfrm>
          </p:grpSpPr>
          <p:sp>
            <p:nvSpPr>
              <p:cNvPr id="202" name="사각형: 둥근 모서리 201">
                <a:extLst>
                  <a:ext uri="{FF2B5EF4-FFF2-40B4-BE49-F238E27FC236}">
                    <a16:creationId xmlns:a16="http://schemas.microsoft.com/office/drawing/2014/main" id="{BA453612-2271-4271-8A82-3182AAA6AF06}"/>
                  </a:ext>
                </a:extLst>
              </p:cNvPr>
              <p:cNvSpPr/>
              <p:nvPr/>
            </p:nvSpPr>
            <p:spPr>
              <a:xfrm>
                <a:off x="5004680" y="1617742"/>
                <a:ext cx="756000" cy="180000"/>
              </a:xfrm>
              <a:prstGeom prst="roundRect">
                <a:avLst>
                  <a:gd name="adj" fmla="val 42273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개인정보 관리</a:t>
                </a: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CC15C4FC-540B-4DEA-BE6A-030CD917C203}"/>
                  </a:ext>
                </a:extLst>
              </p:cNvPr>
              <p:cNvSpPr txBox="1"/>
              <p:nvPr/>
            </p:nvSpPr>
            <p:spPr>
              <a:xfrm>
                <a:off x="5007406" y="1980558"/>
                <a:ext cx="558195" cy="2176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1400" b="1" dirty="0">
                    <a:latin typeface="+mn-ea"/>
                  </a:rPr>
                  <a:t>안남규</a:t>
                </a:r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7F1FEBB7-95EC-4498-8003-707F27E1542D}"/>
                  </a:ext>
                </a:extLst>
              </p:cNvPr>
              <p:cNvSpPr txBox="1"/>
              <p:nvPr/>
            </p:nvSpPr>
            <p:spPr>
              <a:xfrm>
                <a:off x="5042928" y="2273245"/>
                <a:ext cx="463501" cy="1243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법인 회원</a:t>
                </a:r>
              </a:p>
            </p:txBody>
          </p:sp>
          <p:pic>
            <p:nvPicPr>
              <p:cNvPr id="205" name="그림 204">
                <a:extLst>
                  <a:ext uri="{FF2B5EF4-FFF2-40B4-BE49-F238E27FC236}">
                    <a16:creationId xmlns:a16="http://schemas.microsoft.com/office/drawing/2014/main" id="{8F4FCFF1-ED2B-43CE-A9AE-92DA569513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45264" y="1894238"/>
                <a:ext cx="533111" cy="533111"/>
              </a:xfrm>
              <a:prstGeom prst="rect">
                <a:avLst/>
              </a:prstGeom>
            </p:spPr>
          </p:pic>
          <p:cxnSp>
            <p:nvCxnSpPr>
              <p:cNvPr id="207" name="직선 연결선 206">
                <a:extLst>
                  <a:ext uri="{FF2B5EF4-FFF2-40B4-BE49-F238E27FC236}">
                    <a16:creationId xmlns:a16="http://schemas.microsoft.com/office/drawing/2014/main" id="{8D9A5C52-6F8A-4058-B29A-CE56697FE1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122" y="3025138"/>
                <a:ext cx="20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8" name="그룹 207">
                <a:extLst>
                  <a:ext uri="{FF2B5EF4-FFF2-40B4-BE49-F238E27FC236}">
                    <a16:creationId xmlns:a16="http://schemas.microsoft.com/office/drawing/2014/main" id="{2F667120-D8A3-4AA7-ADC3-D95C260E7272}"/>
                  </a:ext>
                </a:extLst>
              </p:cNvPr>
              <p:cNvGrpSpPr/>
              <p:nvPr/>
            </p:nvGrpSpPr>
            <p:grpSpPr>
              <a:xfrm>
                <a:off x="4996554" y="2542137"/>
                <a:ext cx="907969" cy="366881"/>
                <a:chOff x="5047354" y="3467451"/>
                <a:chExt cx="907969" cy="366881"/>
              </a:xfrm>
            </p:grpSpPr>
            <p:pic>
              <p:nvPicPr>
                <p:cNvPr id="238" name="그림 237">
                  <a:extLst>
                    <a:ext uri="{FF2B5EF4-FFF2-40B4-BE49-F238E27FC236}">
                      <a16:creationId xmlns:a16="http://schemas.microsoft.com/office/drawing/2014/main" id="{EEBE9772-EAF1-4F5E-AFC8-F718DFBC185C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47354" y="3467451"/>
                  <a:ext cx="324000" cy="360000"/>
                </a:xfrm>
                <a:prstGeom prst="rect">
                  <a:avLst/>
                </a:prstGeom>
              </p:spPr>
            </p:pic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674641B2-0921-42DF-81D5-B29B30D06F1F}"/>
                    </a:ext>
                  </a:extLst>
                </p:cNvPr>
                <p:cNvSpPr txBox="1"/>
                <p:nvPr/>
              </p:nvSpPr>
              <p:spPr>
                <a:xfrm>
                  <a:off x="5385498" y="3585598"/>
                  <a:ext cx="569825" cy="2487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ko-KR" altLang="en-US" sz="8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>내가 신청한</a:t>
                  </a:r>
                  <a:endPara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  <a:p>
                  <a:r>
                    <a:rPr lang="ko-KR" altLang="en-US" sz="8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>공동구매</a:t>
                  </a:r>
                </a:p>
              </p:txBody>
            </p:sp>
          </p:grpSp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552E807C-4DE8-4369-80FC-F5A9DD03B8E4}"/>
                  </a:ext>
                </a:extLst>
              </p:cNvPr>
              <p:cNvGrpSpPr/>
              <p:nvPr/>
            </p:nvGrpSpPr>
            <p:grpSpPr>
              <a:xfrm>
                <a:off x="5994185" y="2604620"/>
                <a:ext cx="947500" cy="304397"/>
                <a:chOff x="5962435" y="3529934"/>
                <a:chExt cx="947500" cy="304397"/>
              </a:xfrm>
            </p:grpSpPr>
            <p:pic>
              <p:nvPicPr>
                <p:cNvPr id="236" name="그림 235">
                  <a:extLst>
                    <a:ext uri="{FF2B5EF4-FFF2-40B4-BE49-F238E27FC236}">
                      <a16:creationId xmlns:a16="http://schemas.microsoft.com/office/drawing/2014/main" id="{A4314B48-F07F-43B0-94D3-F75C5126E84C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962435" y="3529934"/>
                  <a:ext cx="324000" cy="297500"/>
                </a:xfrm>
                <a:prstGeom prst="rect">
                  <a:avLst/>
                </a:prstGeom>
              </p:spPr>
            </p:pic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C19FFB4E-78A8-4E81-B7EC-549F5AC0A28A}"/>
                    </a:ext>
                  </a:extLst>
                </p:cNvPr>
                <p:cNvSpPr txBox="1"/>
                <p:nvPr/>
              </p:nvSpPr>
              <p:spPr>
                <a:xfrm>
                  <a:off x="6301902" y="3585598"/>
                  <a:ext cx="608033" cy="2487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ko-KR" altLang="en-US" sz="8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>내가 참여 중</a:t>
                  </a:r>
                  <a:endPara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  <a:p>
                  <a:r>
                    <a:rPr lang="ko-KR" altLang="en-US" sz="8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>공동구매</a:t>
                  </a:r>
                </a:p>
              </p:txBody>
            </p:sp>
          </p:grpSp>
          <p:cxnSp>
            <p:nvCxnSpPr>
              <p:cNvPr id="211" name="직선 연결선 210">
                <a:extLst>
                  <a:ext uri="{FF2B5EF4-FFF2-40B4-BE49-F238E27FC236}">
                    <a16:creationId xmlns:a16="http://schemas.microsoft.com/office/drawing/2014/main" id="{51024906-C547-498E-8C5C-AF80A98762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122" y="3464683"/>
                <a:ext cx="20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직선 연결선 211">
                <a:extLst>
                  <a:ext uri="{FF2B5EF4-FFF2-40B4-BE49-F238E27FC236}">
                    <a16:creationId xmlns:a16="http://schemas.microsoft.com/office/drawing/2014/main" id="{6394BC14-9B5C-4122-9D94-7BC6985A8C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122" y="3904228"/>
                <a:ext cx="20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직선 연결선 212">
                <a:extLst>
                  <a:ext uri="{FF2B5EF4-FFF2-40B4-BE49-F238E27FC236}">
                    <a16:creationId xmlns:a16="http://schemas.microsoft.com/office/drawing/2014/main" id="{B912C5C1-855A-413E-979B-7D3EE79930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122" y="4343773"/>
                <a:ext cx="20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15" name="그림 214">
                <a:extLst>
                  <a:ext uri="{FF2B5EF4-FFF2-40B4-BE49-F238E27FC236}">
                    <a16:creationId xmlns:a16="http://schemas.microsoft.com/office/drawing/2014/main" id="{958E3A24-6080-42FD-9958-001A3BBEFF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69287" y="3135373"/>
                <a:ext cx="161925" cy="219075"/>
              </a:xfrm>
              <a:prstGeom prst="rect">
                <a:avLst/>
              </a:prstGeom>
            </p:spPr>
          </p:pic>
          <p:pic>
            <p:nvPicPr>
              <p:cNvPr id="216" name="그림 215">
                <a:extLst>
                  <a:ext uri="{FF2B5EF4-FFF2-40B4-BE49-F238E27FC236}">
                    <a16:creationId xmlns:a16="http://schemas.microsoft.com/office/drawing/2014/main" id="{43238602-4367-4168-A197-A08EAB259D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69287" y="3574918"/>
                <a:ext cx="161925" cy="219075"/>
              </a:xfrm>
              <a:prstGeom prst="rect">
                <a:avLst/>
              </a:prstGeom>
            </p:spPr>
          </p:pic>
          <p:pic>
            <p:nvPicPr>
              <p:cNvPr id="217" name="그림 216">
                <a:extLst>
                  <a:ext uri="{FF2B5EF4-FFF2-40B4-BE49-F238E27FC236}">
                    <a16:creationId xmlns:a16="http://schemas.microsoft.com/office/drawing/2014/main" id="{F70FA917-31B7-4014-927E-CE4893AFF7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77559" y="4014463"/>
                <a:ext cx="161925" cy="219075"/>
              </a:xfrm>
              <a:prstGeom prst="rect">
                <a:avLst/>
              </a:prstGeom>
            </p:spPr>
          </p:pic>
          <p:pic>
            <p:nvPicPr>
              <p:cNvPr id="218" name="그림 217">
                <a:extLst>
                  <a:ext uri="{FF2B5EF4-FFF2-40B4-BE49-F238E27FC236}">
                    <a16:creationId xmlns:a16="http://schemas.microsoft.com/office/drawing/2014/main" id="{83C2284B-8215-41A3-A210-92F2CEBDAF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77559" y="4454008"/>
                <a:ext cx="161925" cy="219075"/>
              </a:xfrm>
              <a:prstGeom prst="rect">
                <a:avLst/>
              </a:prstGeom>
            </p:spPr>
          </p:pic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10A37AF1-E858-4FCE-B5D8-1F7CCB3809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122" y="4783315"/>
                <a:ext cx="20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6D3E8CDB-521C-4A25-90E9-9952595CB0D7}"/>
                  </a:ext>
                </a:extLst>
              </p:cNvPr>
              <p:cNvSpPr txBox="1"/>
              <p:nvPr/>
            </p:nvSpPr>
            <p:spPr>
              <a:xfrm>
                <a:off x="4949156" y="3109544"/>
                <a:ext cx="1580222" cy="279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공동구매 참여 결과</a:t>
                </a:r>
              </a:p>
            </p:txBody>
          </p: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4A77BE2B-89F1-4565-89F1-2DAC5F84F9D1}"/>
                  </a:ext>
                </a:extLst>
              </p:cNvPr>
              <p:cNvSpPr txBox="1"/>
              <p:nvPr/>
            </p:nvSpPr>
            <p:spPr>
              <a:xfrm>
                <a:off x="4949156" y="3553618"/>
                <a:ext cx="819350" cy="279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쿠폰 </a:t>
                </a:r>
                <a:r>
                  <a:rPr lang="en-US" altLang="ko-KR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0</a:t>
                </a:r>
                <a:r>
                  <a: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장</a:t>
                </a:r>
              </a:p>
            </p:txBody>
          </p:sp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80C8071F-1066-4403-A759-4632CFE8BBD3}"/>
                  </a:ext>
                </a:extLst>
              </p:cNvPr>
              <p:cNvSpPr txBox="1"/>
              <p:nvPr/>
            </p:nvSpPr>
            <p:spPr>
              <a:xfrm>
                <a:off x="4949156" y="3998264"/>
                <a:ext cx="917367" cy="279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포인트 </a:t>
                </a:r>
                <a:r>
                  <a:rPr lang="en-US" altLang="ko-KR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0P</a:t>
                </a:r>
                <a:endPara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DBD5747D-EBC8-402F-9280-EAAAA58A8111}"/>
                  </a:ext>
                </a:extLst>
              </p:cNvPr>
              <p:cNvSpPr txBox="1"/>
              <p:nvPr/>
            </p:nvSpPr>
            <p:spPr>
              <a:xfrm>
                <a:off x="4949156" y="4436478"/>
                <a:ext cx="669834" cy="279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메시지</a:t>
                </a:r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212D300A-052B-463E-9E51-5617F3486FD5}"/>
                  </a:ext>
                </a:extLst>
              </p:cNvPr>
              <p:cNvSpPr/>
              <p:nvPr/>
            </p:nvSpPr>
            <p:spPr>
              <a:xfrm>
                <a:off x="4996547" y="4852904"/>
                <a:ext cx="540000" cy="180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로그 아웃</a:t>
                </a:r>
              </a:p>
            </p:txBody>
          </p:sp>
        </p:grpSp>
      </p:grpSp>
      <p:sp>
        <p:nvSpPr>
          <p:cNvPr id="29" name="타원 28">
            <a:extLst>
              <a:ext uri="{FF2B5EF4-FFF2-40B4-BE49-F238E27FC236}">
                <a16:creationId xmlns:a16="http://schemas.microsoft.com/office/drawing/2014/main" id="{3EFE3BC5-CF0D-4691-A943-8DA73690C1BB}"/>
              </a:ext>
            </a:extLst>
          </p:cNvPr>
          <p:cNvSpPr/>
          <p:nvPr/>
        </p:nvSpPr>
        <p:spPr>
          <a:xfrm>
            <a:off x="80234" y="846146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1</a:t>
            </a:r>
            <a:endParaRPr lang="ko-KR" altLang="en-US" sz="1100" b="1" dirty="0">
              <a:latin typeface="+mn-ea"/>
            </a:endParaRPr>
          </a:p>
        </p:txBody>
      </p: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099073DD-37A4-4B2D-8F54-2CDB4442E36C}"/>
              </a:ext>
            </a:extLst>
          </p:cNvPr>
          <p:cNvGrpSpPr/>
          <p:nvPr/>
        </p:nvGrpSpPr>
        <p:grpSpPr>
          <a:xfrm>
            <a:off x="2302038" y="889272"/>
            <a:ext cx="4761945" cy="5668810"/>
            <a:chOff x="2686048" y="146048"/>
            <a:chExt cx="4761945" cy="5668810"/>
          </a:xfrm>
        </p:grpSpPr>
        <p:sp>
          <p:nvSpPr>
            <p:cNvPr id="259" name="직사각형 258">
              <a:extLst>
                <a:ext uri="{FF2B5EF4-FFF2-40B4-BE49-F238E27FC236}">
                  <a16:creationId xmlns:a16="http://schemas.microsoft.com/office/drawing/2014/main" id="{486C7E25-3E05-473F-B6DA-FB558C81D3F0}"/>
                </a:ext>
              </a:extLst>
            </p:cNvPr>
            <p:cNvSpPr/>
            <p:nvPr/>
          </p:nvSpPr>
          <p:spPr>
            <a:xfrm>
              <a:off x="2686048" y="146048"/>
              <a:ext cx="4761945" cy="566881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0" name="직사각형 259">
              <a:extLst>
                <a:ext uri="{FF2B5EF4-FFF2-40B4-BE49-F238E27FC236}">
                  <a16:creationId xmlns:a16="http://schemas.microsoft.com/office/drawing/2014/main" id="{6511CDBB-1186-45C5-9A4D-A2E70B908252}"/>
                </a:ext>
              </a:extLst>
            </p:cNvPr>
            <p:cNvSpPr/>
            <p:nvPr/>
          </p:nvSpPr>
          <p:spPr>
            <a:xfrm>
              <a:off x="2686050" y="146050"/>
              <a:ext cx="1440000" cy="16867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ysClr val="windowText" lastClr="000000"/>
                  </a:solidFill>
                  <a:latin typeface="+mn-ea"/>
                  <a:cs typeface="함초롬바탕" panose="02030504000101010101" pitchFamily="18" charset="-127"/>
                </a:rPr>
                <a:t>① </a:t>
              </a:r>
              <a:r>
                <a:rPr lang="ko-KR" altLang="en-US" sz="1000" b="1" dirty="0">
                  <a:solidFill>
                    <a:sysClr val="windowText" lastClr="000000"/>
                  </a:solidFill>
                  <a:latin typeface="+mn-ea"/>
                </a:rPr>
                <a:t>개인정보 관리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9460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42757F30-510B-416B-8C95-D78087C12082}"/>
              </a:ext>
            </a:extLst>
          </p:cNvPr>
          <p:cNvSpPr txBox="1"/>
          <p:nvPr/>
        </p:nvSpPr>
        <p:spPr>
          <a:xfrm>
            <a:off x="105692" y="91541"/>
            <a:ext cx="908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2. </a:t>
            </a:r>
            <a:r>
              <a:rPr lang="ko-KR" altLang="en-US" b="1" dirty="0">
                <a:latin typeface="+mn-ea"/>
              </a:rPr>
              <a:t>로그인 후 메인 화면 </a:t>
            </a:r>
            <a:r>
              <a:rPr lang="en-US" altLang="ko-KR" b="1" dirty="0">
                <a:latin typeface="+mn-ea"/>
              </a:rPr>
              <a:t>– </a:t>
            </a:r>
            <a:r>
              <a:rPr lang="ko-KR" altLang="en-US" b="1" dirty="0">
                <a:latin typeface="+mn-ea"/>
              </a:rPr>
              <a:t>개인화 화면</a:t>
            </a:r>
            <a:r>
              <a:rPr lang="en-US" altLang="ko-KR" b="1" dirty="0">
                <a:latin typeface="+mn-ea"/>
              </a:rPr>
              <a:t>: </a:t>
            </a:r>
            <a:r>
              <a:rPr lang="ko-KR" altLang="en-US" b="1" dirty="0">
                <a:latin typeface="+mn-ea"/>
              </a:rPr>
              <a:t>내가 신청한 공동구매 및 내가 참여한 공동구매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BB50C194-D285-4E2D-9EFC-4907AD61A6B5}"/>
              </a:ext>
            </a:extLst>
          </p:cNvPr>
          <p:cNvSpPr txBox="1"/>
          <p:nvPr/>
        </p:nvSpPr>
        <p:spPr>
          <a:xfrm>
            <a:off x="15240" y="6558082"/>
            <a:ext cx="7734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+mn-ea"/>
              </a:rPr>
              <a:t>Page 12</a:t>
            </a:r>
            <a:endParaRPr lang="ko-KR" altLang="en-US" sz="1200" b="1" dirty="0">
              <a:latin typeface="+mn-ea"/>
            </a:endParaRP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3438384D-C590-4A2C-9A54-9133E71FFD64}"/>
              </a:ext>
            </a:extLst>
          </p:cNvPr>
          <p:cNvGrpSpPr/>
          <p:nvPr/>
        </p:nvGrpSpPr>
        <p:grpSpPr>
          <a:xfrm>
            <a:off x="56632" y="539931"/>
            <a:ext cx="2146638" cy="6018151"/>
            <a:chOff x="56632" y="539931"/>
            <a:chExt cx="2146638" cy="6018151"/>
          </a:xfrm>
        </p:grpSpPr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DC09D5D4-383C-43DA-961E-0F55DD41D27F}"/>
                </a:ext>
              </a:extLst>
            </p:cNvPr>
            <p:cNvSpPr/>
            <p:nvPr/>
          </p:nvSpPr>
          <p:spPr>
            <a:xfrm>
              <a:off x="56632" y="827920"/>
              <a:ext cx="2146638" cy="5730162"/>
            </a:xfrm>
            <a:prstGeom prst="rect">
              <a:avLst/>
            </a:prstGeom>
            <a:solidFill>
              <a:srgbClr val="002B82"/>
            </a:solidFill>
            <a:ln w="28575">
              <a:solidFill>
                <a:srgbClr val="002B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latin typeface="+mn-ea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981F11E1-C8AD-44A5-8415-39FE225F2749}"/>
                </a:ext>
              </a:extLst>
            </p:cNvPr>
            <p:cNvSpPr/>
            <p:nvPr/>
          </p:nvSpPr>
          <p:spPr>
            <a:xfrm>
              <a:off x="56632" y="539931"/>
              <a:ext cx="2146637" cy="276999"/>
            </a:xfrm>
            <a:prstGeom prst="rect">
              <a:avLst/>
            </a:prstGeom>
            <a:solidFill>
              <a:srgbClr val="002B82"/>
            </a:solidFill>
            <a:ln w="28575">
              <a:solidFill>
                <a:srgbClr val="002B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latin typeface="+mn-ea"/>
                </a:rPr>
                <a:t>[</a:t>
              </a:r>
              <a:r>
                <a:rPr lang="ko-KR" altLang="en-US" sz="1200" b="1" dirty="0">
                  <a:latin typeface="+mn-ea"/>
                </a:rPr>
                <a:t>개인화 화면</a:t>
              </a:r>
              <a:r>
                <a:rPr lang="en-US" altLang="ko-KR" sz="1200" b="1" dirty="0">
                  <a:latin typeface="+mn-ea"/>
                </a:rPr>
                <a:t>]</a:t>
              </a:r>
              <a:endParaRPr lang="ko-KR" altLang="en-US" sz="1200" b="1" dirty="0">
                <a:latin typeface="+mn-ea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06862B2-B803-4A01-A530-2FE840D6DB4A}"/>
              </a:ext>
            </a:extLst>
          </p:cNvPr>
          <p:cNvGrpSpPr/>
          <p:nvPr/>
        </p:nvGrpSpPr>
        <p:grpSpPr>
          <a:xfrm>
            <a:off x="139951" y="889272"/>
            <a:ext cx="1980000" cy="3528000"/>
            <a:chOff x="4930122" y="1543315"/>
            <a:chExt cx="2052000" cy="3564000"/>
          </a:xfrm>
        </p:grpSpPr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DE794B5E-DBDA-448B-845A-A2960F8C1B38}"/>
                </a:ext>
              </a:extLst>
            </p:cNvPr>
            <p:cNvSpPr/>
            <p:nvPr/>
          </p:nvSpPr>
          <p:spPr>
            <a:xfrm>
              <a:off x="4930122" y="1543315"/>
              <a:ext cx="2051917" cy="356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3ED3FE5D-5E97-4CCC-BABA-9E9508B0380F}"/>
                </a:ext>
              </a:extLst>
            </p:cNvPr>
            <p:cNvGrpSpPr/>
            <p:nvPr/>
          </p:nvGrpSpPr>
          <p:grpSpPr>
            <a:xfrm>
              <a:off x="4930122" y="1617742"/>
              <a:ext cx="2052000" cy="3415162"/>
              <a:chOff x="4930122" y="1617742"/>
              <a:chExt cx="2052000" cy="3415162"/>
            </a:xfrm>
          </p:grpSpPr>
          <p:sp>
            <p:nvSpPr>
              <p:cNvPr id="202" name="사각형: 둥근 모서리 201">
                <a:extLst>
                  <a:ext uri="{FF2B5EF4-FFF2-40B4-BE49-F238E27FC236}">
                    <a16:creationId xmlns:a16="http://schemas.microsoft.com/office/drawing/2014/main" id="{BA453612-2271-4271-8A82-3182AAA6AF06}"/>
                  </a:ext>
                </a:extLst>
              </p:cNvPr>
              <p:cNvSpPr/>
              <p:nvPr/>
            </p:nvSpPr>
            <p:spPr>
              <a:xfrm>
                <a:off x="5004680" y="1617742"/>
                <a:ext cx="756000" cy="180000"/>
              </a:xfrm>
              <a:prstGeom prst="roundRect">
                <a:avLst>
                  <a:gd name="adj" fmla="val 42273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개인정보 관리</a:t>
                </a: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CC15C4FC-540B-4DEA-BE6A-030CD917C203}"/>
                  </a:ext>
                </a:extLst>
              </p:cNvPr>
              <p:cNvSpPr txBox="1"/>
              <p:nvPr/>
            </p:nvSpPr>
            <p:spPr>
              <a:xfrm>
                <a:off x="5007406" y="1980558"/>
                <a:ext cx="558195" cy="2176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1400" b="1" dirty="0">
                    <a:latin typeface="+mn-ea"/>
                  </a:rPr>
                  <a:t>안남규</a:t>
                </a:r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7F1FEBB7-95EC-4498-8003-707F27E1542D}"/>
                  </a:ext>
                </a:extLst>
              </p:cNvPr>
              <p:cNvSpPr txBox="1"/>
              <p:nvPr/>
            </p:nvSpPr>
            <p:spPr>
              <a:xfrm>
                <a:off x="5042928" y="2273245"/>
                <a:ext cx="463501" cy="1243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법인 회원</a:t>
                </a:r>
              </a:p>
            </p:txBody>
          </p:sp>
          <p:pic>
            <p:nvPicPr>
              <p:cNvPr id="205" name="그림 204">
                <a:extLst>
                  <a:ext uri="{FF2B5EF4-FFF2-40B4-BE49-F238E27FC236}">
                    <a16:creationId xmlns:a16="http://schemas.microsoft.com/office/drawing/2014/main" id="{8F4FCFF1-ED2B-43CE-A9AE-92DA569513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45264" y="1894238"/>
                <a:ext cx="533111" cy="533111"/>
              </a:xfrm>
              <a:prstGeom prst="rect">
                <a:avLst/>
              </a:prstGeom>
            </p:spPr>
          </p:pic>
          <p:cxnSp>
            <p:nvCxnSpPr>
              <p:cNvPr id="207" name="직선 연결선 206">
                <a:extLst>
                  <a:ext uri="{FF2B5EF4-FFF2-40B4-BE49-F238E27FC236}">
                    <a16:creationId xmlns:a16="http://schemas.microsoft.com/office/drawing/2014/main" id="{8D9A5C52-6F8A-4058-B29A-CE56697FE1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122" y="3025138"/>
                <a:ext cx="20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8" name="그룹 207">
                <a:extLst>
                  <a:ext uri="{FF2B5EF4-FFF2-40B4-BE49-F238E27FC236}">
                    <a16:creationId xmlns:a16="http://schemas.microsoft.com/office/drawing/2014/main" id="{2F667120-D8A3-4AA7-ADC3-D95C260E7272}"/>
                  </a:ext>
                </a:extLst>
              </p:cNvPr>
              <p:cNvGrpSpPr/>
              <p:nvPr/>
            </p:nvGrpSpPr>
            <p:grpSpPr>
              <a:xfrm>
                <a:off x="4996554" y="2542137"/>
                <a:ext cx="907969" cy="366881"/>
                <a:chOff x="5047354" y="3467451"/>
                <a:chExt cx="907969" cy="366881"/>
              </a:xfrm>
            </p:grpSpPr>
            <p:pic>
              <p:nvPicPr>
                <p:cNvPr id="238" name="그림 237">
                  <a:extLst>
                    <a:ext uri="{FF2B5EF4-FFF2-40B4-BE49-F238E27FC236}">
                      <a16:creationId xmlns:a16="http://schemas.microsoft.com/office/drawing/2014/main" id="{EEBE9772-EAF1-4F5E-AFC8-F718DFBC185C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47354" y="3467451"/>
                  <a:ext cx="324000" cy="360000"/>
                </a:xfrm>
                <a:prstGeom prst="rect">
                  <a:avLst/>
                </a:prstGeom>
              </p:spPr>
            </p:pic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674641B2-0921-42DF-81D5-B29B30D06F1F}"/>
                    </a:ext>
                  </a:extLst>
                </p:cNvPr>
                <p:cNvSpPr txBox="1"/>
                <p:nvPr/>
              </p:nvSpPr>
              <p:spPr>
                <a:xfrm>
                  <a:off x="5385498" y="3585598"/>
                  <a:ext cx="569825" cy="2487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ko-KR" altLang="en-US" sz="8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>내가 신청한</a:t>
                  </a:r>
                  <a:endPara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  <a:p>
                  <a:r>
                    <a:rPr lang="ko-KR" altLang="en-US" sz="8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>공동구매</a:t>
                  </a:r>
                </a:p>
              </p:txBody>
            </p:sp>
          </p:grpSp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552E807C-4DE8-4369-80FC-F5A9DD03B8E4}"/>
                  </a:ext>
                </a:extLst>
              </p:cNvPr>
              <p:cNvGrpSpPr/>
              <p:nvPr/>
            </p:nvGrpSpPr>
            <p:grpSpPr>
              <a:xfrm>
                <a:off x="5994185" y="2604620"/>
                <a:ext cx="947500" cy="304397"/>
                <a:chOff x="5962435" y="3529934"/>
                <a:chExt cx="947500" cy="304397"/>
              </a:xfrm>
            </p:grpSpPr>
            <p:pic>
              <p:nvPicPr>
                <p:cNvPr id="236" name="그림 235">
                  <a:extLst>
                    <a:ext uri="{FF2B5EF4-FFF2-40B4-BE49-F238E27FC236}">
                      <a16:creationId xmlns:a16="http://schemas.microsoft.com/office/drawing/2014/main" id="{A4314B48-F07F-43B0-94D3-F75C5126E84C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962435" y="3529934"/>
                  <a:ext cx="324000" cy="297500"/>
                </a:xfrm>
                <a:prstGeom prst="rect">
                  <a:avLst/>
                </a:prstGeom>
              </p:spPr>
            </p:pic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C19FFB4E-78A8-4E81-B7EC-549F5AC0A28A}"/>
                    </a:ext>
                  </a:extLst>
                </p:cNvPr>
                <p:cNvSpPr txBox="1"/>
                <p:nvPr/>
              </p:nvSpPr>
              <p:spPr>
                <a:xfrm>
                  <a:off x="6301902" y="3585598"/>
                  <a:ext cx="608033" cy="2487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ko-KR" altLang="en-US" sz="8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>내가 참여 중</a:t>
                  </a:r>
                  <a:endPara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  <a:p>
                  <a:r>
                    <a:rPr lang="ko-KR" altLang="en-US" sz="8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>공동구매</a:t>
                  </a:r>
                </a:p>
              </p:txBody>
            </p:sp>
          </p:grpSp>
          <p:cxnSp>
            <p:nvCxnSpPr>
              <p:cNvPr id="211" name="직선 연결선 210">
                <a:extLst>
                  <a:ext uri="{FF2B5EF4-FFF2-40B4-BE49-F238E27FC236}">
                    <a16:creationId xmlns:a16="http://schemas.microsoft.com/office/drawing/2014/main" id="{51024906-C547-498E-8C5C-AF80A98762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122" y="3464683"/>
                <a:ext cx="20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직선 연결선 211">
                <a:extLst>
                  <a:ext uri="{FF2B5EF4-FFF2-40B4-BE49-F238E27FC236}">
                    <a16:creationId xmlns:a16="http://schemas.microsoft.com/office/drawing/2014/main" id="{6394BC14-9B5C-4122-9D94-7BC6985A8C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122" y="3904228"/>
                <a:ext cx="20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직선 연결선 212">
                <a:extLst>
                  <a:ext uri="{FF2B5EF4-FFF2-40B4-BE49-F238E27FC236}">
                    <a16:creationId xmlns:a16="http://schemas.microsoft.com/office/drawing/2014/main" id="{B912C5C1-855A-413E-979B-7D3EE79930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122" y="4343773"/>
                <a:ext cx="20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15" name="그림 214">
                <a:extLst>
                  <a:ext uri="{FF2B5EF4-FFF2-40B4-BE49-F238E27FC236}">
                    <a16:creationId xmlns:a16="http://schemas.microsoft.com/office/drawing/2014/main" id="{958E3A24-6080-42FD-9958-001A3BBEFF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69287" y="3135373"/>
                <a:ext cx="161925" cy="219075"/>
              </a:xfrm>
              <a:prstGeom prst="rect">
                <a:avLst/>
              </a:prstGeom>
            </p:spPr>
          </p:pic>
          <p:pic>
            <p:nvPicPr>
              <p:cNvPr id="216" name="그림 215">
                <a:extLst>
                  <a:ext uri="{FF2B5EF4-FFF2-40B4-BE49-F238E27FC236}">
                    <a16:creationId xmlns:a16="http://schemas.microsoft.com/office/drawing/2014/main" id="{43238602-4367-4168-A197-A08EAB259D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69287" y="3574918"/>
                <a:ext cx="161925" cy="219075"/>
              </a:xfrm>
              <a:prstGeom prst="rect">
                <a:avLst/>
              </a:prstGeom>
            </p:spPr>
          </p:pic>
          <p:pic>
            <p:nvPicPr>
              <p:cNvPr id="217" name="그림 216">
                <a:extLst>
                  <a:ext uri="{FF2B5EF4-FFF2-40B4-BE49-F238E27FC236}">
                    <a16:creationId xmlns:a16="http://schemas.microsoft.com/office/drawing/2014/main" id="{F70FA917-31B7-4014-927E-CE4893AFF7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77559" y="4014463"/>
                <a:ext cx="161925" cy="219075"/>
              </a:xfrm>
              <a:prstGeom prst="rect">
                <a:avLst/>
              </a:prstGeom>
            </p:spPr>
          </p:pic>
          <p:pic>
            <p:nvPicPr>
              <p:cNvPr id="218" name="그림 217">
                <a:extLst>
                  <a:ext uri="{FF2B5EF4-FFF2-40B4-BE49-F238E27FC236}">
                    <a16:creationId xmlns:a16="http://schemas.microsoft.com/office/drawing/2014/main" id="{83C2284B-8215-41A3-A210-92F2CEBDAF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77559" y="4454008"/>
                <a:ext cx="161925" cy="219075"/>
              </a:xfrm>
              <a:prstGeom prst="rect">
                <a:avLst/>
              </a:prstGeom>
            </p:spPr>
          </p:pic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10A37AF1-E858-4FCE-B5D8-1F7CCB3809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122" y="4783315"/>
                <a:ext cx="20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6D3E8CDB-521C-4A25-90E9-9952595CB0D7}"/>
                  </a:ext>
                </a:extLst>
              </p:cNvPr>
              <p:cNvSpPr txBox="1"/>
              <p:nvPr/>
            </p:nvSpPr>
            <p:spPr>
              <a:xfrm>
                <a:off x="4949156" y="3109544"/>
                <a:ext cx="1580222" cy="279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공동구매 참여 결과</a:t>
                </a:r>
              </a:p>
            </p:txBody>
          </p: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4A77BE2B-89F1-4565-89F1-2DAC5F84F9D1}"/>
                  </a:ext>
                </a:extLst>
              </p:cNvPr>
              <p:cNvSpPr txBox="1"/>
              <p:nvPr/>
            </p:nvSpPr>
            <p:spPr>
              <a:xfrm>
                <a:off x="4949156" y="3553618"/>
                <a:ext cx="819350" cy="279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쿠폰 </a:t>
                </a:r>
                <a:r>
                  <a:rPr lang="en-US" altLang="ko-KR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0</a:t>
                </a:r>
                <a:r>
                  <a: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장</a:t>
                </a:r>
              </a:p>
            </p:txBody>
          </p:sp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80C8071F-1066-4403-A759-4632CFE8BBD3}"/>
                  </a:ext>
                </a:extLst>
              </p:cNvPr>
              <p:cNvSpPr txBox="1"/>
              <p:nvPr/>
            </p:nvSpPr>
            <p:spPr>
              <a:xfrm>
                <a:off x="4949156" y="3998264"/>
                <a:ext cx="917367" cy="279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포인트 </a:t>
                </a:r>
                <a:r>
                  <a:rPr lang="en-US" altLang="ko-KR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0P</a:t>
                </a:r>
                <a:endPara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DBD5747D-EBC8-402F-9280-EAAAA58A8111}"/>
                  </a:ext>
                </a:extLst>
              </p:cNvPr>
              <p:cNvSpPr txBox="1"/>
              <p:nvPr/>
            </p:nvSpPr>
            <p:spPr>
              <a:xfrm>
                <a:off x="4949156" y="4436478"/>
                <a:ext cx="669834" cy="2798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메시지</a:t>
                </a:r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212D300A-052B-463E-9E51-5617F3486FD5}"/>
                  </a:ext>
                </a:extLst>
              </p:cNvPr>
              <p:cNvSpPr/>
              <p:nvPr/>
            </p:nvSpPr>
            <p:spPr>
              <a:xfrm>
                <a:off x="4996547" y="4852904"/>
                <a:ext cx="540000" cy="180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로그 아웃</a:t>
                </a:r>
              </a:p>
            </p:txBody>
          </p:sp>
        </p:grpSp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099073DD-37A4-4B2D-8F54-2CDB4442E36C}"/>
              </a:ext>
            </a:extLst>
          </p:cNvPr>
          <p:cNvGrpSpPr/>
          <p:nvPr/>
        </p:nvGrpSpPr>
        <p:grpSpPr>
          <a:xfrm>
            <a:off x="2275213" y="539931"/>
            <a:ext cx="4335278" cy="6226528"/>
            <a:chOff x="2686049" y="146048"/>
            <a:chExt cx="4335278" cy="5668810"/>
          </a:xfrm>
        </p:grpSpPr>
        <p:sp>
          <p:nvSpPr>
            <p:cNvPr id="259" name="직사각형 258">
              <a:extLst>
                <a:ext uri="{FF2B5EF4-FFF2-40B4-BE49-F238E27FC236}">
                  <a16:creationId xmlns:a16="http://schemas.microsoft.com/office/drawing/2014/main" id="{486C7E25-3E05-473F-B6DA-FB558C81D3F0}"/>
                </a:ext>
              </a:extLst>
            </p:cNvPr>
            <p:cNvSpPr/>
            <p:nvPr/>
          </p:nvSpPr>
          <p:spPr>
            <a:xfrm>
              <a:off x="2686049" y="146048"/>
              <a:ext cx="4335278" cy="566881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50" dirty="0"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050" dirty="0">
                  <a:solidFill>
                    <a:schemeClr val="tx1"/>
                  </a:solidFill>
                  <a:latin typeface="+mn-ea"/>
                </a:rPr>
                <a:t>  </a:t>
              </a:r>
            </a:p>
          </p:txBody>
        </p:sp>
        <p:sp>
          <p:nvSpPr>
            <p:cNvPr id="260" name="직사각형 259">
              <a:extLst>
                <a:ext uri="{FF2B5EF4-FFF2-40B4-BE49-F238E27FC236}">
                  <a16:creationId xmlns:a16="http://schemas.microsoft.com/office/drawing/2014/main" id="{6511CDBB-1186-45C5-9A4D-A2E70B908252}"/>
                </a:ext>
              </a:extLst>
            </p:cNvPr>
            <p:cNvSpPr/>
            <p:nvPr/>
          </p:nvSpPr>
          <p:spPr>
            <a:xfrm>
              <a:off x="2686050" y="146050"/>
              <a:ext cx="1620000" cy="16867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ysClr val="windowText" lastClr="000000"/>
                  </a:solidFill>
                  <a:latin typeface="+mn-ea"/>
                  <a:cs typeface="함초롬바탕" panose="02030504000101010101" pitchFamily="18" charset="-127"/>
                </a:rPr>
                <a:t>① </a:t>
              </a:r>
              <a:r>
                <a:rPr lang="ko-KR" altLang="en-US" sz="1000" b="1" dirty="0">
                  <a:solidFill>
                    <a:sysClr val="windowText" lastClr="000000"/>
                  </a:solidFill>
                  <a:latin typeface="+mn-ea"/>
                </a:rPr>
                <a:t>내가 신청한 공동구매</a:t>
              </a:r>
            </a:p>
          </p:txBody>
        </p:sp>
      </p:grpSp>
      <p:sp>
        <p:nvSpPr>
          <p:cNvPr id="38" name="타원 37">
            <a:extLst>
              <a:ext uri="{FF2B5EF4-FFF2-40B4-BE49-F238E27FC236}">
                <a16:creationId xmlns:a16="http://schemas.microsoft.com/office/drawing/2014/main" id="{846DCFAF-979A-4B50-B2EB-C607B23F4FD8}"/>
              </a:ext>
            </a:extLst>
          </p:cNvPr>
          <p:cNvSpPr/>
          <p:nvPr/>
        </p:nvSpPr>
        <p:spPr>
          <a:xfrm>
            <a:off x="113972" y="182173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1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59838896-056A-4025-94A4-FA8ED8E49806}"/>
              </a:ext>
            </a:extLst>
          </p:cNvPr>
          <p:cNvSpPr/>
          <p:nvPr/>
        </p:nvSpPr>
        <p:spPr>
          <a:xfrm>
            <a:off x="1142449" y="182173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2</a:t>
            </a:r>
            <a:endParaRPr lang="ko-KR" altLang="en-US" sz="1100" b="1" dirty="0">
              <a:latin typeface="+mn-ea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DB79F58-3985-43AE-9F59-5583900A8406}"/>
              </a:ext>
            </a:extLst>
          </p:cNvPr>
          <p:cNvGrpSpPr/>
          <p:nvPr/>
        </p:nvGrpSpPr>
        <p:grpSpPr>
          <a:xfrm>
            <a:off x="6657341" y="539931"/>
            <a:ext cx="5376343" cy="6226528"/>
            <a:chOff x="2686048" y="146048"/>
            <a:chExt cx="4761945" cy="5668810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8EE6C6A1-D013-48B5-86A8-D295F59CE8BA}"/>
                </a:ext>
              </a:extLst>
            </p:cNvPr>
            <p:cNvSpPr/>
            <p:nvPr/>
          </p:nvSpPr>
          <p:spPr>
            <a:xfrm>
              <a:off x="2686048" y="146048"/>
              <a:ext cx="4761945" cy="566881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020F3B2B-7568-49AE-9F30-0658C72EC1E9}"/>
                </a:ext>
              </a:extLst>
            </p:cNvPr>
            <p:cNvSpPr/>
            <p:nvPr/>
          </p:nvSpPr>
          <p:spPr>
            <a:xfrm>
              <a:off x="2689914" y="146048"/>
              <a:ext cx="1620000" cy="16867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ysClr val="windowText" lastClr="000000"/>
                  </a:solidFill>
                  <a:latin typeface="+mn-ea"/>
                  <a:cs typeface="함초롬바탕" panose="02030504000101010101" pitchFamily="18" charset="-127"/>
                </a:rPr>
                <a:t>② </a:t>
              </a:r>
              <a:r>
                <a:rPr lang="ko-KR" altLang="en-US" sz="1000" b="1" dirty="0">
                  <a:solidFill>
                    <a:sysClr val="windowText" lastClr="000000"/>
                  </a:solidFill>
                  <a:latin typeface="+mn-ea"/>
                </a:rPr>
                <a:t>내가 참여한 공동구매</a:t>
              </a:r>
            </a:p>
          </p:txBody>
        </p:sp>
      </p:grpSp>
      <p:graphicFrame>
        <p:nvGraphicFramePr>
          <p:cNvPr id="63" name="표 62">
            <a:extLst>
              <a:ext uri="{FF2B5EF4-FFF2-40B4-BE49-F238E27FC236}">
                <a16:creationId xmlns:a16="http://schemas.microsoft.com/office/drawing/2014/main" id="{948AE503-57FD-41A4-A2E5-8BA71EC83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799693"/>
              </p:ext>
            </p:extLst>
          </p:nvPr>
        </p:nvGraphicFramePr>
        <p:xfrm>
          <a:off x="2382510" y="1536365"/>
          <a:ext cx="4182707" cy="8820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4376">
                  <a:extLst>
                    <a:ext uri="{9D8B030D-6E8A-4147-A177-3AD203B41FA5}">
                      <a16:colId xmlns:a16="http://schemas.microsoft.com/office/drawing/2014/main" val="1248065864"/>
                    </a:ext>
                  </a:extLst>
                </a:gridCol>
                <a:gridCol w="524376">
                  <a:extLst>
                    <a:ext uri="{9D8B030D-6E8A-4147-A177-3AD203B41FA5}">
                      <a16:colId xmlns:a16="http://schemas.microsoft.com/office/drawing/2014/main" val="274207222"/>
                    </a:ext>
                  </a:extLst>
                </a:gridCol>
                <a:gridCol w="524376">
                  <a:extLst>
                    <a:ext uri="{9D8B030D-6E8A-4147-A177-3AD203B41FA5}">
                      <a16:colId xmlns:a16="http://schemas.microsoft.com/office/drawing/2014/main" val="2449354134"/>
                    </a:ext>
                  </a:extLst>
                </a:gridCol>
                <a:gridCol w="524376">
                  <a:extLst>
                    <a:ext uri="{9D8B030D-6E8A-4147-A177-3AD203B41FA5}">
                      <a16:colId xmlns:a16="http://schemas.microsoft.com/office/drawing/2014/main" val="2571806988"/>
                    </a:ext>
                  </a:extLst>
                </a:gridCol>
                <a:gridCol w="440768">
                  <a:extLst>
                    <a:ext uri="{9D8B030D-6E8A-4147-A177-3AD203B41FA5}">
                      <a16:colId xmlns:a16="http://schemas.microsoft.com/office/drawing/2014/main" val="2256820808"/>
                    </a:ext>
                  </a:extLst>
                </a:gridCol>
                <a:gridCol w="498300">
                  <a:extLst>
                    <a:ext uri="{9D8B030D-6E8A-4147-A177-3AD203B41FA5}">
                      <a16:colId xmlns:a16="http://schemas.microsoft.com/office/drawing/2014/main" val="1149350631"/>
                    </a:ext>
                  </a:extLst>
                </a:gridCol>
                <a:gridCol w="545702">
                  <a:extLst>
                    <a:ext uri="{9D8B030D-6E8A-4147-A177-3AD203B41FA5}">
                      <a16:colId xmlns:a16="http://schemas.microsoft.com/office/drawing/2014/main" val="1993537376"/>
                    </a:ext>
                  </a:extLst>
                </a:gridCol>
                <a:gridCol w="600433">
                  <a:extLst>
                    <a:ext uri="{9D8B030D-6E8A-4147-A177-3AD203B41FA5}">
                      <a16:colId xmlns:a16="http://schemas.microsoft.com/office/drawing/2014/main" val="132485704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신청번호</a:t>
                      </a:r>
                      <a:endParaRPr lang="en-US" altLang="ko-KR" sz="8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신청일시</a:t>
                      </a:r>
                      <a:endParaRPr lang="en-US" altLang="ko-KR" sz="8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상품명</a:t>
                      </a:r>
                      <a:endParaRPr lang="en-US" altLang="ko-KR" sz="8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수량</a:t>
                      </a:r>
                      <a:endParaRPr lang="en-US" altLang="ko-KR" sz="8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단가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진행단계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공동구매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오픈예정일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신청확인서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14882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2020-XX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2020-8-12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메모리</a:t>
                      </a:r>
                      <a:r>
                        <a:rPr lang="en-US" altLang="ko-KR" sz="800" u="none" strike="noStrike" dirty="0">
                          <a:effectLst/>
                        </a:rPr>
                        <a:t>A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100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50,000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검토중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미정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91399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2020-XX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2020-7-12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메모리</a:t>
                      </a:r>
                      <a:r>
                        <a:rPr lang="en-US" altLang="ko-KR" sz="800" u="none" strike="noStrike" dirty="0">
                          <a:effectLst/>
                        </a:rPr>
                        <a:t>B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150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30,000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생성실패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0338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2020-XX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2020-5-12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메모리</a:t>
                      </a:r>
                      <a:r>
                        <a:rPr lang="en-US" altLang="ko-KR" sz="800" u="none" strike="noStrike" dirty="0">
                          <a:effectLst/>
                        </a:rPr>
                        <a:t>C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200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20,000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sng" strike="noStrike" dirty="0">
                        <a:solidFill>
                          <a:srgbClr val="FFC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20-09-11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278111"/>
                  </a:ext>
                </a:extLst>
              </a:tr>
            </a:tbl>
          </a:graphicData>
        </a:graphic>
      </p:graphicFrame>
      <p:grpSp>
        <p:nvGrpSpPr>
          <p:cNvPr id="85" name="그룹 84">
            <a:extLst>
              <a:ext uri="{FF2B5EF4-FFF2-40B4-BE49-F238E27FC236}">
                <a16:creationId xmlns:a16="http://schemas.microsoft.com/office/drawing/2014/main" id="{F4223488-0C07-450E-95E2-5A1CC7CA13FB}"/>
              </a:ext>
            </a:extLst>
          </p:cNvPr>
          <p:cNvGrpSpPr/>
          <p:nvPr/>
        </p:nvGrpSpPr>
        <p:grpSpPr>
          <a:xfrm>
            <a:off x="2321118" y="649021"/>
            <a:ext cx="4210764" cy="617973"/>
            <a:chOff x="2354453" y="1623206"/>
            <a:chExt cx="4598798" cy="617973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F67C92F-3F3E-421B-BBA7-204AAB5F55BC}"/>
                </a:ext>
              </a:extLst>
            </p:cNvPr>
            <p:cNvSpPr txBox="1"/>
            <p:nvPr/>
          </p:nvSpPr>
          <p:spPr>
            <a:xfrm flipH="1">
              <a:off x="2377087" y="1623206"/>
              <a:ext cx="127075" cy="457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endParaRPr lang="ko-KR" altLang="en-US" sz="1400" b="1" dirty="0">
                <a:latin typeface="+mn-ea"/>
              </a:endParaRPr>
            </a:p>
          </p:txBody>
        </p:sp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B1DB88CD-B62A-43D6-9C7C-86EB8CC05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54453" y="1734940"/>
              <a:ext cx="4598798" cy="314369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DCD7B6C-2370-4BAE-A4F6-7D5E04B9497C}"/>
                </a:ext>
              </a:extLst>
            </p:cNvPr>
            <p:cNvSpPr txBox="1"/>
            <p:nvPr/>
          </p:nvSpPr>
          <p:spPr>
            <a:xfrm>
              <a:off x="2434541" y="2101496"/>
              <a:ext cx="448186" cy="12311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800" b="1" dirty="0">
                  <a:solidFill>
                    <a:schemeClr val="accent3">
                      <a:lumMod val="75000"/>
                    </a:schemeClr>
                  </a:solidFill>
                  <a:latin typeface="+mn-ea"/>
                </a:rPr>
                <a:t>진행단계</a:t>
              </a: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D07BF1B-3333-436A-B9A0-7F3FB0DB62B2}"/>
                </a:ext>
              </a:extLst>
            </p:cNvPr>
            <p:cNvSpPr/>
            <p:nvPr/>
          </p:nvSpPr>
          <p:spPr>
            <a:xfrm>
              <a:off x="2929273" y="2056187"/>
              <a:ext cx="1242677" cy="184991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CC372AB9-EB2D-429E-B700-595A7B5ABD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21221" y="2056187"/>
              <a:ext cx="0" cy="184992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4983E02B-A607-4A92-8DA2-204DC14CDA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7365" y="2056187"/>
              <a:ext cx="0" cy="184992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B303165-F29A-4457-A95C-B2AEA6962A0E}"/>
                </a:ext>
              </a:extLst>
            </p:cNvPr>
            <p:cNvSpPr txBox="1"/>
            <p:nvPr/>
          </p:nvSpPr>
          <p:spPr>
            <a:xfrm>
              <a:off x="2915751" y="2056186"/>
              <a:ext cx="49996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600" b="1" dirty="0" err="1">
                  <a:solidFill>
                    <a:schemeClr val="accent3">
                      <a:lumMod val="75000"/>
                    </a:schemeClr>
                  </a:solidFill>
                  <a:ea typeface="나눔고딕" panose="020D0604000000000000"/>
                </a:rPr>
                <a:t>검토중</a:t>
              </a:r>
              <a:endParaRPr lang="ko-KR" altLang="en-US" sz="600" b="1" dirty="0">
                <a:solidFill>
                  <a:schemeClr val="accent3">
                    <a:lumMod val="75000"/>
                  </a:schemeClr>
                </a:solidFill>
                <a:ea typeface="나눔고딕" panose="020D060400000000000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4575046C-7BFC-4034-A3DE-C2216ADD3C36}"/>
                </a:ext>
              </a:extLst>
            </p:cNvPr>
            <p:cNvSpPr txBox="1"/>
            <p:nvPr/>
          </p:nvSpPr>
          <p:spPr>
            <a:xfrm>
              <a:off x="3296198" y="2058566"/>
              <a:ext cx="499967" cy="16927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500" b="1" dirty="0">
                  <a:solidFill>
                    <a:schemeClr val="bg1"/>
                  </a:solidFill>
                  <a:ea typeface="나눔고딕" panose="020D0604000000000000"/>
                </a:rPr>
                <a:t>생성완료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150C9A8-6AFF-45EF-8219-AFD7D93DBDB6}"/>
                </a:ext>
              </a:extLst>
            </p:cNvPr>
            <p:cNvSpPr txBox="1"/>
            <p:nvPr/>
          </p:nvSpPr>
          <p:spPr>
            <a:xfrm>
              <a:off x="3731509" y="2063594"/>
              <a:ext cx="499969" cy="1692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500" b="1" dirty="0">
                  <a:solidFill>
                    <a:schemeClr val="accent3">
                      <a:lumMod val="75000"/>
                    </a:schemeClr>
                  </a:solidFill>
                  <a:ea typeface="나눔고딕" panose="020D0604000000000000"/>
                </a:rPr>
                <a:t>생성실패</a:t>
              </a:r>
            </a:p>
          </p:txBody>
        </p:sp>
      </p:grp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625D404-0DE6-4759-9CD2-2D08E92F5AEA}"/>
              </a:ext>
            </a:extLst>
          </p:cNvPr>
          <p:cNvSpPr/>
          <p:nvPr/>
        </p:nvSpPr>
        <p:spPr>
          <a:xfrm>
            <a:off x="2382510" y="2808331"/>
            <a:ext cx="4182707" cy="141466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</a:pPr>
            <a:r>
              <a:rPr lang="en-US" altLang="ko-KR" sz="900" dirty="0">
                <a:solidFill>
                  <a:schemeClr val="tx1"/>
                </a:solidFill>
                <a:ea typeface="나눔고딕" panose="020D0604000000000000"/>
              </a:rPr>
              <a:t>1. </a:t>
            </a:r>
            <a:r>
              <a:rPr lang="ko-KR" altLang="en-US" sz="900" dirty="0">
                <a:solidFill>
                  <a:schemeClr val="tx1"/>
                </a:solidFill>
                <a:ea typeface="나눔고딕" panose="020D0604000000000000"/>
              </a:rPr>
              <a:t>조회기간과 조회항목을 선택한후 조회 버튼을 누르면 해당되는 공동구매 신청내역을 조회한다</a:t>
            </a:r>
            <a:r>
              <a:rPr lang="en-US" altLang="ko-KR" sz="900" dirty="0">
                <a:solidFill>
                  <a:schemeClr val="tx1"/>
                </a:solidFill>
                <a:ea typeface="나눔고딕" panose="020D0604000000000000"/>
              </a:rPr>
              <a:t>.</a:t>
            </a:r>
          </a:p>
          <a:p>
            <a:pPr>
              <a:spcAft>
                <a:spcPts val="400"/>
              </a:spcAft>
            </a:pPr>
            <a:r>
              <a:rPr lang="en-US" altLang="ko-KR" sz="900" dirty="0">
                <a:solidFill>
                  <a:schemeClr val="tx1"/>
                </a:solidFill>
                <a:ea typeface="나눔고딕" panose="020D0604000000000000"/>
              </a:rPr>
              <a:t>2. </a:t>
            </a:r>
            <a:r>
              <a:rPr lang="ko-KR" altLang="en-US" sz="900" dirty="0">
                <a:solidFill>
                  <a:schemeClr val="tx1"/>
                </a:solidFill>
                <a:ea typeface="나눔고딕" panose="020D0604000000000000"/>
              </a:rPr>
              <a:t>공동구매 오픈예정일은 관리자가 예정일자를 입력하지 않을 경우 미정을 표기해준다</a:t>
            </a:r>
            <a:r>
              <a:rPr lang="en-US" altLang="ko-KR" sz="900" dirty="0">
                <a:solidFill>
                  <a:schemeClr val="tx1"/>
                </a:solidFill>
                <a:ea typeface="나눔고딕" panose="020D0604000000000000"/>
              </a:rPr>
              <a:t>.</a:t>
            </a:r>
          </a:p>
          <a:p>
            <a:pPr>
              <a:spcAft>
                <a:spcPts val="400"/>
              </a:spcAft>
            </a:pPr>
            <a:r>
              <a:rPr lang="en-US" altLang="ko-KR" sz="900" dirty="0">
                <a:solidFill>
                  <a:schemeClr val="tx1"/>
                </a:solidFill>
                <a:ea typeface="나눔고딕" panose="020D0604000000000000"/>
              </a:rPr>
              <a:t>3. </a:t>
            </a:r>
            <a:r>
              <a:rPr lang="ko-KR" altLang="en-US" sz="900" dirty="0">
                <a:solidFill>
                  <a:schemeClr val="tx1"/>
                </a:solidFill>
                <a:ea typeface="나눔고딕" panose="020D0604000000000000"/>
              </a:rPr>
              <a:t>신청확인서 출력버튼을 누르면 공동구매신청확인서 화면으로 이동하여 이메일 송부 혹은 페이퍼 출력을 가능하도록 해준다</a:t>
            </a:r>
            <a:endParaRPr lang="en-US" altLang="ko-KR" sz="900" dirty="0">
              <a:solidFill>
                <a:schemeClr val="tx1"/>
              </a:solidFill>
              <a:ea typeface="나눔고딕" panose="020D0604000000000000"/>
            </a:endParaRPr>
          </a:p>
          <a:p>
            <a:pPr>
              <a:spcAft>
                <a:spcPts val="400"/>
              </a:spcAft>
            </a:pPr>
            <a:r>
              <a:rPr lang="en-US" altLang="ko-KR" sz="900" dirty="0">
                <a:solidFill>
                  <a:schemeClr val="tx1"/>
                </a:solidFill>
                <a:ea typeface="나눔고딕" panose="020D0604000000000000"/>
              </a:rPr>
              <a:t>4. </a:t>
            </a:r>
            <a:r>
              <a:rPr lang="ko-KR" altLang="en-US" sz="900" dirty="0">
                <a:solidFill>
                  <a:schemeClr val="tx1"/>
                </a:solidFill>
                <a:ea typeface="나눔고딕" panose="020D0604000000000000"/>
              </a:rPr>
              <a:t>진행단계가 생성완료인 건은 버튼으로 표기해주면 해당 버튼 </a:t>
            </a:r>
            <a:r>
              <a:rPr lang="ko-KR" altLang="en-US" sz="900" dirty="0" err="1">
                <a:solidFill>
                  <a:schemeClr val="tx1"/>
                </a:solidFill>
                <a:ea typeface="나눔고딕" panose="020D0604000000000000"/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  <a:ea typeface="나눔고딕" panose="020D0604000000000000"/>
              </a:rPr>
              <a:t> 해당 공동구매 상세페이지로 이동한다</a:t>
            </a:r>
            <a:endParaRPr lang="en-US" altLang="ko-KR" sz="900" dirty="0">
              <a:solidFill>
                <a:schemeClr val="tx1"/>
              </a:solidFill>
              <a:ea typeface="나눔고딕" panose="020D0604000000000000"/>
            </a:endParaRPr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C33EAF5B-39D5-4704-8C07-3094AB2DD918}"/>
              </a:ext>
            </a:extLst>
          </p:cNvPr>
          <p:cNvGrpSpPr/>
          <p:nvPr/>
        </p:nvGrpSpPr>
        <p:grpSpPr>
          <a:xfrm>
            <a:off x="6049444" y="1816676"/>
            <a:ext cx="418175" cy="582654"/>
            <a:chOff x="6049444" y="2680218"/>
            <a:chExt cx="418175" cy="582654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BEB73D93-1620-4655-A5A5-638A2B88D340}"/>
                </a:ext>
              </a:extLst>
            </p:cNvPr>
            <p:cNvSpPr/>
            <p:nvPr/>
          </p:nvSpPr>
          <p:spPr>
            <a:xfrm>
              <a:off x="6049444" y="2680218"/>
              <a:ext cx="411825" cy="163554"/>
            </a:xfrm>
            <a:prstGeom prst="rect">
              <a:avLst/>
            </a:prstGeom>
            <a:solidFill>
              <a:srgbClr val="0070C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1" dirty="0">
                  <a:ea typeface="나눔고딕" panose="020D0604000000000000"/>
                </a:rPr>
                <a:t>출력</a:t>
              </a: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311E44CD-8015-491A-97A0-6FBC88A98473}"/>
                </a:ext>
              </a:extLst>
            </p:cNvPr>
            <p:cNvSpPr/>
            <p:nvPr/>
          </p:nvSpPr>
          <p:spPr>
            <a:xfrm>
              <a:off x="6055794" y="2889768"/>
              <a:ext cx="411825" cy="163554"/>
            </a:xfrm>
            <a:prstGeom prst="rect">
              <a:avLst/>
            </a:prstGeom>
            <a:solidFill>
              <a:srgbClr val="0070C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1" dirty="0">
                  <a:ea typeface="나눔고딕" panose="020D0604000000000000"/>
                </a:rPr>
                <a:t>출력</a:t>
              </a: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9E022039-3937-4EDF-A19A-10EF02D411AC}"/>
                </a:ext>
              </a:extLst>
            </p:cNvPr>
            <p:cNvSpPr/>
            <p:nvPr/>
          </p:nvSpPr>
          <p:spPr>
            <a:xfrm>
              <a:off x="6055794" y="3099318"/>
              <a:ext cx="411825" cy="163554"/>
            </a:xfrm>
            <a:prstGeom prst="rect">
              <a:avLst/>
            </a:prstGeom>
            <a:solidFill>
              <a:srgbClr val="0070C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1" dirty="0">
                  <a:ea typeface="나눔고딕" panose="020D0604000000000000"/>
                </a:rPr>
                <a:t>출력</a:t>
              </a:r>
            </a:p>
          </p:txBody>
        </p:sp>
      </p:grp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638D318-637B-4D39-A9E2-D7022B11F43E}"/>
              </a:ext>
            </a:extLst>
          </p:cNvPr>
          <p:cNvSpPr/>
          <p:nvPr/>
        </p:nvSpPr>
        <p:spPr>
          <a:xfrm>
            <a:off x="4981625" y="2228035"/>
            <a:ext cx="411825" cy="163554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dirty="0">
                <a:ea typeface="나눔고딕" panose="020D0604000000000000"/>
              </a:rPr>
              <a:t>생성완료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98A2A48-63D1-4097-BBDA-A6198A5796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9531" y="2555829"/>
            <a:ext cx="2777796" cy="209909"/>
          </a:xfrm>
          <a:prstGeom prst="rect">
            <a:avLst/>
          </a:prstGeom>
        </p:spPr>
      </p:pic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7E4BD4C1-4270-43FE-9916-58E0C7CC224A}"/>
              </a:ext>
            </a:extLst>
          </p:cNvPr>
          <p:cNvGrpSpPr/>
          <p:nvPr/>
        </p:nvGrpSpPr>
        <p:grpSpPr>
          <a:xfrm>
            <a:off x="6834929" y="743051"/>
            <a:ext cx="4210764" cy="629817"/>
            <a:chOff x="2354453" y="1623206"/>
            <a:chExt cx="4598798" cy="629817"/>
          </a:xfrm>
        </p:grpSpPr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53EE5965-32AC-4F3D-AEC2-13EE2F2ED20A}"/>
                </a:ext>
              </a:extLst>
            </p:cNvPr>
            <p:cNvSpPr txBox="1"/>
            <p:nvPr/>
          </p:nvSpPr>
          <p:spPr>
            <a:xfrm flipH="1">
              <a:off x="2377087" y="1623206"/>
              <a:ext cx="127075" cy="457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endParaRPr lang="ko-KR" altLang="en-US" sz="1400" b="1" dirty="0">
                <a:latin typeface="+mn-ea"/>
              </a:endParaRPr>
            </a:p>
          </p:txBody>
        </p:sp>
        <p:pic>
          <p:nvPicPr>
            <p:cNvPr id="127" name="그림 126">
              <a:extLst>
                <a:ext uri="{FF2B5EF4-FFF2-40B4-BE49-F238E27FC236}">
                  <a16:creationId xmlns:a16="http://schemas.microsoft.com/office/drawing/2014/main" id="{9CEF4F40-04C7-4A42-A5E3-911C02456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54453" y="1734940"/>
              <a:ext cx="4598798" cy="314369"/>
            </a:xfrm>
            <a:prstGeom prst="rect">
              <a:avLst/>
            </a:prstGeom>
          </p:spPr>
        </p:pic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FCB99CD2-D385-4F19-BFC8-A091AAF7827B}"/>
                </a:ext>
              </a:extLst>
            </p:cNvPr>
            <p:cNvSpPr txBox="1"/>
            <p:nvPr/>
          </p:nvSpPr>
          <p:spPr>
            <a:xfrm>
              <a:off x="2403328" y="2084312"/>
              <a:ext cx="532380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800" b="1" dirty="0">
                  <a:solidFill>
                    <a:schemeClr val="accent3">
                      <a:lumMod val="75000"/>
                    </a:schemeClr>
                  </a:solidFill>
                  <a:latin typeface="+mn-ea"/>
                </a:rPr>
                <a:t>상태</a:t>
              </a:r>
              <a:r>
                <a:rPr lang="en-US" altLang="ko-KR" sz="800" b="1" dirty="0">
                  <a:solidFill>
                    <a:schemeClr val="accent3">
                      <a:lumMod val="75000"/>
                    </a:schemeClr>
                  </a:solidFill>
                  <a:latin typeface="+mn-ea"/>
                </a:rPr>
                <a:t>(</a:t>
              </a:r>
              <a:r>
                <a:rPr lang="ko-KR" altLang="en-US" sz="800" b="1" dirty="0">
                  <a:solidFill>
                    <a:schemeClr val="accent3">
                      <a:lumMod val="75000"/>
                    </a:schemeClr>
                  </a:solidFill>
                  <a:latin typeface="+mn-ea"/>
                </a:rPr>
                <a:t>구분</a:t>
              </a:r>
              <a:r>
                <a:rPr lang="en-US" altLang="ko-KR" sz="800" b="1" dirty="0">
                  <a:solidFill>
                    <a:schemeClr val="accent3">
                      <a:lumMod val="75000"/>
                    </a:schemeClr>
                  </a:solidFill>
                  <a:latin typeface="+mn-ea"/>
                </a:rPr>
                <a:t>)</a:t>
              </a:r>
              <a:endParaRPr lang="ko-KR" altLang="en-US" sz="800" b="1" dirty="0">
                <a:solidFill>
                  <a:schemeClr val="accent3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129" name="직사각형 128">
              <a:extLst>
                <a:ext uri="{FF2B5EF4-FFF2-40B4-BE49-F238E27FC236}">
                  <a16:creationId xmlns:a16="http://schemas.microsoft.com/office/drawing/2014/main" id="{A006FBF7-5D16-44D1-99B4-9CDFA953EA76}"/>
                </a:ext>
              </a:extLst>
            </p:cNvPr>
            <p:cNvSpPr/>
            <p:nvPr/>
          </p:nvSpPr>
          <p:spPr>
            <a:xfrm>
              <a:off x="2929273" y="2056187"/>
              <a:ext cx="1242677" cy="184991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0E3C7E2D-DE2F-4593-BCBB-6C41BD8DF2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21221" y="2056187"/>
              <a:ext cx="0" cy="184992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9B4CA9C7-55E6-4A25-8E74-CAA01BD014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7365" y="2056187"/>
              <a:ext cx="0" cy="184992"/>
            </a:xfrm>
            <a:prstGeom prst="line">
              <a:avLst/>
            </a:prstGeom>
            <a:ln>
              <a:solidFill>
                <a:srgbClr val="BFBFB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D2F1B351-9C90-4F58-970F-6070858BAFDF}"/>
                </a:ext>
              </a:extLst>
            </p:cNvPr>
            <p:cNvSpPr txBox="1"/>
            <p:nvPr/>
          </p:nvSpPr>
          <p:spPr>
            <a:xfrm>
              <a:off x="3323539" y="2056186"/>
              <a:ext cx="49996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600" b="1" dirty="0">
                  <a:solidFill>
                    <a:schemeClr val="accent3">
                      <a:lumMod val="75000"/>
                    </a:schemeClr>
                  </a:solidFill>
                  <a:ea typeface="나눔고딕" panose="020D0604000000000000"/>
                </a:rPr>
                <a:t>진행중</a:t>
              </a: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13526E1-3469-49E8-A58E-AD354BB6136B}"/>
                </a:ext>
              </a:extLst>
            </p:cNvPr>
            <p:cNvSpPr txBox="1"/>
            <p:nvPr/>
          </p:nvSpPr>
          <p:spPr>
            <a:xfrm>
              <a:off x="3700304" y="2068357"/>
              <a:ext cx="603856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ko-KR" altLang="en-US" sz="600" b="1" dirty="0">
                  <a:solidFill>
                    <a:schemeClr val="accent3">
                      <a:lumMod val="75000"/>
                    </a:schemeClr>
                  </a:solidFill>
                  <a:ea typeface="나눔고딕" panose="020D0604000000000000"/>
                </a:rPr>
                <a:t>공구성공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A2258D2-915C-44A6-88B9-C0550A35FD46}"/>
              </a:ext>
            </a:extLst>
          </p:cNvPr>
          <p:cNvSpPr txBox="1"/>
          <p:nvPr/>
        </p:nvSpPr>
        <p:spPr>
          <a:xfrm>
            <a:off x="8496580" y="1174271"/>
            <a:ext cx="508275" cy="184666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ko-KR" altLang="en-US" sz="600" b="1">
                <a:solidFill>
                  <a:schemeClr val="accent3">
                    <a:lumMod val="75000"/>
                  </a:schemeClr>
                </a:solidFill>
                <a:ea typeface="나눔고딕" panose="020D0604000000000000"/>
              </a:rPr>
              <a:t>공구실패</a:t>
            </a:r>
            <a:endParaRPr lang="ko-KR" altLang="en-US" sz="600" b="1" dirty="0">
              <a:solidFill>
                <a:schemeClr val="accent3">
                  <a:lumMod val="75000"/>
                </a:schemeClr>
              </a:solidFill>
              <a:ea typeface="나눔고딕" panose="020D060400000000000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62EB213-6854-41D1-8BBE-5E9C6248C9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892580"/>
              </p:ext>
            </p:extLst>
          </p:nvPr>
        </p:nvGraphicFramePr>
        <p:xfrm>
          <a:off x="6763605" y="1489514"/>
          <a:ext cx="5270078" cy="26626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0488">
                  <a:extLst>
                    <a:ext uri="{9D8B030D-6E8A-4147-A177-3AD203B41FA5}">
                      <a16:colId xmlns:a16="http://schemas.microsoft.com/office/drawing/2014/main" val="1248065864"/>
                    </a:ext>
                  </a:extLst>
                </a:gridCol>
                <a:gridCol w="650488">
                  <a:extLst>
                    <a:ext uri="{9D8B030D-6E8A-4147-A177-3AD203B41FA5}">
                      <a16:colId xmlns:a16="http://schemas.microsoft.com/office/drawing/2014/main" val="274207222"/>
                    </a:ext>
                  </a:extLst>
                </a:gridCol>
                <a:gridCol w="955189">
                  <a:extLst>
                    <a:ext uri="{9D8B030D-6E8A-4147-A177-3AD203B41FA5}">
                      <a16:colId xmlns:a16="http://schemas.microsoft.com/office/drawing/2014/main" val="2449354134"/>
                    </a:ext>
                  </a:extLst>
                </a:gridCol>
                <a:gridCol w="393447">
                  <a:extLst>
                    <a:ext uri="{9D8B030D-6E8A-4147-A177-3AD203B41FA5}">
                      <a16:colId xmlns:a16="http://schemas.microsoft.com/office/drawing/2014/main" val="2571806988"/>
                    </a:ext>
                  </a:extLst>
                </a:gridCol>
                <a:gridCol w="491161">
                  <a:extLst>
                    <a:ext uri="{9D8B030D-6E8A-4147-A177-3AD203B41FA5}">
                      <a16:colId xmlns:a16="http://schemas.microsoft.com/office/drawing/2014/main" val="2256820808"/>
                    </a:ext>
                  </a:extLst>
                </a:gridCol>
                <a:gridCol w="501613">
                  <a:extLst>
                    <a:ext uri="{9D8B030D-6E8A-4147-A177-3AD203B41FA5}">
                      <a16:colId xmlns:a16="http://schemas.microsoft.com/office/drawing/2014/main" val="1149350631"/>
                    </a:ext>
                  </a:extLst>
                </a:gridCol>
                <a:gridCol w="497926">
                  <a:extLst>
                    <a:ext uri="{9D8B030D-6E8A-4147-A177-3AD203B41FA5}">
                      <a16:colId xmlns:a16="http://schemas.microsoft.com/office/drawing/2014/main" val="1993537376"/>
                    </a:ext>
                  </a:extLst>
                </a:gridCol>
                <a:gridCol w="377835">
                  <a:extLst>
                    <a:ext uri="{9D8B030D-6E8A-4147-A177-3AD203B41FA5}">
                      <a16:colId xmlns:a16="http://schemas.microsoft.com/office/drawing/2014/main" val="2775970801"/>
                    </a:ext>
                  </a:extLst>
                </a:gridCol>
                <a:gridCol w="751931">
                  <a:extLst>
                    <a:ext uri="{9D8B030D-6E8A-4147-A177-3AD203B41FA5}">
                      <a16:colId xmlns:a16="http://schemas.microsoft.com/office/drawing/2014/main" val="2231815376"/>
                    </a:ext>
                  </a:extLst>
                </a:gridCol>
              </a:tblGrid>
              <a:tr h="43702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공구번호</a:t>
                      </a:r>
                      <a:endParaRPr lang="en-US" altLang="ko-KR" sz="8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공구참여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일시</a:t>
                      </a:r>
                      <a:endParaRPr lang="en-US" altLang="ko-KR" sz="8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상품명</a:t>
                      </a:r>
                      <a:endParaRPr lang="en-US" altLang="ko-KR" sz="800" u="none" strike="noStrike" dirty="0">
                        <a:effectLst/>
                      </a:endParaRPr>
                    </a:p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옵션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수량</a:t>
                      </a:r>
                      <a:endParaRPr lang="en-US" altLang="ko-KR" sz="800" u="none" strike="noStrike" dirty="0">
                        <a:effectLst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단가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결제금액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공구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참여율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상세보기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구매결정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148824"/>
                  </a:ext>
                </a:extLst>
              </a:tr>
              <a:tr h="7231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2020-XX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2020-8-12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메모리</a:t>
                      </a:r>
                      <a:r>
                        <a:rPr lang="en-US" altLang="ko-KR" sz="800" u="none" strike="noStrike" dirty="0">
                          <a:effectLst/>
                        </a:rPr>
                        <a:t>A</a:t>
                      </a:r>
                    </a:p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(1.</a:t>
                      </a:r>
                      <a:r>
                        <a:rPr lang="ko-KR" altLang="en-US" sz="800" u="none" strike="noStrike" dirty="0">
                          <a:effectLst/>
                        </a:rPr>
                        <a:t>블랙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100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50,000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5,000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천원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진행중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(90%)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913995"/>
                  </a:ext>
                </a:extLst>
              </a:tr>
              <a:tr h="10933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2020-XX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2020-7-12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메모리</a:t>
                      </a:r>
                      <a:r>
                        <a:rPr lang="en-US" altLang="ko-KR" sz="800" u="none" strike="noStrike" dirty="0">
                          <a:effectLst/>
                        </a:rPr>
                        <a:t>B</a:t>
                      </a:r>
                    </a:p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(2.</a:t>
                      </a:r>
                      <a:r>
                        <a:rPr lang="ko-KR" altLang="en-US" sz="800" u="none" strike="noStrike" dirty="0">
                          <a:effectLst/>
                        </a:rPr>
                        <a:t>레드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150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30,000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XXXX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천원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성공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(100%)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배송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033865"/>
                  </a:ext>
                </a:extLst>
              </a:tr>
              <a:tr h="4090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2020-XX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2020-5-12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메모리</a:t>
                      </a:r>
                      <a:r>
                        <a:rPr lang="en-US" altLang="ko-KR" sz="800" u="none" strike="noStrike" dirty="0">
                          <a:effectLst/>
                        </a:rPr>
                        <a:t>C</a:t>
                      </a:r>
                    </a:p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(3.</a:t>
                      </a:r>
                      <a:r>
                        <a:rPr lang="ko-KR" altLang="en-US" sz="800" u="none" strike="noStrike" dirty="0">
                          <a:effectLst/>
                        </a:rPr>
                        <a:t>랜덤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u="none" strike="noStrike" dirty="0">
                          <a:effectLst/>
                        </a:rPr>
                        <a:t>200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20,000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XXXX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천원</a:t>
                      </a:r>
                      <a:endParaRPr lang="ko-KR" altLang="en-US" sz="800" b="0" i="0" u="sng" strike="noStrike" dirty="0">
                        <a:solidFill>
                          <a:srgbClr val="FFC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실패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(88%)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27811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8A1E1DC-33A7-4E44-B044-BCE21257BDB0}"/>
              </a:ext>
            </a:extLst>
          </p:cNvPr>
          <p:cNvSpPr txBox="1"/>
          <p:nvPr/>
        </p:nvSpPr>
        <p:spPr>
          <a:xfrm>
            <a:off x="7385507" y="1174860"/>
            <a:ext cx="382907" cy="18466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ko-KR" altLang="en-US" sz="600" b="1" dirty="0">
                <a:solidFill>
                  <a:schemeClr val="bg1"/>
                </a:solidFill>
                <a:ea typeface="나눔고딕" panose="020D0604000000000000"/>
              </a:rPr>
              <a:t>전체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5EAE04E-990E-49B3-ACC3-463C3F2245E5}"/>
              </a:ext>
            </a:extLst>
          </p:cNvPr>
          <p:cNvSpPr/>
          <p:nvPr/>
        </p:nvSpPr>
        <p:spPr>
          <a:xfrm>
            <a:off x="11415944" y="3871709"/>
            <a:ext cx="562469" cy="174286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dirty="0">
                <a:ea typeface="나눔고딕" panose="020D0604000000000000"/>
              </a:rPr>
              <a:t>상제보기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B7DC45D-E775-45F4-B2EE-A38BF038762F}"/>
              </a:ext>
            </a:extLst>
          </p:cNvPr>
          <p:cNvSpPr/>
          <p:nvPr/>
        </p:nvSpPr>
        <p:spPr>
          <a:xfrm>
            <a:off x="11411116" y="2927512"/>
            <a:ext cx="567298" cy="174287"/>
          </a:xfrm>
          <a:prstGeom prst="rect">
            <a:avLst/>
          </a:prstGeom>
          <a:solidFill>
            <a:srgbClr val="0070C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ea typeface="나눔고딕" panose="020D0604000000000000"/>
              </a:rPr>
              <a:t>구매확정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C729DF0-CCDC-4DC8-B611-3B56A422EB94}"/>
              </a:ext>
            </a:extLst>
          </p:cNvPr>
          <p:cNvSpPr/>
          <p:nvPr/>
        </p:nvSpPr>
        <p:spPr>
          <a:xfrm>
            <a:off x="11411115" y="2740362"/>
            <a:ext cx="567298" cy="174287"/>
          </a:xfrm>
          <a:prstGeom prst="rect">
            <a:avLst/>
          </a:prstGeom>
          <a:solidFill>
            <a:srgbClr val="0070C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ea typeface="나눔고딕" panose="020D0604000000000000"/>
              </a:rPr>
              <a:t>배송조회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ABE4B5F-1431-4A42-A67D-843512D9218E}"/>
              </a:ext>
            </a:extLst>
          </p:cNvPr>
          <p:cNvSpPr/>
          <p:nvPr/>
        </p:nvSpPr>
        <p:spPr>
          <a:xfrm>
            <a:off x="11411115" y="3112716"/>
            <a:ext cx="567298" cy="174287"/>
          </a:xfrm>
          <a:prstGeom prst="rect">
            <a:avLst/>
          </a:prstGeom>
          <a:solidFill>
            <a:srgbClr val="0070C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dirty="0">
                <a:ea typeface="나눔고딕" panose="020D0604000000000000"/>
              </a:rPr>
              <a:t>구매확정 연장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2E6E1D1-2038-49C5-BABC-1630BB8EC189}"/>
              </a:ext>
            </a:extLst>
          </p:cNvPr>
          <p:cNvSpPr/>
          <p:nvPr/>
        </p:nvSpPr>
        <p:spPr>
          <a:xfrm>
            <a:off x="11411115" y="3310783"/>
            <a:ext cx="567298" cy="174287"/>
          </a:xfrm>
          <a:prstGeom prst="rect">
            <a:avLst/>
          </a:prstGeom>
          <a:solidFill>
            <a:srgbClr val="0070C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>
                <a:ea typeface="나눔고딕" panose="020D0604000000000000"/>
              </a:rPr>
              <a:t>교환요청</a:t>
            </a:r>
            <a:endParaRPr lang="ko-KR" altLang="en-US" sz="800" b="1" dirty="0">
              <a:ea typeface="나눔고딕" panose="020D060400000000000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D13E5AD-E44B-4E30-8154-A823933C0BA5}"/>
              </a:ext>
            </a:extLst>
          </p:cNvPr>
          <p:cNvSpPr/>
          <p:nvPr/>
        </p:nvSpPr>
        <p:spPr>
          <a:xfrm>
            <a:off x="11411115" y="3514572"/>
            <a:ext cx="567298" cy="174287"/>
          </a:xfrm>
          <a:prstGeom prst="rect">
            <a:avLst/>
          </a:prstGeom>
          <a:solidFill>
            <a:srgbClr val="0070C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ea typeface="나눔고딕" panose="020D0604000000000000"/>
              </a:rPr>
              <a:t>반품요청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BD8079A-DF6D-4E04-BC95-198ED5AFBC83}"/>
              </a:ext>
            </a:extLst>
          </p:cNvPr>
          <p:cNvSpPr/>
          <p:nvPr/>
        </p:nvSpPr>
        <p:spPr>
          <a:xfrm>
            <a:off x="11411115" y="2217303"/>
            <a:ext cx="562469" cy="174286"/>
          </a:xfrm>
          <a:prstGeom prst="rect">
            <a:avLst/>
          </a:prstGeom>
          <a:solidFill>
            <a:srgbClr val="FFC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b="1" dirty="0">
                <a:ea typeface="나눔고딕" panose="020D0604000000000000"/>
              </a:rPr>
              <a:t>상제보기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A8C6DBE-0442-4427-8A38-8461C8D4638A}"/>
              </a:ext>
            </a:extLst>
          </p:cNvPr>
          <p:cNvSpPr txBox="1"/>
          <p:nvPr/>
        </p:nvSpPr>
        <p:spPr>
          <a:xfrm>
            <a:off x="6763605" y="4341409"/>
            <a:ext cx="520997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※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배송단계 예시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</a:p>
          <a:p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제품 발주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–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주문 접수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제품 출하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중국 내 배송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–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제품 검수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–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중국 통관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–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 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+mn-ea"/>
              <a:cs typeface="+mn-cs"/>
            </a:endParaRPr>
          </a:p>
          <a:p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</a:rPr>
              <a:t>  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국제 배송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–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국내 통관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–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국내 검수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–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국내 배송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–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배송완료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제품전달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)-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구매확정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/</a:t>
            </a:r>
          </a:p>
          <a:p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</a:rPr>
              <a:t>  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교환신청중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반품신청중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/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교환완료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+mn-ea"/>
                <a:cs typeface="+mn-cs"/>
              </a:rPr>
              <a:t>/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</a:rPr>
              <a:t>반품완료</a:t>
            </a:r>
            <a:endParaRPr lang="ko-KR" altLang="en-US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28DB3C-6A7F-43D8-BA46-D9016896096E}"/>
              </a:ext>
            </a:extLst>
          </p:cNvPr>
          <p:cNvSpPr txBox="1"/>
          <p:nvPr/>
        </p:nvSpPr>
        <p:spPr>
          <a:xfrm>
            <a:off x="6763605" y="4980468"/>
            <a:ext cx="52099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※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상세보기 및 구매결정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228600" indent="-228600">
              <a:buAutoNum type="arabicParenR"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상세보기 버튼은 공동구매 상세페이지로 이동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228600" indent="-228600">
              <a:buAutoNum type="arabicParenR"/>
            </a:pP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배송조회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구매확정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연장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반품은 팝업화면으로 띄운다 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다음페이지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60880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2BCBE764-8F47-4FFF-A855-E2747345DC4E}"/>
              </a:ext>
            </a:extLst>
          </p:cNvPr>
          <p:cNvGrpSpPr/>
          <p:nvPr/>
        </p:nvGrpSpPr>
        <p:grpSpPr>
          <a:xfrm>
            <a:off x="702266" y="266135"/>
            <a:ext cx="2733400" cy="4900383"/>
            <a:chOff x="400262" y="266135"/>
            <a:chExt cx="2733400" cy="4900383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C8B577CF-E8B8-4514-B46C-4340980D20F9}"/>
                </a:ext>
              </a:extLst>
            </p:cNvPr>
            <p:cNvSpPr/>
            <p:nvPr/>
          </p:nvSpPr>
          <p:spPr>
            <a:xfrm>
              <a:off x="410198" y="369578"/>
              <a:ext cx="2723463" cy="345039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8E0B699-70D5-448F-8FF3-5F0DE63F2CA6}"/>
                </a:ext>
              </a:extLst>
            </p:cNvPr>
            <p:cNvSpPr/>
            <p:nvPr/>
          </p:nvSpPr>
          <p:spPr>
            <a:xfrm>
              <a:off x="924586" y="266135"/>
              <a:ext cx="1620000" cy="18527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>
                  <a:solidFill>
                    <a:sysClr val="windowText" lastClr="000000"/>
                  </a:solidFill>
                  <a:latin typeface="+mn-ea"/>
                  <a:cs typeface="함초롬바탕" panose="02030504000101010101" pitchFamily="18" charset="-127"/>
                </a:rPr>
                <a:t>배송조회</a:t>
              </a:r>
              <a:endParaRPr lang="ko-KR" altLang="en-US" sz="1000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62849C3A-8F95-4109-9711-B402E4E86E07}"/>
                </a:ext>
              </a:extLst>
            </p:cNvPr>
            <p:cNvGrpSpPr/>
            <p:nvPr/>
          </p:nvGrpSpPr>
          <p:grpSpPr>
            <a:xfrm>
              <a:off x="583465" y="661219"/>
              <a:ext cx="2390863" cy="646590"/>
              <a:chOff x="583465" y="661219"/>
              <a:chExt cx="2390863" cy="646590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B9B37A45-A763-4BFE-9B00-86FAD0A95F08}"/>
                  </a:ext>
                </a:extLst>
              </p:cNvPr>
              <p:cNvSpPr/>
              <p:nvPr/>
            </p:nvSpPr>
            <p:spPr>
              <a:xfrm>
                <a:off x="583465" y="661219"/>
                <a:ext cx="2390863" cy="18527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ysClr val="windowText" lastClr="000000"/>
                    </a:solidFill>
                    <a:latin typeface="+mn-ea"/>
                  </a:rPr>
                  <a:t>동서울</a:t>
                </a:r>
                <a:r>
                  <a:rPr lang="ko-KR" altLang="en-US" sz="1000" dirty="0">
                    <a:solidFill>
                      <a:sysClr val="windowText" lastClr="000000"/>
                    </a:solidFill>
                    <a:latin typeface="+mn-ea"/>
                  </a:rPr>
                  <a:t> 배송센터에 입고되었습니다</a:t>
                </a:r>
                <a:endParaRPr lang="ko-KR" altLang="en-US" sz="1000" b="1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D6FEB021-9C75-4689-826E-D00E3646DD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5510" y="914401"/>
                <a:ext cx="466434" cy="380809"/>
              </a:xfrm>
              <a:prstGeom prst="rect">
                <a:avLst/>
              </a:prstGeom>
              <a:ln w="3175">
                <a:noFill/>
              </a:ln>
            </p:spPr>
          </p:pic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53B5CE39-DB4B-4D57-BAC1-24067EA97CAD}"/>
                  </a:ext>
                </a:extLst>
              </p:cNvPr>
              <p:cNvSpPr/>
              <p:nvPr/>
            </p:nvSpPr>
            <p:spPr>
              <a:xfrm>
                <a:off x="1140226" y="930260"/>
                <a:ext cx="1773927" cy="18527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ysClr val="windowText" lastClr="000000"/>
                    </a:solidFill>
                    <a:latin typeface="+mn-ea"/>
                  </a:rPr>
                  <a:t>오토바이 타이어 </a:t>
                </a:r>
                <a:r>
                  <a:rPr lang="en-US" altLang="ko-KR" sz="800" dirty="0">
                    <a:solidFill>
                      <a:sysClr val="windowText" lastClr="000000"/>
                    </a:solidFill>
                    <a:latin typeface="+mn-ea"/>
                  </a:rPr>
                  <a:t>A</a:t>
                </a:r>
                <a:r>
                  <a:rPr lang="ko-KR" altLang="en-US" sz="800" dirty="0">
                    <a:solidFill>
                      <a:sysClr val="windowText" lastClr="000000"/>
                    </a:solidFill>
                    <a:latin typeface="+mn-ea"/>
                  </a:rPr>
                  <a:t>타입</a:t>
                </a:r>
                <a:endParaRPr lang="en-US" altLang="ko-KR" sz="800" dirty="0">
                  <a:solidFill>
                    <a:sysClr val="windowText" lastClr="000000"/>
                  </a:solidFill>
                  <a:latin typeface="+mn-ea"/>
                </a:endParaRPr>
              </a:p>
              <a:p>
                <a:r>
                  <a:rPr lang="en-US" altLang="ko-KR" sz="800" dirty="0">
                    <a:solidFill>
                      <a:sysClr val="windowText" lastClr="000000"/>
                    </a:solidFill>
                    <a:latin typeface="+mn-ea"/>
                  </a:rPr>
                  <a:t>(</a:t>
                </a:r>
                <a:r>
                  <a:rPr lang="ko-KR" altLang="en-US" sz="800" dirty="0">
                    <a:solidFill>
                      <a:sysClr val="windowText" lastClr="000000"/>
                    </a:solidFill>
                    <a:latin typeface="+mn-ea"/>
                  </a:rPr>
                  <a:t>주문번호 </a:t>
                </a:r>
                <a:r>
                  <a:rPr lang="en-US" altLang="ko-KR" sz="800" dirty="0">
                    <a:solidFill>
                      <a:sysClr val="windowText" lastClr="000000"/>
                    </a:solidFill>
                    <a:latin typeface="+mn-ea"/>
                  </a:rPr>
                  <a:t>: XXXXXXXXXXXXX)</a:t>
                </a:r>
                <a:endParaRPr lang="ko-KR" altLang="en-US" sz="800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2F48B240-F7F1-4F0E-B1DE-2229F9E7035E}"/>
                  </a:ext>
                </a:extLst>
              </p:cNvPr>
              <p:cNvSpPr/>
              <p:nvPr/>
            </p:nvSpPr>
            <p:spPr>
              <a:xfrm>
                <a:off x="1145440" y="1122539"/>
                <a:ext cx="1773927" cy="18527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600" u="sng" dirty="0">
                    <a:solidFill>
                      <a:schemeClr val="accent6">
                        <a:lumMod val="75000"/>
                      </a:schemeClr>
                    </a:solidFill>
                    <a:latin typeface="+mn-ea"/>
                  </a:rPr>
                  <a:t>주문상세정보 확인하기</a:t>
                </a:r>
              </a:p>
            </p:txBody>
          </p:sp>
        </p:grp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4ACB3706-A432-4047-8662-4C8ABC03EEB7}"/>
                </a:ext>
              </a:extLst>
            </p:cNvPr>
            <p:cNvSpPr/>
            <p:nvPr/>
          </p:nvSpPr>
          <p:spPr>
            <a:xfrm>
              <a:off x="569242" y="2989015"/>
              <a:ext cx="2330688" cy="763409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ysClr val="windowText" lastClr="000000"/>
                  </a:solidFill>
                  <a:latin typeface="+mn-ea"/>
                </a:rPr>
                <a:t>송장정보 </a:t>
              </a:r>
              <a:endParaRPr lang="en-US" altLang="ko-KR" sz="800" b="1" dirty="0">
                <a:solidFill>
                  <a:sysClr val="windowText" lastClr="000000"/>
                </a:solidFill>
                <a:latin typeface="+mn-ea"/>
              </a:endParaRPr>
            </a:p>
            <a:p>
              <a:endParaRPr lang="en-US" altLang="ko-KR" sz="800" dirty="0">
                <a:solidFill>
                  <a:sysClr val="windowText" lastClr="000000"/>
                </a:solidFill>
                <a:latin typeface="+mn-ea"/>
              </a:endParaRPr>
            </a:p>
            <a:p>
              <a:r>
                <a:rPr lang="ko-KR" altLang="en-US" sz="800" dirty="0">
                  <a:solidFill>
                    <a:sysClr val="windowText" lastClr="000000"/>
                  </a:solidFill>
                  <a:latin typeface="+mn-ea"/>
                </a:rPr>
                <a:t>송장번호</a:t>
              </a:r>
              <a:r>
                <a:rPr lang="en-US" altLang="ko-KR" sz="800" dirty="0">
                  <a:solidFill>
                    <a:sysClr val="windowText" lastClr="000000"/>
                  </a:solidFill>
                  <a:latin typeface="+mn-ea"/>
                </a:rPr>
                <a:t> :  235326544   </a:t>
              </a:r>
            </a:p>
            <a:p>
              <a:r>
                <a:rPr lang="ko-KR" altLang="en-US" sz="800" dirty="0" err="1">
                  <a:solidFill>
                    <a:sysClr val="windowText" lastClr="000000"/>
                  </a:solidFill>
                  <a:latin typeface="+mn-ea"/>
                </a:rPr>
                <a:t>택배사</a:t>
              </a:r>
              <a:r>
                <a:rPr lang="ko-KR" altLang="en-US" sz="800" dirty="0">
                  <a:solidFill>
                    <a:sysClr val="windowText" lastClr="000000"/>
                  </a:solidFill>
                  <a:latin typeface="+mn-ea"/>
                </a:rPr>
                <a:t>    </a:t>
              </a:r>
              <a:r>
                <a:rPr lang="en-US" altLang="ko-KR" sz="800" dirty="0">
                  <a:solidFill>
                    <a:sysClr val="windowText" lastClr="000000"/>
                  </a:solidFill>
                  <a:latin typeface="+mn-ea"/>
                </a:rPr>
                <a:t>:  CJ</a:t>
              </a:r>
              <a:r>
                <a:rPr lang="ko-KR" altLang="en-US" sz="800" dirty="0">
                  <a:solidFill>
                    <a:sysClr val="windowText" lastClr="000000"/>
                  </a:solidFill>
                  <a:latin typeface="+mn-ea"/>
                </a:rPr>
                <a:t>대한통운</a:t>
              </a:r>
              <a:endParaRPr lang="en-US" altLang="ko-KR" sz="800" dirty="0">
                <a:solidFill>
                  <a:sysClr val="windowText" lastClr="000000"/>
                </a:solidFill>
                <a:latin typeface="+mn-ea"/>
              </a:endParaRPr>
            </a:p>
            <a:p>
              <a:r>
                <a:rPr lang="ko-KR" altLang="en-US" sz="800" dirty="0">
                  <a:solidFill>
                    <a:sysClr val="windowText" lastClr="000000"/>
                  </a:solidFill>
                  <a:latin typeface="+mn-ea"/>
                </a:rPr>
                <a:t>대표번호 </a:t>
              </a:r>
              <a:r>
                <a:rPr lang="en-US" altLang="ko-KR" sz="800" dirty="0">
                  <a:solidFill>
                    <a:sysClr val="windowText" lastClr="000000"/>
                  </a:solidFill>
                  <a:latin typeface="+mn-ea"/>
                </a:rPr>
                <a:t>:  1588-1588</a:t>
              </a:r>
              <a:endParaRPr lang="ko-KR" altLang="en-US" sz="80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D32C8154-538B-4AD2-B579-CEE3DEC6EE58}"/>
                </a:ext>
              </a:extLst>
            </p:cNvPr>
            <p:cNvGrpSpPr/>
            <p:nvPr/>
          </p:nvGrpSpPr>
          <p:grpSpPr>
            <a:xfrm>
              <a:off x="583465" y="1490468"/>
              <a:ext cx="2423227" cy="1235732"/>
              <a:chOff x="569242" y="2219414"/>
              <a:chExt cx="2423227" cy="1235732"/>
            </a:xfrm>
          </p:grpSpPr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0939D8C9-DC63-42A3-B710-2D89C2B95BA1}"/>
                  </a:ext>
                </a:extLst>
              </p:cNvPr>
              <p:cNvSpPr/>
              <p:nvPr/>
            </p:nvSpPr>
            <p:spPr>
              <a:xfrm>
                <a:off x="569242" y="2219414"/>
                <a:ext cx="2330688" cy="18527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ysClr val="windowText" lastClr="000000"/>
                    </a:solidFill>
                    <a:latin typeface="+mn-ea"/>
                  </a:rPr>
                  <a:t>처리일시             현재위치            상태</a:t>
                </a: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0F313F05-D1D4-4A63-A7D1-DCDC3DD7F39D}"/>
                  </a:ext>
                </a:extLst>
              </p:cNvPr>
              <p:cNvSpPr/>
              <p:nvPr/>
            </p:nvSpPr>
            <p:spPr>
              <a:xfrm>
                <a:off x="569242" y="2449711"/>
                <a:ext cx="2423227" cy="341114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800" dirty="0">
                    <a:solidFill>
                      <a:sysClr val="windowText" lastClr="000000"/>
                    </a:solidFill>
                    <a:latin typeface="+mn-ea"/>
                  </a:rPr>
                  <a:t>2020-12-12         </a:t>
                </a:r>
                <a:r>
                  <a:rPr lang="ko-KR" altLang="en-US" sz="800" dirty="0" err="1">
                    <a:solidFill>
                      <a:sysClr val="windowText" lastClr="000000"/>
                    </a:solidFill>
                    <a:latin typeface="+mn-ea"/>
                  </a:rPr>
                  <a:t>동서울지점</a:t>
                </a:r>
                <a:r>
                  <a:rPr lang="ko-KR" altLang="en-US" sz="800" dirty="0">
                    <a:solidFill>
                      <a:sysClr val="windowText" lastClr="000000"/>
                    </a:solidFill>
                    <a:latin typeface="+mn-ea"/>
                  </a:rPr>
                  <a:t>         </a:t>
                </a:r>
                <a:r>
                  <a:rPr lang="ko-KR" altLang="en-US" sz="800" dirty="0" err="1">
                    <a:solidFill>
                      <a:sysClr val="windowText" lastClr="000000"/>
                    </a:solidFill>
                    <a:latin typeface="+mn-ea"/>
                  </a:rPr>
                  <a:t>배송중</a:t>
                </a:r>
                <a:r>
                  <a:rPr lang="en-US" altLang="ko-KR" sz="800" dirty="0">
                    <a:solidFill>
                      <a:sysClr val="windowText" lastClr="000000"/>
                    </a:solidFill>
                    <a:latin typeface="+mn-ea"/>
                  </a:rPr>
                  <a:t>(</a:t>
                </a:r>
                <a:r>
                  <a:rPr lang="ko-KR" altLang="en-US" sz="800" dirty="0">
                    <a:solidFill>
                      <a:sysClr val="windowText" lastClr="000000"/>
                    </a:solidFill>
                    <a:latin typeface="+mn-ea"/>
                  </a:rPr>
                  <a:t>입고</a:t>
                </a:r>
                <a:r>
                  <a:rPr lang="en-US" altLang="ko-KR" sz="800" dirty="0">
                    <a:solidFill>
                      <a:sysClr val="windowText" lastClr="000000"/>
                    </a:solidFill>
                    <a:latin typeface="+mn-ea"/>
                  </a:rPr>
                  <a:t>)</a:t>
                </a:r>
              </a:p>
              <a:p>
                <a:r>
                  <a:rPr lang="en-US" altLang="ko-KR" sz="800" dirty="0">
                    <a:solidFill>
                      <a:sysClr val="windowText" lastClr="000000"/>
                    </a:solidFill>
                    <a:latin typeface="+mn-ea"/>
                  </a:rPr>
                  <a:t>  00:00:00</a:t>
                </a:r>
                <a:endParaRPr lang="ko-KR" altLang="en-US" sz="800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E42BED86-3470-4A85-8190-C5E89F282462}"/>
                  </a:ext>
                </a:extLst>
              </p:cNvPr>
              <p:cNvSpPr/>
              <p:nvPr/>
            </p:nvSpPr>
            <p:spPr>
              <a:xfrm>
                <a:off x="569242" y="2790825"/>
                <a:ext cx="2423227" cy="341114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800" dirty="0">
                    <a:solidFill>
                      <a:sysClr val="windowText" lastClr="000000"/>
                    </a:solidFill>
                    <a:latin typeface="+mn-ea"/>
                  </a:rPr>
                  <a:t>2020-12-12         A </a:t>
                </a:r>
                <a:r>
                  <a:rPr lang="ko-KR" altLang="en-US" sz="800" dirty="0">
                    <a:solidFill>
                      <a:sysClr val="windowText" lastClr="000000"/>
                    </a:solidFill>
                    <a:latin typeface="+mn-ea"/>
                  </a:rPr>
                  <a:t>물류센터         집하</a:t>
                </a:r>
                <a:endParaRPr lang="en-US" altLang="ko-KR" sz="800" dirty="0">
                  <a:solidFill>
                    <a:sysClr val="windowText" lastClr="000000"/>
                  </a:solidFill>
                  <a:latin typeface="+mn-ea"/>
                </a:endParaRPr>
              </a:p>
              <a:p>
                <a:r>
                  <a:rPr lang="en-US" altLang="ko-KR" sz="800" dirty="0">
                    <a:solidFill>
                      <a:sysClr val="windowText" lastClr="000000"/>
                    </a:solidFill>
                    <a:latin typeface="+mn-ea"/>
                  </a:rPr>
                  <a:t>  00:00:00</a:t>
                </a:r>
                <a:endParaRPr lang="ko-KR" altLang="en-US" sz="800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8F577567-2145-404F-AC96-D7C1D93699C8}"/>
                  </a:ext>
                </a:extLst>
              </p:cNvPr>
              <p:cNvSpPr/>
              <p:nvPr/>
            </p:nvSpPr>
            <p:spPr>
              <a:xfrm>
                <a:off x="569242" y="3114032"/>
                <a:ext cx="2423227" cy="341114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800" dirty="0">
                    <a:solidFill>
                      <a:sysClr val="windowText" lastClr="000000"/>
                    </a:solidFill>
                    <a:latin typeface="+mn-ea"/>
                  </a:rPr>
                  <a:t>2020-12-12         </a:t>
                </a:r>
                <a:r>
                  <a:rPr lang="ko-KR" altLang="en-US" sz="800" dirty="0">
                    <a:solidFill>
                      <a:sysClr val="windowText" lastClr="000000"/>
                    </a:solidFill>
                    <a:latin typeface="+mn-ea"/>
                  </a:rPr>
                  <a:t>인천 항구           하선</a:t>
                </a:r>
                <a:endParaRPr lang="en-US" altLang="ko-KR" sz="800" dirty="0">
                  <a:solidFill>
                    <a:sysClr val="windowText" lastClr="000000"/>
                  </a:solidFill>
                  <a:latin typeface="+mn-ea"/>
                </a:endParaRPr>
              </a:p>
              <a:p>
                <a:r>
                  <a:rPr lang="en-US" altLang="ko-KR" sz="800" dirty="0">
                    <a:solidFill>
                      <a:sysClr val="windowText" lastClr="000000"/>
                    </a:solidFill>
                    <a:latin typeface="+mn-ea"/>
                  </a:rPr>
                  <a:t>  00:00:00</a:t>
                </a:r>
                <a:endParaRPr lang="ko-KR" altLang="en-US" sz="800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</p:grp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2F32861F-EC57-409F-875D-36D29E2CADA7}"/>
                </a:ext>
              </a:extLst>
            </p:cNvPr>
            <p:cNvCxnSpPr/>
            <p:nvPr/>
          </p:nvCxnSpPr>
          <p:spPr>
            <a:xfrm>
              <a:off x="509420" y="592851"/>
              <a:ext cx="24986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D0F7A568-17C3-474F-AC54-5B8910D20E88}"/>
                </a:ext>
              </a:extLst>
            </p:cNvPr>
            <p:cNvCxnSpPr/>
            <p:nvPr/>
          </p:nvCxnSpPr>
          <p:spPr>
            <a:xfrm>
              <a:off x="507994" y="1437462"/>
              <a:ext cx="24986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F3F7B41D-3AA0-49EE-BB44-E465271C1CAA}"/>
                </a:ext>
              </a:extLst>
            </p:cNvPr>
            <p:cNvCxnSpPr/>
            <p:nvPr/>
          </p:nvCxnSpPr>
          <p:spPr>
            <a:xfrm>
              <a:off x="507994" y="2997559"/>
              <a:ext cx="24986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071A23A1-3076-4BF1-A15A-E18BEF321808}"/>
                </a:ext>
              </a:extLst>
            </p:cNvPr>
            <p:cNvSpPr/>
            <p:nvPr/>
          </p:nvSpPr>
          <p:spPr>
            <a:xfrm>
              <a:off x="866654" y="2754466"/>
              <a:ext cx="1785448" cy="19571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ysClr val="windowText" lastClr="000000"/>
                  </a:solidFill>
                  <a:latin typeface="+mn-ea"/>
                  <a:cs typeface="함초롬바탕" panose="02030504000101010101" pitchFamily="18" charset="-127"/>
                </a:rPr>
                <a:t>배송단계 </a:t>
              </a:r>
              <a:r>
                <a:rPr lang="ko-KR" altLang="en-US" sz="900" dirty="0" err="1">
                  <a:solidFill>
                    <a:sysClr val="windowText" lastClr="000000"/>
                  </a:solidFill>
                  <a:latin typeface="+mn-ea"/>
                  <a:cs typeface="함초롬바탕" panose="02030504000101010101" pitchFamily="18" charset="-127"/>
                </a:rPr>
                <a:t>더보기</a:t>
              </a:r>
              <a:endParaRPr lang="ko-KR" altLang="en-US" sz="90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90F7738-5571-43F8-B98B-5CBDD96DE472}"/>
                </a:ext>
              </a:extLst>
            </p:cNvPr>
            <p:cNvSpPr txBox="1"/>
            <p:nvPr/>
          </p:nvSpPr>
          <p:spPr>
            <a:xfrm>
              <a:off x="400262" y="3996967"/>
              <a:ext cx="2733400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①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Lead Message : </a:t>
              </a:r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현재 배송단계를 설명 </a:t>
              </a:r>
              <a:endPara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②주문상세정보 확인하기 </a:t>
              </a:r>
              <a:r>
                <a:rPr lang="ko-KR" altLang="en-US" sz="1000" dirty="0" err="1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클릭시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해당 </a:t>
              </a:r>
              <a:endPara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페이지로 이동한다</a:t>
              </a:r>
              <a:endPara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③배송단계 </a:t>
              </a:r>
              <a:r>
                <a:rPr lang="ko-KR" altLang="en-US" sz="1000" dirty="0" err="1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더보기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클릭시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화면이 밑으로 펼쳐지면서 배송단계별 이력 전체를 가져온다</a:t>
              </a:r>
              <a:endPara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④ 송장정보는 </a:t>
              </a: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CJ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대한통운에 제품이 인계되는 시점부터 정보를 불러온다</a:t>
              </a:r>
              <a:endPara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48C0FE09-4390-4F20-977C-EC1A01FA3AA5}"/>
                </a:ext>
              </a:extLst>
            </p:cNvPr>
            <p:cNvSpPr/>
            <p:nvPr/>
          </p:nvSpPr>
          <p:spPr>
            <a:xfrm>
              <a:off x="2794328" y="613056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latin typeface="+mn-ea"/>
                </a:rPr>
                <a:t>1</a:t>
              </a:r>
              <a:endParaRPr lang="ko-KR" altLang="en-US" sz="1100" b="1" dirty="0">
                <a:latin typeface="+mn-ea"/>
              </a:endParaRPr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AC6C77A-8B8F-45FD-8FCA-81A67E819860}"/>
                </a:ext>
              </a:extLst>
            </p:cNvPr>
            <p:cNvSpPr/>
            <p:nvPr/>
          </p:nvSpPr>
          <p:spPr>
            <a:xfrm>
              <a:off x="2230401" y="2675838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latin typeface="+mn-ea"/>
                </a:rPr>
                <a:t>3</a:t>
              </a:r>
              <a:endParaRPr lang="ko-KR" altLang="en-US" sz="1100" b="1" dirty="0">
                <a:latin typeface="+mn-ea"/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3A9BA510-16CF-4A38-91B1-D9540FF01281}"/>
                </a:ext>
              </a:extLst>
            </p:cNvPr>
            <p:cNvSpPr/>
            <p:nvPr/>
          </p:nvSpPr>
          <p:spPr>
            <a:xfrm>
              <a:off x="1140226" y="2997559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latin typeface="+mn-ea"/>
                </a:rPr>
                <a:t>4</a:t>
              </a:r>
              <a:endParaRPr lang="ko-KR" altLang="en-US" sz="1100" b="1" dirty="0">
                <a:latin typeface="+mn-ea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07DE7319-73A7-40B1-AA49-7BBBDE166298}"/>
                </a:ext>
              </a:extLst>
            </p:cNvPr>
            <p:cNvSpPr/>
            <p:nvPr/>
          </p:nvSpPr>
          <p:spPr>
            <a:xfrm>
              <a:off x="2050401" y="1140960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latin typeface="+mn-ea"/>
                </a:rPr>
                <a:t>2</a:t>
              </a:r>
              <a:endParaRPr lang="ko-KR" altLang="en-US" sz="1100" b="1" dirty="0">
                <a:latin typeface="+mn-ea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485A57B-B413-40AE-994B-E701CAFF5A64}"/>
              </a:ext>
            </a:extLst>
          </p:cNvPr>
          <p:cNvGrpSpPr/>
          <p:nvPr/>
        </p:nvGrpSpPr>
        <p:grpSpPr>
          <a:xfrm>
            <a:off x="4437146" y="280969"/>
            <a:ext cx="2733400" cy="3556012"/>
            <a:chOff x="3246043" y="280503"/>
            <a:chExt cx="2733400" cy="3556012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75E3071F-0109-4F28-9DB7-482DE06E8846}"/>
                </a:ext>
              </a:extLst>
            </p:cNvPr>
            <p:cNvSpPr/>
            <p:nvPr/>
          </p:nvSpPr>
          <p:spPr>
            <a:xfrm>
              <a:off x="3254106" y="376547"/>
              <a:ext cx="2723463" cy="26078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7596009-3442-41D1-A438-7C61AE0F4830}"/>
                </a:ext>
              </a:extLst>
            </p:cNvPr>
            <p:cNvSpPr/>
            <p:nvPr/>
          </p:nvSpPr>
          <p:spPr>
            <a:xfrm>
              <a:off x="3805838" y="280503"/>
              <a:ext cx="1620000" cy="18527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ysClr val="windowText" lastClr="000000"/>
                  </a:solidFill>
                  <a:latin typeface="+mn-ea"/>
                  <a:cs typeface="함초롬바탕" panose="02030504000101010101" pitchFamily="18" charset="-127"/>
                </a:rPr>
                <a:t>구매확정</a:t>
              </a:r>
              <a:endParaRPr lang="ko-KR" altLang="en-US" sz="1000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3EB75211-CE19-4C6D-95BB-82FA1B7A51DC}"/>
                </a:ext>
              </a:extLst>
            </p:cNvPr>
            <p:cNvCxnSpPr/>
            <p:nvPr/>
          </p:nvCxnSpPr>
          <p:spPr>
            <a:xfrm>
              <a:off x="3366488" y="745253"/>
              <a:ext cx="24986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ADF49805-A4BD-4D5A-A9E4-620B5C79B945}"/>
                </a:ext>
              </a:extLst>
            </p:cNvPr>
            <p:cNvSpPr/>
            <p:nvPr/>
          </p:nvSpPr>
          <p:spPr>
            <a:xfrm>
              <a:off x="3457877" y="795240"/>
              <a:ext cx="2330688" cy="618725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>
                  <a:solidFill>
                    <a:sysClr val="windowText" lastClr="000000"/>
                  </a:solidFill>
                  <a:latin typeface="+mn-ea"/>
                </a:rPr>
                <a:t>구매확정을 진행해 주세요</a:t>
              </a:r>
              <a:endParaRPr lang="en-US" altLang="ko-KR" sz="1050" b="1" dirty="0">
                <a:solidFill>
                  <a:sysClr val="windowText" lastClr="000000"/>
                </a:solidFill>
                <a:latin typeface="+mn-ea"/>
              </a:endParaRPr>
            </a:p>
            <a:p>
              <a:pPr algn="ctr"/>
              <a:endParaRPr lang="en-US" altLang="ko-KR" sz="400" b="1" dirty="0">
                <a:solidFill>
                  <a:sysClr val="windowText" lastClr="000000"/>
                </a:solidFill>
                <a:latin typeface="+mn-ea"/>
              </a:endParaRPr>
            </a:p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latin typeface="+mn-ea"/>
                </a:rPr>
                <a:t>구매확정 이후 교환</a:t>
              </a:r>
              <a:r>
                <a:rPr lang="en-US" altLang="ko-KR" sz="800" dirty="0">
                  <a:solidFill>
                    <a:sysClr val="windowText" lastClr="000000"/>
                  </a:solidFill>
                  <a:latin typeface="+mn-ea"/>
                </a:rPr>
                <a:t>/</a:t>
              </a:r>
              <a:r>
                <a:rPr lang="ko-KR" altLang="en-US" sz="800" dirty="0">
                  <a:solidFill>
                    <a:sysClr val="windowText" lastClr="000000"/>
                  </a:solidFill>
                  <a:latin typeface="+mn-ea"/>
                </a:rPr>
                <a:t>반품이 </a:t>
              </a:r>
              <a:r>
                <a:rPr lang="ko-KR" altLang="en-US" sz="800" dirty="0" err="1">
                  <a:solidFill>
                    <a:sysClr val="windowText" lastClr="000000"/>
                  </a:solidFill>
                  <a:latin typeface="+mn-ea"/>
                </a:rPr>
                <a:t>불가하오니</a:t>
              </a:r>
              <a:r>
                <a:rPr lang="ko-KR" altLang="en-US" sz="800" dirty="0">
                  <a:solidFill>
                    <a:sysClr val="windowText" lastClr="000000"/>
                  </a:solidFill>
                  <a:latin typeface="+mn-ea"/>
                </a:rPr>
                <a:t> </a:t>
              </a:r>
              <a:endParaRPr lang="en-US" altLang="ko-KR" sz="800" dirty="0">
                <a:solidFill>
                  <a:sysClr val="windowText" lastClr="000000"/>
                </a:solidFill>
                <a:latin typeface="+mn-ea"/>
              </a:endParaRPr>
            </a:p>
            <a:p>
              <a:pPr algn="ctr"/>
              <a:r>
                <a:rPr lang="ko-KR" altLang="en-US" sz="800" dirty="0">
                  <a:solidFill>
                    <a:sysClr val="windowText" lastClr="000000"/>
                  </a:solidFill>
                  <a:latin typeface="+mn-ea"/>
                </a:rPr>
                <a:t>반드시 상품을 받으신 후 진행해주세요</a:t>
              </a: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9126A294-382E-40C1-8054-8D18D3D5BECD}"/>
                </a:ext>
              </a:extLst>
            </p:cNvPr>
            <p:cNvGrpSpPr/>
            <p:nvPr/>
          </p:nvGrpSpPr>
          <p:grpSpPr>
            <a:xfrm>
              <a:off x="3683712" y="1587861"/>
              <a:ext cx="2288643" cy="549893"/>
              <a:chOff x="625510" y="914401"/>
              <a:chExt cx="2288643" cy="549893"/>
            </a:xfrm>
          </p:grpSpPr>
          <p:pic>
            <p:nvPicPr>
              <p:cNvPr id="58" name="그림 57">
                <a:extLst>
                  <a:ext uri="{FF2B5EF4-FFF2-40B4-BE49-F238E27FC236}">
                    <a16:creationId xmlns:a16="http://schemas.microsoft.com/office/drawing/2014/main" id="{D78BF529-1EEC-4382-AADA-7FB51FF023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5510" y="914401"/>
                <a:ext cx="466434" cy="380809"/>
              </a:xfrm>
              <a:prstGeom prst="rect">
                <a:avLst/>
              </a:prstGeom>
              <a:ln w="3175">
                <a:noFill/>
              </a:ln>
            </p:spPr>
          </p:pic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D414D98A-7AC8-460B-9484-2FFA9F4DA99D}"/>
                  </a:ext>
                </a:extLst>
              </p:cNvPr>
              <p:cNvSpPr/>
              <p:nvPr/>
            </p:nvSpPr>
            <p:spPr>
              <a:xfrm>
                <a:off x="1140226" y="930260"/>
                <a:ext cx="1773927" cy="18527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ysClr val="windowText" lastClr="000000"/>
                    </a:solidFill>
                    <a:latin typeface="+mn-ea"/>
                  </a:rPr>
                  <a:t>오토바이 타이어 </a:t>
                </a:r>
                <a:r>
                  <a:rPr lang="en-US" altLang="ko-KR" sz="800" dirty="0">
                    <a:solidFill>
                      <a:sysClr val="windowText" lastClr="000000"/>
                    </a:solidFill>
                    <a:latin typeface="+mn-ea"/>
                  </a:rPr>
                  <a:t>A</a:t>
                </a:r>
                <a:r>
                  <a:rPr lang="ko-KR" altLang="en-US" sz="800" dirty="0">
                    <a:solidFill>
                      <a:sysClr val="windowText" lastClr="000000"/>
                    </a:solidFill>
                    <a:latin typeface="+mn-ea"/>
                  </a:rPr>
                  <a:t>타입</a:t>
                </a:r>
                <a:endParaRPr lang="en-US" altLang="ko-KR" sz="800" dirty="0">
                  <a:solidFill>
                    <a:sysClr val="windowText" lastClr="000000"/>
                  </a:solidFill>
                  <a:latin typeface="+mn-ea"/>
                </a:endParaRPr>
              </a:p>
              <a:p>
                <a:r>
                  <a:rPr lang="en-US" altLang="ko-KR" sz="800" dirty="0">
                    <a:solidFill>
                      <a:sysClr val="windowText" lastClr="000000"/>
                    </a:solidFill>
                    <a:latin typeface="+mn-ea"/>
                  </a:rPr>
                  <a:t>(</a:t>
                </a:r>
                <a:r>
                  <a:rPr lang="ko-KR" altLang="en-US" sz="800" dirty="0">
                    <a:solidFill>
                      <a:sysClr val="windowText" lastClr="000000"/>
                    </a:solidFill>
                    <a:latin typeface="+mn-ea"/>
                  </a:rPr>
                  <a:t>주문번호 </a:t>
                </a:r>
                <a:r>
                  <a:rPr lang="en-US" altLang="ko-KR" sz="800" dirty="0">
                    <a:solidFill>
                      <a:sysClr val="windowText" lastClr="000000"/>
                    </a:solidFill>
                    <a:latin typeface="+mn-ea"/>
                  </a:rPr>
                  <a:t>: XXXXXXXXXXXXX)</a:t>
                </a:r>
                <a:endParaRPr lang="ko-KR" altLang="en-US" sz="800" dirty="0">
                  <a:solidFill>
                    <a:sysClr val="windowText" lastClr="000000"/>
                  </a:solidFill>
                  <a:latin typeface="+mn-ea"/>
                </a:endParaRPr>
              </a:p>
              <a:p>
                <a:endParaRPr lang="ko-KR" altLang="en-US" sz="800" dirty="0">
                  <a:solidFill>
                    <a:sysClr val="windowText" lastClr="000000"/>
                  </a:solidFill>
                  <a:latin typeface="+mn-ea"/>
                </a:endParaRPr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EB86A640-79DF-4361-829D-F871D4B5427F}"/>
                  </a:ext>
                </a:extLst>
              </p:cNvPr>
              <p:cNvSpPr/>
              <p:nvPr/>
            </p:nvSpPr>
            <p:spPr>
              <a:xfrm>
                <a:off x="1145441" y="1281930"/>
                <a:ext cx="1623788" cy="182364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700" dirty="0">
                    <a:solidFill>
                      <a:schemeClr val="accent1">
                        <a:lumMod val="75000"/>
                      </a:schemeClr>
                    </a:solidFill>
                    <a:latin typeface="+mn-ea"/>
                  </a:rPr>
                  <a:t>구매확정시 포인트 </a:t>
                </a:r>
                <a:r>
                  <a:rPr lang="en-US" altLang="ko-KR" sz="700" dirty="0">
                    <a:solidFill>
                      <a:schemeClr val="accent1">
                        <a:lumMod val="75000"/>
                      </a:schemeClr>
                    </a:solidFill>
                    <a:latin typeface="+mn-ea"/>
                  </a:rPr>
                  <a:t>1,XXX </a:t>
                </a:r>
                <a:r>
                  <a:rPr lang="ko-KR" altLang="en-US" sz="700" dirty="0">
                    <a:solidFill>
                      <a:schemeClr val="accent1">
                        <a:lumMod val="75000"/>
                      </a:schemeClr>
                    </a:solidFill>
                    <a:latin typeface="+mn-ea"/>
                  </a:rPr>
                  <a:t>원 적립</a:t>
                </a:r>
              </a:p>
            </p:txBody>
          </p:sp>
        </p:grp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C705E1EE-2793-4566-ABCB-BCB08E9B111C}"/>
                </a:ext>
              </a:extLst>
            </p:cNvPr>
            <p:cNvCxnSpPr/>
            <p:nvPr/>
          </p:nvCxnSpPr>
          <p:spPr>
            <a:xfrm>
              <a:off x="3350042" y="1441931"/>
              <a:ext cx="24986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815F3214-72A1-460D-8715-5B72463578D2}"/>
                </a:ext>
              </a:extLst>
            </p:cNvPr>
            <p:cNvCxnSpPr/>
            <p:nvPr/>
          </p:nvCxnSpPr>
          <p:spPr>
            <a:xfrm>
              <a:off x="3374252" y="2158040"/>
              <a:ext cx="24986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BC6FAADC-6D70-497D-A51A-A9009E4D466C}"/>
                </a:ext>
              </a:extLst>
            </p:cNvPr>
            <p:cNvSpPr/>
            <p:nvPr/>
          </p:nvSpPr>
          <p:spPr>
            <a:xfrm>
              <a:off x="3488376" y="2422987"/>
              <a:ext cx="961381" cy="31339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ysClr val="windowText" lastClr="000000"/>
                  </a:solidFill>
                  <a:latin typeface="+mn-ea"/>
                  <a:cs typeface="함초롬바탕" panose="02030504000101010101" pitchFamily="18" charset="-127"/>
                </a:rPr>
                <a:t>취소</a:t>
              </a:r>
              <a:endParaRPr lang="ko-KR" altLang="en-US" sz="1000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9D703232-A4B2-47D2-9690-D3ECDBF7AB0F}"/>
                </a:ext>
              </a:extLst>
            </p:cNvPr>
            <p:cNvSpPr/>
            <p:nvPr/>
          </p:nvSpPr>
          <p:spPr>
            <a:xfrm>
              <a:off x="4648859" y="2422988"/>
              <a:ext cx="961381" cy="31339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ysClr val="windowText" lastClr="000000"/>
                  </a:solidFill>
                  <a:latin typeface="+mn-ea"/>
                  <a:cs typeface="함초롬바탕" panose="02030504000101010101" pitchFamily="18" charset="-127"/>
                </a:rPr>
                <a:t>확인</a:t>
              </a:r>
              <a:endParaRPr lang="ko-KR" altLang="en-US" sz="1000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7A3D575-5566-4D33-9F51-46075C05872F}"/>
                </a:ext>
              </a:extLst>
            </p:cNvPr>
            <p:cNvSpPr txBox="1"/>
            <p:nvPr/>
          </p:nvSpPr>
          <p:spPr>
            <a:xfrm>
              <a:off x="3246043" y="3128629"/>
              <a:ext cx="2733400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①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 처리단계를 </a:t>
              </a: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‘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구매확정</a:t>
              </a: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’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으로 셋팅하고 거래를 종료한다</a:t>
              </a:r>
              <a:endPara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②</a:t>
              </a: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팝업창이 닫히고 내가 참여한 공동구매</a:t>
              </a: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화면으로 돌아간다</a:t>
              </a:r>
              <a:endPara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4CB3098A-DD9F-4A53-914C-4177581278B2}"/>
                </a:ext>
              </a:extLst>
            </p:cNvPr>
            <p:cNvSpPr/>
            <p:nvPr/>
          </p:nvSpPr>
          <p:spPr>
            <a:xfrm>
              <a:off x="5429592" y="2359121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latin typeface="+mn-ea"/>
                </a:rPr>
                <a:t>1</a:t>
              </a:r>
              <a:endParaRPr lang="ko-KR" altLang="en-US" sz="1100" b="1" dirty="0">
                <a:latin typeface="+mn-ea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1D382429-3C2A-4BE9-A984-7EDF5C7B3D1C}"/>
                </a:ext>
              </a:extLst>
            </p:cNvPr>
            <p:cNvSpPr/>
            <p:nvPr/>
          </p:nvSpPr>
          <p:spPr>
            <a:xfrm>
              <a:off x="4251849" y="2347067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latin typeface="+mn-ea"/>
                </a:rPr>
                <a:t>2</a:t>
              </a:r>
              <a:endParaRPr lang="ko-KR" altLang="en-US" sz="1100" b="1" dirty="0">
                <a:latin typeface="+mn-ea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44A0C33-7954-481D-B47D-123B96048E81}"/>
                </a:ext>
              </a:extLst>
            </p:cNvPr>
            <p:cNvSpPr/>
            <p:nvPr/>
          </p:nvSpPr>
          <p:spPr>
            <a:xfrm>
              <a:off x="4209528" y="1755750"/>
              <a:ext cx="1579038" cy="185269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600" u="sng" dirty="0">
                  <a:solidFill>
                    <a:schemeClr val="accent6">
                      <a:lumMod val="75000"/>
                    </a:schemeClr>
                  </a:solidFill>
                  <a:latin typeface="+mn-ea"/>
                </a:rPr>
                <a:t>주문상세정보 확인하기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C4E7B17-AAAA-40F0-A313-8EB247CCCB36}"/>
              </a:ext>
            </a:extLst>
          </p:cNvPr>
          <p:cNvGrpSpPr/>
          <p:nvPr/>
        </p:nvGrpSpPr>
        <p:grpSpPr>
          <a:xfrm>
            <a:off x="8305527" y="263958"/>
            <a:ext cx="2747127" cy="5584289"/>
            <a:chOff x="6048388" y="280503"/>
            <a:chExt cx="2747127" cy="5584289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82AE2979-0E76-4E4A-A0DF-6ED5ABE2D458}"/>
                </a:ext>
              </a:extLst>
            </p:cNvPr>
            <p:cNvSpPr/>
            <p:nvPr/>
          </p:nvSpPr>
          <p:spPr>
            <a:xfrm>
              <a:off x="6072052" y="376547"/>
              <a:ext cx="2723463" cy="344342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F14D3D95-AD86-4D72-B509-8B0AFCDB311E}"/>
                </a:ext>
              </a:extLst>
            </p:cNvPr>
            <p:cNvSpPr/>
            <p:nvPr/>
          </p:nvSpPr>
          <p:spPr>
            <a:xfrm>
              <a:off x="6623784" y="280503"/>
              <a:ext cx="1620000" cy="18527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ysClr val="windowText" lastClr="000000"/>
                  </a:solidFill>
                  <a:latin typeface="+mn-ea"/>
                  <a:cs typeface="함초롬바탕" panose="02030504000101010101" pitchFamily="18" charset="-127"/>
                </a:rPr>
                <a:t>구매확정 연장</a:t>
              </a:r>
              <a:endParaRPr lang="ko-KR" altLang="en-US" sz="1000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88BB5C2A-9266-4A11-BD69-7AF1F555F884}"/>
                </a:ext>
              </a:extLst>
            </p:cNvPr>
            <p:cNvSpPr/>
            <p:nvPr/>
          </p:nvSpPr>
          <p:spPr>
            <a:xfrm>
              <a:off x="6097523" y="548755"/>
              <a:ext cx="2661741" cy="618725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ysClr val="windowText" lastClr="000000"/>
                  </a:solidFill>
                  <a:latin typeface="+mn-ea"/>
                </a:rPr>
                <a:t>아직 상품을 받지 못하셨나요</a:t>
              </a:r>
              <a:r>
                <a:rPr lang="en-US" altLang="ko-KR" sz="900" b="1" dirty="0">
                  <a:solidFill>
                    <a:sysClr val="windowText" lastClr="000000"/>
                  </a:solidFill>
                  <a:latin typeface="+mn-ea"/>
                </a:rPr>
                <a:t>?</a:t>
              </a:r>
            </a:p>
            <a:p>
              <a:pPr algn="ctr"/>
              <a:r>
                <a:rPr lang="ko-KR" altLang="en-US" sz="900" b="1" dirty="0" err="1">
                  <a:solidFill>
                    <a:sysClr val="windowText" lastClr="000000"/>
                  </a:solidFill>
                  <a:latin typeface="+mn-ea"/>
                </a:rPr>
                <a:t>배송받은</a:t>
              </a:r>
              <a:r>
                <a:rPr lang="ko-KR" altLang="en-US" sz="900" b="1" dirty="0">
                  <a:solidFill>
                    <a:sysClr val="windowText" lastClr="000000"/>
                  </a:solidFill>
                  <a:latin typeface="+mn-ea"/>
                </a:rPr>
                <a:t> 상품 확인에 시간이 더 </a:t>
              </a:r>
              <a:r>
                <a:rPr lang="ko-KR" altLang="en-US" sz="900" b="1" dirty="0" err="1">
                  <a:solidFill>
                    <a:sysClr val="windowText" lastClr="000000"/>
                  </a:solidFill>
                  <a:latin typeface="+mn-ea"/>
                </a:rPr>
                <a:t>필요하신가요</a:t>
              </a:r>
              <a:r>
                <a:rPr lang="en-US" altLang="ko-KR" sz="900" b="1" dirty="0">
                  <a:solidFill>
                    <a:sysClr val="windowText" lastClr="000000"/>
                  </a:solidFill>
                  <a:latin typeface="+mn-ea"/>
                </a:rPr>
                <a:t>?</a:t>
              </a:r>
              <a:endParaRPr lang="ko-KR" altLang="en-US" sz="60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2C4B7E8F-88BD-4A12-82F9-44B929241773}"/>
                </a:ext>
              </a:extLst>
            </p:cNvPr>
            <p:cNvCxnSpPr/>
            <p:nvPr/>
          </p:nvCxnSpPr>
          <p:spPr>
            <a:xfrm>
              <a:off x="6184434" y="2575409"/>
              <a:ext cx="24986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45D805DC-0A80-460F-B145-9D42E88B8A7B}"/>
                </a:ext>
              </a:extLst>
            </p:cNvPr>
            <p:cNvSpPr/>
            <p:nvPr/>
          </p:nvSpPr>
          <p:spPr>
            <a:xfrm>
              <a:off x="6522693" y="3548785"/>
              <a:ext cx="510523" cy="15922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ysClr val="windowText" lastClr="000000"/>
                  </a:solidFill>
                  <a:latin typeface="+mn-ea"/>
                  <a:cs typeface="함초롬바탕" panose="02030504000101010101" pitchFamily="18" charset="-127"/>
                </a:rPr>
                <a:t>취소</a:t>
              </a:r>
              <a:endParaRPr lang="ko-KR" altLang="en-US" sz="800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8DEADFC9-AED6-42CC-BEA9-8F4851D60D8E}"/>
                </a:ext>
              </a:extLst>
            </p:cNvPr>
            <p:cNvSpPr/>
            <p:nvPr/>
          </p:nvSpPr>
          <p:spPr>
            <a:xfrm>
              <a:off x="7139008" y="3537458"/>
              <a:ext cx="1309876" cy="17055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ysClr val="windowText" lastClr="000000"/>
                  </a:solidFill>
                  <a:latin typeface="+mn-ea"/>
                  <a:cs typeface="함초롬바탕" panose="02030504000101010101" pitchFamily="18" charset="-127"/>
                </a:rPr>
                <a:t>구매확정 </a:t>
              </a:r>
              <a:r>
                <a:rPr lang="en-US" altLang="ko-KR" sz="800" b="1" dirty="0">
                  <a:solidFill>
                    <a:sysClr val="windowText" lastClr="000000"/>
                  </a:solidFill>
                  <a:latin typeface="+mn-ea"/>
                  <a:cs typeface="함초롬바탕" panose="02030504000101010101" pitchFamily="18" charset="-127"/>
                </a:rPr>
                <a:t>O</a:t>
              </a:r>
              <a:r>
                <a:rPr lang="ko-KR" altLang="en-US" sz="800" b="1" dirty="0">
                  <a:solidFill>
                    <a:sysClr val="windowText" lastClr="000000"/>
                  </a:solidFill>
                  <a:latin typeface="+mn-ea"/>
                  <a:cs typeface="함초롬바탕" panose="02030504000101010101" pitchFamily="18" charset="-127"/>
                </a:rPr>
                <a:t>일 연장하기</a:t>
              </a:r>
              <a:endParaRPr lang="ko-KR" altLang="en-US" sz="800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FFC36916-4EF5-4BA7-89DF-A9EF023C3526}"/>
                </a:ext>
              </a:extLst>
            </p:cNvPr>
            <p:cNvGrpSpPr/>
            <p:nvPr/>
          </p:nvGrpSpPr>
          <p:grpSpPr>
            <a:xfrm>
              <a:off x="6361683" y="1109219"/>
              <a:ext cx="2296464" cy="410953"/>
              <a:chOff x="6501658" y="1587861"/>
              <a:chExt cx="2296464" cy="410953"/>
            </a:xfrm>
          </p:grpSpPr>
          <p:grpSp>
            <p:nvGrpSpPr>
              <p:cNvPr id="76" name="그룹 75">
                <a:extLst>
                  <a:ext uri="{FF2B5EF4-FFF2-40B4-BE49-F238E27FC236}">
                    <a16:creationId xmlns:a16="http://schemas.microsoft.com/office/drawing/2014/main" id="{D0B868DD-B34E-4C09-95BC-5AE158BF3A2E}"/>
                  </a:ext>
                </a:extLst>
              </p:cNvPr>
              <p:cNvGrpSpPr/>
              <p:nvPr/>
            </p:nvGrpSpPr>
            <p:grpSpPr>
              <a:xfrm>
                <a:off x="6501658" y="1587861"/>
                <a:ext cx="2288643" cy="380809"/>
                <a:chOff x="625510" y="914401"/>
                <a:chExt cx="2288643" cy="380809"/>
              </a:xfrm>
            </p:grpSpPr>
            <p:pic>
              <p:nvPicPr>
                <p:cNvPr id="77" name="그림 76">
                  <a:extLst>
                    <a:ext uri="{FF2B5EF4-FFF2-40B4-BE49-F238E27FC236}">
                      <a16:creationId xmlns:a16="http://schemas.microsoft.com/office/drawing/2014/main" id="{1EE26BB2-BCE9-423E-B6DD-20B2E3FA6E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25510" y="914401"/>
                  <a:ext cx="466434" cy="380809"/>
                </a:xfrm>
                <a:prstGeom prst="rect">
                  <a:avLst/>
                </a:prstGeom>
                <a:ln w="3175">
                  <a:noFill/>
                </a:ln>
              </p:spPr>
            </p:pic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1EBF9BA8-04A0-43C9-9EB3-6660594CE1BC}"/>
                    </a:ext>
                  </a:extLst>
                </p:cNvPr>
                <p:cNvSpPr/>
                <p:nvPr/>
              </p:nvSpPr>
              <p:spPr>
                <a:xfrm>
                  <a:off x="1140226" y="1005761"/>
                  <a:ext cx="1773927" cy="185270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ysClr val="windowText" lastClr="000000"/>
                      </a:solidFill>
                      <a:latin typeface="+mn-ea"/>
                    </a:rPr>
                    <a:t>오토바이 타이어 </a:t>
                  </a:r>
                  <a:r>
                    <a:rPr lang="en-US" altLang="ko-KR" sz="800" dirty="0">
                      <a:solidFill>
                        <a:sysClr val="windowText" lastClr="000000"/>
                      </a:solidFill>
                      <a:latin typeface="+mn-ea"/>
                    </a:rPr>
                    <a:t>A</a:t>
                  </a:r>
                  <a:r>
                    <a:rPr lang="ko-KR" altLang="en-US" sz="800" dirty="0">
                      <a:solidFill>
                        <a:sysClr val="windowText" lastClr="000000"/>
                      </a:solidFill>
                      <a:latin typeface="+mn-ea"/>
                    </a:rPr>
                    <a:t>타입</a:t>
                  </a:r>
                  <a:endParaRPr lang="en-US" altLang="ko-KR" sz="800" dirty="0">
                    <a:solidFill>
                      <a:sysClr val="windowText" lastClr="000000"/>
                    </a:solidFill>
                    <a:latin typeface="+mn-ea"/>
                  </a:endParaRPr>
                </a:p>
                <a:p>
                  <a:r>
                    <a:rPr lang="en-US" altLang="ko-KR" sz="800" dirty="0">
                      <a:solidFill>
                        <a:sysClr val="windowText" lastClr="000000"/>
                      </a:solidFill>
                      <a:latin typeface="+mn-ea"/>
                    </a:rPr>
                    <a:t>(</a:t>
                  </a:r>
                  <a:r>
                    <a:rPr lang="ko-KR" altLang="en-US" sz="800" dirty="0">
                      <a:solidFill>
                        <a:sysClr val="windowText" lastClr="000000"/>
                      </a:solidFill>
                      <a:latin typeface="+mn-ea"/>
                    </a:rPr>
                    <a:t>주문번호 </a:t>
                  </a:r>
                  <a:r>
                    <a:rPr lang="en-US" altLang="ko-KR" sz="800" dirty="0">
                      <a:solidFill>
                        <a:sysClr val="windowText" lastClr="000000"/>
                      </a:solidFill>
                      <a:latin typeface="+mn-ea"/>
                    </a:rPr>
                    <a:t>: XXXXXXXXXXXXX)</a:t>
                  </a:r>
                  <a:endParaRPr lang="ko-KR" altLang="en-US" sz="800" dirty="0">
                    <a:solidFill>
                      <a:sysClr val="windowText" lastClr="000000"/>
                    </a:solidFill>
                    <a:latin typeface="+mn-ea"/>
                  </a:endParaRPr>
                </a:p>
                <a:p>
                  <a:endParaRPr lang="ko-KR" altLang="en-US" sz="800" dirty="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</p:grp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950E42F4-0EE9-40B0-B591-54444756B18E}"/>
                  </a:ext>
                </a:extLst>
              </p:cNvPr>
              <p:cNvSpPr/>
              <p:nvPr/>
            </p:nvSpPr>
            <p:spPr>
              <a:xfrm>
                <a:off x="7024195" y="1813544"/>
                <a:ext cx="1773927" cy="185270"/>
              </a:xfrm>
              <a:prstGeom prst="rect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600" u="sng" dirty="0">
                    <a:solidFill>
                      <a:schemeClr val="accent6">
                        <a:lumMod val="75000"/>
                      </a:schemeClr>
                    </a:solidFill>
                    <a:latin typeface="+mn-ea"/>
                  </a:rPr>
                  <a:t>주문상세정보 확인하기</a:t>
                </a:r>
              </a:p>
            </p:txBody>
          </p:sp>
        </p:grpSp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01E38A85-C2C0-461F-9E7D-D78EE3911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0900" y="1678269"/>
              <a:ext cx="386758" cy="387959"/>
            </a:xfrm>
            <a:prstGeom prst="rect">
              <a:avLst/>
            </a:prstGeom>
          </p:spPr>
        </p:pic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5E7D23C6-2D58-45FF-BFFA-57CBA8C3201C}"/>
                </a:ext>
              </a:extLst>
            </p:cNvPr>
            <p:cNvSpPr/>
            <p:nvPr/>
          </p:nvSpPr>
          <p:spPr>
            <a:xfrm>
              <a:off x="6494180" y="1666901"/>
              <a:ext cx="2200615" cy="834143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700" dirty="0">
                  <a:solidFill>
                    <a:sysClr val="windowText" lastClr="000000"/>
                  </a:solidFill>
                  <a:latin typeface="+mn-ea"/>
                </a:rPr>
                <a:t>- </a:t>
              </a:r>
              <a:r>
                <a:rPr lang="ko-KR" altLang="en-US" sz="700" dirty="0">
                  <a:solidFill>
                    <a:sysClr val="windowText" lastClr="000000"/>
                  </a:solidFill>
                  <a:latin typeface="+mn-ea"/>
                </a:rPr>
                <a:t>간혹</a:t>
              </a:r>
              <a:r>
                <a:rPr lang="en-US" altLang="ko-KR" sz="700" dirty="0">
                  <a:solidFill>
                    <a:sysClr val="windowText" lastClr="000000"/>
                  </a:solidFill>
                  <a:latin typeface="+mn-ea"/>
                </a:rPr>
                <a:t>,</a:t>
              </a:r>
              <a:r>
                <a:rPr lang="ko-KR" altLang="en-US" sz="700" dirty="0">
                  <a:solidFill>
                    <a:sysClr val="windowText" lastClr="000000"/>
                  </a:solidFill>
                  <a:latin typeface="+mn-ea"/>
                </a:rPr>
                <a:t> 당사 담당자 실수로 배송정보가 잘못 입력되었거나  택배사의 배송정보처리가 잘못되어 배송완료 처리되는 경우가 있으니 담당자에게 먼저 확인 부탁드립니다</a:t>
              </a:r>
              <a:endParaRPr lang="en-US" altLang="ko-KR" sz="700" dirty="0">
                <a:solidFill>
                  <a:sysClr val="windowText" lastClr="000000"/>
                </a:solidFill>
                <a:latin typeface="+mn-ea"/>
              </a:endParaRPr>
            </a:p>
            <a:p>
              <a:r>
                <a:rPr lang="en-US" altLang="ko-KR" sz="700" dirty="0">
                  <a:solidFill>
                    <a:sysClr val="windowText" lastClr="000000"/>
                  </a:solidFill>
                  <a:latin typeface="+mn-ea"/>
                </a:rPr>
                <a:t>-</a:t>
              </a:r>
              <a:r>
                <a:rPr lang="ko-KR" altLang="en-US" sz="700" dirty="0">
                  <a:solidFill>
                    <a:sysClr val="windowText" lastClr="000000"/>
                  </a:solidFill>
                  <a:latin typeface="+mn-ea"/>
                </a:rPr>
                <a:t>혹시 반품이나 교환이 필요하시면 </a:t>
              </a:r>
              <a:r>
                <a:rPr lang="ko-KR" altLang="en-US" sz="700" u="sng" dirty="0">
                  <a:solidFill>
                    <a:srgbClr val="00B0F0"/>
                  </a:solidFill>
                  <a:latin typeface="+mn-ea"/>
                </a:rPr>
                <a:t>교환요청</a:t>
              </a:r>
              <a:r>
                <a:rPr lang="en-US" altLang="ko-KR" sz="700" dirty="0">
                  <a:solidFill>
                    <a:sysClr val="windowText" lastClr="000000"/>
                  </a:solidFill>
                  <a:latin typeface="+mn-ea"/>
                </a:rPr>
                <a:t>, </a:t>
              </a:r>
              <a:r>
                <a:rPr lang="ko-KR" altLang="en-US" sz="700" u="sng" dirty="0">
                  <a:solidFill>
                    <a:srgbClr val="00B0F0"/>
                  </a:solidFill>
                  <a:latin typeface="+mn-ea"/>
                </a:rPr>
                <a:t>반품요청</a:t>
              </a:r>
              <a:r>
                <a:rPr lang="ko-KR" altLang="en-US" sz="700" dirty="0">
                  <a:solidFill>
                    <a:sysClr val="windowText" lastClr="000000"/>
                  </a:solidFill>
                  <a:latin typeface="+mn-ea"/>
                </a:rPr>
                <a:t>을 클릭하시면 해당페이지로 이동합니다</a:t>
              </a:r>
              <a:endParaRPr lang="en-US" altLang="ko-KR" sz="700" dirty="0">
                <a:solidFill>
                  <a:sysClr val="windowText" lastClr="000000"/>
                </a:solidFill>
                <a:latin typeface="+mn-ea"/>
              </a:endParaRPr>
            </a:p>
            <a:p>
              <a:r>
                <a:rPr lang="en-US" altLang="ko-KR" sz="700" dirty="0">
                  <a:solidFill>
                    <a:sysClr val="windowText" lastClr="000000"/>
                  </a:solidFill>
                  <a:latin typeface="+mn-ea"/>
                </a:rPr>
                <a:t>-</a:t>
              </a:r>
              <a:r>
                <a:rPr lang="ko-KR" altLang="en-US" sz="700" dirty="0">
                  <a:solidFill>
                    <a:sysClr val="windowText" lastClr="000000"/>
                  </a:solidFill>
                  <a:latin typeface="+mn-ea"/>
                </a:rPr>
                <a:t>구매확정연장은 총 </a:t>
              </a:r>
              <a:r>
                <a:rPr lang="en-US" altLang="ko-KR" sz="700" dirty="0">
                  <a:solidFill>
                    <a:sysClr val="windowText" lastClr="000000"/>
                  </a:solidFill>
                  <a:latin typeface="+mn-ea"/>
                </a:rPr>
                <a:t>0</a:t>
              </a:r>
              <a:r>
                <a:rPr lang="ko-KR" altLang="en-US" sz="700" dirty="0">
                  <a:solidFill>
                    <a:sysClr val="windowText" lastClr="000000"/>
                  </a:solidFill>
                  <a:latin typeface="+mn-ea"/>
                </a:rPr>
                <a:t>회 가능합니다</a:t>
              </a:r>
            </a:p>
          </p:txBody>
        </p:sp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2A0F4ED9-9E07-44FD-A172-152277B2C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58354" y="2626279"/>
              <a:ext cx="1418033" cy="208534"/>
            </a:xfrm>
            <a:prstGeom prst="rect">
              <a:avLst/>
            </a:prstGeom>
          </p:spPr>
        </p:pic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BBA50235-2C98-4B59-B299-66C84631074C}"/>
                </a:ext>
              </a:extLst>
            </p:cNvPr>
            <p:cNvSpPr/>
            <p:nvPr/>
          </p:nvSpPr>
          <p:spPr>
            <a:xfrm>
              <a:off x="6184434" y="2876309"/>
              <a:ext cx="2506463" cy="56291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bg2">
                      <a:lumMod val="75000"/>
                    </a:schemeClr>
                  </a:solidFill>
                  <a:latin typeface="+mn-ea"/>
                  <a:cs typeface="함초롬바탕" panose="02030504000101010101" pitchFamily="18" charset="-127"/>
                </a:rPr>
                <a:t>전하실 말씀을 남겨주세요</a:t>
              </a:r>
              <a:endParaRPr lang="ko-KR" altLang="en-US" sz="800" dirty="0">
                <a:solidFill>
                  <a:schemeClr val="bg2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74EB6152-2ADE-4DD9-B931-A81C3874BDD6}"/>
                </a:ext>
              </a:extLst>
            </p:cNvPr>
            <p:cNvSpPr/>
            <p:nvPr/>
          </p:nvSpPr>
          <p:spPr>
            <a:xfrm>
              <a:off x="8167622" y="2680292"/>
              <a:ext cx="591642" cy="132041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ysClr val="windowText" lastClr="000000"/>
                  </a:solidFill>
                  <a:latin typeface="+mn-ea"/>
                </a:rPr>
                <a:t>0</a:t>
              </a:r>
              <a:r>
                <a:rPr lang="en-US" altLang="ko-KR" sz="600">
                  <a:solidFill>
                    <a:sysClr val="windowText" lastClr="000000"/>
                  </a:solidFill>
                  <a:latin typeface="+mn-ea"/>
                </a:rPr>
                <a:t>/ 500</a:t>
              </a:r>
              <a:r>
                <a:rPr lang="ko-KR" altLang="en-US" sz="600" dirty="0">
                  <a:solidFill>
                    <a:sysClr val="windowText" lastClr="000000"/>
                  </a:solidFill>
                  <a:latin typeface="+mn-ea"/>
                </a:rPr>
                <a:t>자</a:t>
              </a:r>
            </a:p>
          </p:txBody>
        </p: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636F6200-E254-4052-B0C5-9D5635978C74}"/>
                </a:ext>
              </a:extLst>
            </p:cNvPr>
            <p:cNvCxnSpPr/>
            <p:nvPr/>
          </p:nvCxnSpPr>
          <p:spPr>
            <a:xfrm>
              <a:off x="6184434" y="608519"/>
              <a:ext cx="24986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567160C9-CDDB-460D-8AFE-D36CB489CF27}"/>
                </a:ext>
              </a:extLst>
            </p:cNvPr>
            <p:cNvCxnSpPr/>
            <p:nvPr/>
          </p:nvCxnSpPr>
          <p:spPr>
            <a:xfrm>
              <a:off x="6151628" y="1603720"/>
              <a:ext cx="24986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DAEA4D1-8950-4F3B-BD3C-E5C655CC3A99}"/>
                </a:ext>
              </a:extLst>
            </p:cNvPr>
            <p:cNvSpPr/>
            <p:nvPr/>
          </p:nvSpPr>
          <p:spPr>
            <a:xfrm>
              <a:off x="7793946" y="2006729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latin typeface="+mn-ea"/>
                </a:rPr>
                <a:t>1</a:t>
              </a:r>
              <a:endParaRPr lang="ko-KR" altLang="en-US" sz="1100" b="1" dirty="0">
                <a:latin typeface="+mn-ea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2D4BBA6-96B8-42B0-895E-CD89E1B18EF1}"/>
                </a:ext>
              </a:extLst>
            </p:cNvPr>
            <p:cNvSpPr/>
            <p:nvPr/>
          </p:nvSpPr>
          <p:spPr>
            <a:xfrm>
              <a:off x="6079816" y="2778077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latin typeface="+mn-ea"/>
                </a:rPr>
                <a:t>2</a:t>
              </a:r>
              <a:endParaRPr lang="ko-KR" altLang="en-US" sz="1100" b="1" dirty="0">
                <a:latin typeface="+mn-ea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E3740A2F-6F39-4791-92FF-60152BA9D058}"/>
                </a:ext>
              </a:extLst>
            </p:cNvPr>
            <p:cNvSpPr/>
            <p:nvPr/>
          </p:nvSpPr>
          <p:spPr>
            <a:xfrm>
              <a:off x="7087894" y="3433817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latin typeface="+mn-ea"/>
                </a:rPr>
                <a:t>3</a:t>
              </a:r>
              <a:endParaRPr lang="ko-KR" altLang="en-US" sz="1100" b="1" dirty="0">
                <a:latin typeface="+mn-ea"/>
              </a:endParaRPr>
            </a:p>
          </p:txBody>
        </p: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169AC92E-A645-424A-AF88-436EEA7DF52E}"/>
                </a:ext>
              </a:extLst>
            </p:cNvPr>
            <p:cNvSpPr/>
            <p:nvPr/>
          </p:nvSpPr>
          <p:spPr>
            <a:xfrm>
              <a:off x="6443339" y="3435215"/>
              <a:ext cx="180000" cy="1800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latin typeface="+mn-ea"/>
                </a:rPr>
                <a:t>4</a:t>
              </a:r>
              <a:endParaRPr lang="ko-KR" altLang="en-US" sz="1100" b="1" dirty="0">
                <a:latin typeface="+mn-ea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9FDE7AB-DAD2-4624-9F4D-7F0461F72BA5}"/>
                </a:ext>
              </a:extLst>
            </p:cNvPr>
            <p:cNvSpPr txBox="1"/>
            <p:nvPr/>
          </p:nvSpPr>
          <p:spPr>
            <a:xfrm>
              <a:off x="6048388" y="3925800"/>
              <a:ext cx="2733400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①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교환요청</a:t>
              </a: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반품요청 텍스트를 클릭하면 각각 팝업페이지를 띄운다</a:t>
              </a:r>
              <a:endPara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②</a:t>
              </a: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연장사유를 필수로 </a:t>
              </a:r>
              <a:r>
                <a:rPr lang="ko-KR" altLang="en-US" sz="1000" dirty="0" err="1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입력받게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하고 전하실 말씀은 선택사항으로 한다</a:t>
              </a:r>
              <a:endPara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1) 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제품을 받지 못함</a:t>
              </a:r>
              <a:endPara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2) 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제품에 하자가 있어 담당자와 협의중</a:t>
              </a:r>
              <a:endPara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3) 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 검수기간이 지연됨</a:t>
              </a:r>
              <a:endPara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4) </a:t>
              </a:r>
              <a:r>
                <a:rPr lang="ko-KR" altLang="en-US" sz="1000" dirty="0" err="1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상기외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기타 사유</a:t>
              </a:r>
              <a:endPara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③</a:t>
              </a: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구매확정 </a:t>
              </a: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O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 연장하면 자동구매확정이 되지 않도록 주문 상세정보를 변경한다</a:t>
              </a:r>
              <a:endPara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④ 팝업창이 닫히고 내가 참여한 공동구매</a:t>
              </a:r>
              <a:r>
                <a:rPr lang="en-US" altLang="ko-KR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화면으로 돌아간다</a:t>
              </a:r>
              <a:endPara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712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0F7738-5571-43F8-B98B-5CBDD96DE472}"/>
              </a:ext>
            </a:extLst>
          </p:cNvPr>
          <p:cNvSpPr txBox="1"/>
          <p:nvPr/>
        </p:nvSpPr>
        <p:spPr>
          <a:xfrm>
            <a:off x="6095999" y="3470308"/>
            <a:ext cx="561078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교환 개수를 텍스트박스로 입력 받는다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추가비용은 사유선택시 </a:t>
            </a:r>
            <a:r>
              <a:rPr kumimoji="0" lang="ko-KR" alt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자동산출되어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표시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  <a:p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 교환 사유는 드롭다운 리스트로 </a:t>
            </a:r>
            <a:r>
              <a:rPr lang="ko-KR" altLang="en-US" sz="1000" dirty="0" err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입력받고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교환사유에 따라 추가비용 발생여부가 결정된다  ③ 교환 추가비용 확인은 추가비용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할인금액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교환추가비용 총액 부문으로 나뉘어 지고</a:t>
            </a:r>
            <a:endParaRPr lang="en-US" altLang="ko-KR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부문별 세부항목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 err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배송비고객부담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회원등급할인 등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상황에 따라 추가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 가능함</a:t>
            </a:r>
            <a:endParaRPr lang="en-US" altLang="ko-KR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교환요청 버튼 </a:t>
            </a:r>
            <a:r>
              <a:rPr lang="ko-KR" altLang="en-US" sz="1000" dirty="0" err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클릭시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b="1" u="sng" dirty="0" err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하나에스크로</a:t>
            </a:r>
            <a:r>
              <a:rPr lang="ko-KR" altLang="en-US" sz="1000" b="1" u="sng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결제페이지</a:t>
            </a:r>
            <a:r>
              <a:rPr lang="en-US" altLang="ko-KR" sz="1000" b="1" u="sng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b="1" u="sng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가칭</a:t>
            </a:r>
            <a:r>
              <a:rPr lang="en-US" altLang="ko-KR" sz="1000" b="1" u="sng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00" u="sng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이동한다</a:t>
            </a:r>
            <a:endParaRPr lang="en-US" altLang="ko-KR" sz="1000" u="sng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⑤ 팝업창이 닫히고 내가 참여한 공동구매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화면으로 돌아간다</a:t>
            </a:r>
            <a:endParaRPr lang="en-US" altLang="ko-KR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58D23FA-FBC3-44C3-83D9-ADD5F9B722A5}"/>
              </a:ext>
            </a:extLst>
          </p:cNvPr>
          <p:cNvSpPr/>
          <p:nvPr/>
        </p:nvSpPr>
        <p:spPr>
          <a:xfrm>
            <a:off x="394927" y="318995"/>
            <a:ext cx="5439004" cy="56623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F8E886C3-CC32-4377-BF1D-91CFF66C97F9}"/>
              </a:ext>
            </a:extLst>
          </p:cNvPr>
          <p:cNvSpPr/>
          <p:nvPr/>
        </p:nvSpPr>
        <p:spPr>
          <a:xfrm>
            <a:off x="381748" y="90656"/>
            <a:ext cx="892974" cy="21136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+mn-ea"/>
                <a:cs typeface="함초롬바탕" panose="02030504000101010101" pitchFamily="18" charset="-127"/>
              </a:rPr>
              <a:t>교환요청</a:t>
            </a:r>
            <a:endParaRPr lang="ko-KR" altLang="en-US" sz="1000" b="1" dirty="0">
              <a:solidFill>
                <a:sysClr val="windowText" lastClr="000000"/>
              </a:solidFill>
              <a:latin typeface="+mn-ea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900144-7111-4F53-9264-A6F6429CE2C9}"/>
              </a:ext>
            </a:extLst>
          </p:cNvPr>
          <p:cNvGrpSpPr/>
          <p:nvPr/>
        </p:nvGrpSpPr>
        <p:grpSpPr>
          <a:xfrm>
            <a:off x="457309" y="426329"/>
            <a:ext cx="5240072" cy="2405734"/>
            <a:chOff x="457309" y="426329"/>
            <a:chExt cx="5240072" cy="2405734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1865979C-DB1B-4209-8250-525C6DB555B8}"/>
                </a:ext>
              </a:extLst>
            </p:cNvPr>
            <p:cNvGrpSpPr/>
            <p:nvPr/>
          </p:nvGrpSpPr>
          <p:grpSpPr>
            <a:xfrm>
              <a:off x="496761" y="709397"/>
              <a:ext cx="5200620" cy="2122666"/>
              <a:chOff x="496761" y="709397"/>
              <a:chExt cx="5200620" cy="2122666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0329AECB-5E34-48FB-939E-58FFFA00F754}"/>
                  </a:ext>
                </a:extLst>
              </p:cNvPr>
              <p:cNvGrpSpPr/>
              <p:nvPr/>
            </p:nvGrpSpPr>
            <p:grpSpPr>
              <a:xfrm>
                <a:off x="572232" y="777765"/>
                <a:ext cx="5125149" cy="731977"/>
                <a:chOff x="583465" y="661219"/>
                <a:chExt cx="2390863" cy="731977"/>
              </a:xfrm>
            </p:grpSpPr>
            <p:sp>
              <p:nvSpPr>
                <p:cNvPr id="66" name="직사각형 65">
                  <a:extLst>
                    <a:ext uri="{FF2B5EF4-FFF2-40B4-BE49-F238E27FC236}">
                      <a16:creationId xmlns:a16="http://schemas.microsoft.com/office/drawing/2014/main" id="{AA067D9A-7A79-4F53-96CB-736CDB89997A}"/>
                    </a:ext>
                  </a:extLst>
                </p:cNvPr>
                <p:cNvSpPr/>
                <p:nvPr/>
              </p:nvSpPr>
              <p:spPr>
                <a:xfrm>
                  <a:off x="583465" y="661219"/>
                  <a:ext cx="2390863" cy="18527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900" b="1" dirty="0">
                      <a:solidFill>
                        <a:sysClr val="windowText" lastClr="000000"/>
                      </a:solidFill>
                      <a:latin typeface="+mn-ea"/>
                    </a:rPr>
                    <a:t>                      상품정보                    주문수량        주문금액          교환개수     추가비용</a:t>
                  </a:r>
                </a:p>
              </p:txBody>
            </p:sp>
            <p:pic>
              <p:nvPicPr>
                <p:cNvPr id="68" name="그림 67">
                  <a:extLst>
                    <a:ext uri="{FF2B5EF4-FFF2-40B4-BE49-F238E27FC236}">
                      <a16:creationId xmlns:a16="http://schemas.microsoft.com/office/drawing/2014/main" id="{573949FB-8D48-4478-A527-6A8ABEB3C1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77900" y="871777"/>
                  <a:ext cx="218205" cy="474326"/>
                </a:xfrm>
                <a:prstGeom prst="rect">
                  <a:avLst/>
                </a:prstGeom>
                <a:ln w="3175">
                  <a:noFill/>
                </a:ln>
              </p:spPr>
            </p:pic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42E74524-55B9-4051-9071-7B7ABD96B4DB}"/>
                    </a:ext>
                  </a:extLst>
                </p:cNvPr>
                <p:cNvSpPr/>
                <p:nvPr/>
              </p:nvSpPr>
              <p:spPr>
                <a:xfrm>
                  <a:off x="895394" y="998555"/>
                  <a:ext cx="1773927" cy="185270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ysClr val="windowText" lastClr="000000"/>
                      </a:solidFill>
                      <a:latin typeface="+mn-ea"/>
                    </a:rPr>
                    <a:t>오토바이 타이어 </a:t>
                  </a:r>
                  <a:r>
                    <a:rPr lang="en-US" altLang="ko-KR" sz="800" dirty="0">
                      <a:solidFill>
                        <a:sysClr val="windowText" lastClr="000000"/>
                      </a:solidFill>
                      <a:latin typeface="+mn-ea"/>
                    </a:rPr>
                    <a:t>A</a:t>
                  </a:r>
                  <a:r>
                    <a:rPr lang="ko-KR" altLang="en-US" sz="800" dirty="0">
                      <a:solidFill>
                        <a:sysClr val="windowText" lastClr="000000"/>
                      </a:solidFill>
                      <a:latin typeface="+mn-ea"/>
                    </a:rPr>
                    <a:t>타입</a:t>
                  </a:r>
                  <a:endParaRPr lang="en-US" altLang="ko-KR" sz="800" dirty="0">
                    <a:solidFill>
                      <a:sysClr val="windowText" lastClr="000000"/>
                    </a:solidFill>
                    <a:latin typeface="+mn-ea"/>
                  </a:endParaRPr>
                </a:p>
                <a:p>
                  <a:r>
                    <a:rPr lang="en-US" altLang="ko-KR" sz="800" dirty="0">
                      <a:solidFill>
                        <a:sysClr val="windowText" lastClr="000000"/>
                      </a:solidFill>
                      <a:latin typeface="+mn-ea"/>
                    </a:rPr>
                    <a:t>(</a:t>
                  </a:r>
                  <a:r>
                    <a:rPr lang="ko-KR" altLang="en-US" sz="800" dirty="0">
                      <a:solidFill>
                        <a:sysClr val="windowText" lastClr="000000"/>
                      </a:solidFill>
                      <a:latin typeface="+mn-ea"/>
                    </a:rPr>
                    <a:t>주문번호 </a:t>
                  </a:r>
                  <a:r>
                    <a:rPr lang="en-US" altLang="ko-KR" sz="800" dirty="0">
                      <a:solidFill>
                        <a:sysClr val="windowText" lastClr="000000"/>
                      </a:solidFill>
                      <a:latin typeface="+mn-ea"/>
                    </a:rPr>
                    <a:t>: XXXXXXXXXXXXX)</a:t>
                  </a:r>
                  <a:endParaRPr lang="ko-KR" altLang="en-US" sz="800" dirty="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520E3486-7C69-4C83-96D5-E20095222857}"/>
                    </a:ext>
                  </a:extLst>
                </p:cNvPr>
                <p:cNvSpPr/>
                <p:nvPr/>
              </p:nvSpPr>
              <p:spPr>
                <a:xfrm>
                  <a:off x="900608" y="1207926"/>
                  <a:ext cx="1773927" cy="185270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600" u="sng" dirty="0">
                      <a:solidFill>
                        <a:schemeClr val="accent6">
                          <a:lumMod val="75000"/>
                        </a:schemeClr>
                      </a:solidFill>
                      <a:latin typeface="+mn-ea"/>
                    </a:rPr>
                    <a:t>주문상세정보 확인하기</a:t>
                  </a:r>
                </a:p>
              </p:txBody>
            </p:sp>
          </p:grpSp>
          <p:cxnSp>
            <p:nvCxnSpPr>
              <p:cNvPr id="84" name="직선 연결선 83">
                <a:extLst>
                  <a:ext uri="{FF2B5EF4-FFF2-40B4-BE49-F238E27FC236}">
                    <a16:creationId xmlns:a16="http://schemas.microsoft.com/office/drawing/2014/main" id="{E337F34D-8BC0-4FB8-894F-A5D4DBC024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8187" y="709397"/>
                <a:ext cx="518241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F9D0C236-717B-40EB-92FE-56E64FDB40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6761" y="1554008"/>
                <a:ext cx="520062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58A4469-6B1E-4941-B96E-BEBD81260518}"/>
                  </a:ext>
                </a:extLst>
              </p:cNvPr>
              <p:cNvSpPr txBox="1"/>
              <p:nvPr/>
            </p:nvSpPr>
            <p:spPr>
              <a:xfrm>
                <a:off x="2818446" y="1115816"/>
                <a:ext cx="372263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50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25C3DA0-0029-4290-9BDB-11DE9C86AA3E}"/>
                  </a:ext>
                </a:extLst>
              </p:cNvPr>
              <p:cNvSpPr txBox="1"/>
              <p:nvPr/>
            </p:nvSpPr>
            <p:spPr>
              <a:xfrm>
                <a:off x="3432952" y="1115816"/>
                <a:ext cx="904142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4,000,000</a:t>
                </a:r>
              </a:p>
            </p:txBody>
          </p:sp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641BDB3E-FD51-41F2-BBD4-86B211BF49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8035" y="1615367"/>
                <a:ext cx="5179346" cy="1216696"/>
              </a:xfrm>
              <a:prstGeom prst="rect">
                <a:avLst/>
              </a:prstGeom>
            </p:spPr>
          </p:pic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76928D5-BF08-454C-BC15-4CB2059737FE}"/>
                </a:ext>
              </a:extLst>
            </p:cNvPr>
            <p:cNvSpPr txBox="1"/>
            <p:nvPr/>
          </p:nvSpPr>
          <p:spPr>
            <a:xfrm>
              <a:off x="457309" y="426329"/>
              <a:ext cx="27334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1.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교환요청 제품정보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E5F621C5-9717-4485-86AB-145D4CC483E0}"/>
              </a:ext>
            </a:extLst>
          </p:cNvPr>
          <p:cNvSpPr txBox="1"/>
          <p:nvPr/>
        </p:nvSpPr>
        <p:spPr>
          <a:xfrm>
            <a:off x="4481165" y="1113928"/>
            <a:ext cx="37226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1C71E8-6B6F-498E-9867-54A70000BEDE}"/>
              </a:ext>
            </a:extLst>
          </p:cNvPr>
          <p:cNvSpPr txBox="1"/>
          <p:nvPr/>
        </p:nvSpPr>
        <p:spPr>
          <a:xfrm>
            <a:off x="5071350" y="1119261"/>
            <a:ext cx="546542" cy="24622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1,000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3990FE5E-5314-48DA-A156-C3BD85D4829B}"/>
              </a:ext>
            </a:extLst>
          </p:cNvPr>
          <p:cNvGrpSpPr/>
          <p:nvPr/>
        </p:nvGrpSpPr>
        <p:grpSpPr>
          <a:xfrm>
            <a:off x="457309" y="2990816"/>
            <a:ext cx="5339005" cy="2739451"/>
            <a:chOff x="429407" y="2908611"/>
            <a:chExt cx="5339005" cy="2739451"/>
          </a:xfrm>
        </p:grpSpPr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40F4F7B7-AF01-4425-9F15-7FEBA1EB0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6128" y="3140418"/>
              <a:ext cx="5125149" cy="247685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D7850AD-FFFA-4706-91E2-5260E0ED1785}"/>
                </a:ext>
              </a:extLst>
            </p:cNvPr>
            <p:cNvSpPr txBox="1"/>
            <p:nvPr/>
          </p:nvSpPr>
          <p:spPr>
            <a:xfrm>
              <a:off x="429407" y="2908611"/>
              <a:ext cx="2733400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2.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교환수거 제품정보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52" name="그림 51">
              <a:extLst>
                <a:ext uri="{FF2B5EF4-FFF2-40B4-BE49-F238E27FC236}">
                  <a16:creationId xmlns:a16="http://schemas.microsoft.com/office/drawing/2014/main" id="{4C59A0E2-75ED-4EF2-B3FD-2ACB7C8C7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7309" y="3423578"/>
              <a:ext cx="4667901" cy="1381318"/>
            </a:xfrm>
            <a:prstGeom prst="rect">
              <a:avLst/>
            </a:prstGeom>
          </p:spPr>
        </p:pic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5C2CEFE6-6A18-4F3A-ACCE-06583AC0F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98570" y="4790692"/>
              <a:ext cx="3269842" cy="857370"/>
            </a:xfrm>
            <a:prstGeom prst="rect">
              <a:avLst/>
            </a:prstGeom>
          </p:spPr>
        </p:pic>
      </p:grp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5F1509BE-FBEB-4827-AB81-0318B358E02D}"/>
              </a:ext>
            </a:extLst>
          </p:cNvPr>
          <p:cNvSpPr/>
          <p:nvPr/>
        </p:nvSpPr>
        <p:spPr>
          <a:xfrm>
            <a:off x="7113976" y="1905803"/>
            <a:ext cx="1785448" cy="24689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ysClr val="windowText" lastClr="000000"/>
                </a:solidFill>
                <a:latin typeface="+mn-ea"/>
                <a:cs typeface="함초롬바탕" panose="02030504000101010101" pitchFamily="18" charset="-127"/>
              </a:rPr>
              <a:t>교환요청</a:t>
            </a:r>
            <a:r>
              <a:rPr lang="en-US" altLang="ko-KR" sz="900" b="1" dirty="0">
                <a:solidFill>
                  <a:sysClr val="windowText" lastClr="000000"/>
                </a:solidFill>
                <a:latin typeface="+mn-ea"/>
                <a:cs typeface="함초롬바탕" panose="02030504000101010101" pitchFamily="18" charset="-127"/>
              </a:rPr>
              <a:t>(</a:t>
            </a:r>
            <a:r>
              <a:rPr lang="ko-KR" altLang="en-US" sz="900" b="1" dirty="0">
                <a:solidFill>
                  <a:sysClr val="windowText" lastClr="000000"/>
                </a:solidFill>
                <a:latin typeface="+mn-ea"/>
                <a:cs typeface="함초롬바탕" panose="02030504000101010101" pitchFamily="18" charset="-127"/>
              </a:rPr>
              <a:t>추가비용결제</a:t>
            </a:r>
            <a:r>
              <a:rPr lang="en-US" altLang="ko-KR" sz="900" b="1" dirty="0">
                <a:solidFill>
                  <a:sysClr val="windowText" lastClr="000000"/>
                </a:solidFill>
                <a:latin typeface="+mn-ea"/>
                <a:cs typeface="함초롬바탕" panose="02030504000101010101" pitchFamily="18" charset="-127"/>
              </a:rPr>
              <a:t>)</a:t>
            </a:r>
            <a:endParaRPr lang="ko-KR" altLang="en-US" sz="900" b="1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BC0503ED-82E8-4750-A8AD-94A2EE5817A2}"/>
              </a:ext>
            </a:extLst>
          </p:cNvPr>
          <p:cNvSpPr/>
          <p:nvPr/>
        </p:nvSpPr>
        <p:spPr>
          <a:xfrm>
            <a:off x="9026159" y="1905803"/>
            <a:ext cx="1785448" cy="24689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ysClr val="windowText" lastClr="000000"/>
                </a:solidFill>
                <a:latin typeface="+mn-ea"/>
                <a:cs typeface="함초롬바탕" panose="02030504000101010101" pitchFamily="18" charset="-127"/>
              </a:rPr>
              <a:t>교환요청 취소</a:t>
            </a:r>
            <a:endParaRPr lang="ko-KR" altLang="en-US" sz="900" b="1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D4E69DE3-403E-4D85-AA2E-BD9A8AE71926}"/>
              </a:ext>
            </a:extLst>
          </p:cNvPr>
          <p:cNvSpPr/>
          <p:nvPr/>
        </p:nvSpPr>
        <p:spPr>
          <a:xfrm>
            <a:off x="4870860" y="1040465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1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19B1CF88-7A58-42B9-8040-17A858C54F5C}"/>
              </a:ext>
            </a:extLst>
          </p:cNvPr>
          <p:cNvSpPr/>
          <p:nvPr/>
        </p:nvSpPr>
        <p:spPr>
          <a:xfrm>
            <a:off x="7150253" y="1902897"/>
            <a:ext cx="180000" cy="1839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4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DF098110-161D-459B-B222-8404861DB6D4}"/>
              </a:ext>
            </a:extLst>
          </p:cNvPr>
          <p:cNvSpPr/>
          <p:nvPr/>
        </p:nvSpPr>
        <p:spPr>
          <a:xfrm>
            <a:off x="9263830" y="1905803"/>
            <a:ext cx="180000" cy="1839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5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254B92CC-8837-4010-9DD7-5600F02C1837}"/>
              </a:ext>
            </a:extLst>
          </p:cNvPr>
          <p:cNvSpPr/>
          <p:nvPr/>
        </p:nvSpPr>
        <p:spPr>
          <a:xfrm>
            <a:off x="1094721" y="1775236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2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22566D9-AA53-401A-996E-1FD0A87D846F}"/>
              </a:ext>
            </a:extLst>
          </p:cNvPr>
          <p:cNvSpPr/>
          <p:nvPr/>
        </p:nvSpPr>
        <p:spPr>
          <a:xfrm>
            <a:off x="5939624" y="318994"/>
            <a:ext cx="5754189" cy="31100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D4AED4-2DB9-45D1-907A-FB8158F93393}"/>
              </a:ext>
            </a:extLst>
          </p:cNvPr>
          <p:cNvSpPr txBox="1"/>
          <p:nvPr/>
        </p:nvSpPr>
        <p:spPr>
          <a:xfrm>
            <a:off x="5953225" y="426328"/>
            <a:ext cx="2733400" cy="24622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3.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제품교환 관련 </a:t>
            </a: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추가비용 확인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584B8F-EF83-44EB-97AD-AA5955FA52B5}"/>
              </a:ext>
            </a:extLst>
          </p:cNvPr>
          <p:cNvSpPr txBox="1"/>
          <p:nvPr/>
        </p:nvSpPr>
        <p:spPr>
          <a:xfrm>
            <a:off x="5935458" y="829447"/>
            <a:ext cx="207124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추가비용          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5,000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원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000" dirty="0" err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배송비고객부담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2,500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lang="en-US" altLang="ko-KR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-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구매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단가상승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    0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lang="en-US" altLang="ko-KR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OOOOO    2,500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97982B-A1DD-48A2-BBD6-D43CE6C180C8}"/>
              </a:ext>
            </a:extLst>
          </p:cNvPr>
          <p:cNvSpPr txBox="1"/>
          <p:nvPr/>
        </p:nvSpPr>
        <p:spPr>
          <a:xfrm>
            <a:off x="508054" y="1062953"/>
            <a:ext cx="3012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□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3FDF57-F468-4D8C-B0B9-C4CA99AE3ACC}"/>
              </a:ext>
            </a:extLst>
          </p:cNvPr>
          <p:cNvSpPr txBox="1"/>
          <p:nvPr/>
        </p:nvSpPr>
        <p:spPr>
          <a:xfrm>
            <a:off x="505219" y="745260"/>
            <a:ext cx="3012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▣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988AFE-4BEE-43FD-8ED3-6C9DAE54081F}"/>
              </a:ext>
            </a:extLst>
          </p:cNvPr>
          <p:cNvSpPr txBox="1"/>
          <p:nvPr/>
        </p:nvSpPr>
        <p:spPr>
          <a:xfrm>
            <a:off x="7967031" y="841432"/>
            <a:ext cx="181193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할인금액     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1,000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원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회원등급할인  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lang="en-US" altLang="ko-KR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당사과실부담  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500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lang="en-US" altLang="ko-KR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-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기타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OO            0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lang="en-US" altLang="ko-KR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9FBA335-B2BC-40C4-BB8D-8A9006752E9E}"/>
              </a:ext>
            </a:extLst>
          </p:cNvPr>
          <p:cNvSpPr/>
          <p:nvPr/>
        </p:nvSpPr>
        <p:spPr>
          <a:xfrm>
            <a:off x="5978003" y="745260"/>
            <a:ext cx="1959497" cy="9108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2F4E10C-FBDC-44E3-92A3-12363E6D2910}"/>
              </a:ext>
            </a:extLst>
          </p:cNvPr>
          <p:cNvSpPr/>
          <p:nvPr/>
        </p:nvSpPr>
        <p:spPr>
          <a:xfrm>
            <a:off x="5980402" y="741588"/>
            <a:ext cx="180000" cy="183938"/>
          </a:xfrm>
          <a:prstGeom prst="ellipse">
            <a:avLst/>
          </a:prstGeom>
          <a:solidFill>
            <a:srgbClr val="A3D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+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1F6A0B0-978F-4CA3-A7F8-EFE60999A34E}"/>
              </a:ext>
            </a:extLst>
          </p:cNvPr>
          <p:cNvSpPr/>
          <p:nvPr/>
        </p:nvSpPr>
        <p:spPr>
          <a:xfrm>
            <a:off x="7939899" y="745260"/>
            <a:ext cx="1522472" cy="9108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E87A2BC-AE74-4509-A3DE-25A4C1607A2A}"/>
              </a:ext>
            </a:extLst>
          </p:cNvPr>
          <p:cNvSpPr/>
          <p:nvPr/>
        </p:nvSpPr>
        <p:spPr>
          <a:xfrm>
            <a:off x="7932665" y="741588"/>
            <a:ext cx="180000" cy="183938"/>
          </a:xfrm>
          <a:prstGeom prst="ellipse">
            <a:avLst/>
          </a:prstGeom>
          <a:solidFill>
            <a:srgbClr val="A3D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-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02B6AB2-E895-4FFA-AAA8-648EE4A45D78}"/>
              </a:ext>
            </a:extLst>
          </p:cNvPr>
          <p:cNvSpPr/>
          <p:nvPr/>
        </p:nvSpPr>
        <p:spPr>
          <a:xfrm>
            <a:off x="9462372" y="745260"/>
            <a:ext cx="1982596" cy="9108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2EF05F33-D9C5-4A00-B7C9-F4665B40A8A2}"/>
              </a:ext>
            </a:extLst>
          </p:cNvPr>
          <p:cNvSpPr/>
          <p:nvPr/>
        </p:nvSpPr>
        <p:spPr>
          <a:xfrm>
            <a:off x="9487869" y="741588"/>
            <a:ext cx="180000" cy="183938"/>
          </a:xfrm>
          <a:prstGeom prst="ellipse">
            <a:avLst/>
          </a:prstGeom>
          <a:solidFill>
            <a:srgbClr val="A3D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=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5874CD-9078-4BA8-97A9-9F21FE9FACC5}"/>
              </a:ext>
            </a:extLst>
          </p:cNvPr>
          <p:cNvSpPr txBox="1"/>
          <p:nvPr/>
        </p:nvSpPr>
        <p:spPr>
          <a:xfrm>
            <a:off x="9462371" y="855654"/>
            <a:ext cx="1982596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교환추가비용 총액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5,000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원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endParaRPr lang="en-US" altLang="ko-KR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6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- </a:t>
            </a:r>
            <a:r>
              <a:rPr lang="ko-KR" altLang="en-US" sz="10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포인트 </a:t>
            </a:r>
            <a:r>
              <a:rPr lang="ko-KR" altLang="en-US" sz="1000" b="1" dirty="0" err="1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적립액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   50 </a:t>
            </a:r>
            <a:r>
              <a:rPr lang="ko-KR" altLang="en-US" sz="10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lang="en-US" altLang="ko-KR" sz="1000" b="1" dirty="0">
              <a:solidFill>
                <a:schemeClr val="accent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-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포인트 </a:t>
            </a:r>
            <a:r>
              <a:rPr kumimoji="0" lang="ko-KR" altLang="en-US" sz="10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환입액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    0 </a:t>
            </a:r>
            <a:r>
              <a:rPr lang="ko-KR" altLang="en-US" sz="1000" b="1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6308C0A-1E9C-41A8-B899-3AC8A91AFB8E}"/>
              </a:ext>
            </a:extLst>
          </p:cNvPr>
          <p:cNvSpPr/>
          <p:nvPr/>
        </p:nvSpPr>
        <p:spPr>
          <a:xfrm>
            <a:off x="7877031" y="429326"/>
            <a:ext cx="180000" cy="18393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3</a:t>
            </a:r>
            <a:endParaRPr lang="ko-KR" altLang="en-US" sz="11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54215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직사각형 62">
            <a:extLst>
              <a:ext uri="{FF2B5EF4-FFF2-40B4-BE49-F238E27FC236}">
                <a16:creationId xmlns:a16="http://schemas.microsoft.com/office/drawing/2014/main" id="{158D23FA-FBC3-44C3-83D9-ADD5F9B722A5}"/>
              </a:ext>
            </a:extLst>
          </p:cNvPr>
          <p:cNvSpPr/>
          <p:nvPr/>
        </p:nvSpPr>
        <p:spPr>
          <a:xfrm>
            <a:off x="394926" y="318994"/>
            <a:ext cx="5568281" cy="61126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F8E886C3-CC32-4377-BF1D-91CFF66C97F9}"/>
              </a:ext>
            </a:extLst>
          </p:cNvPr>
          <p:cNvSpPr/>
          <p:nvPr/>
        </p:nvSpPr>
        <p:spPr>
          <a:xfrm>
            <a:off x="386537" y="133367"/>
            <a:ext cx="882313" cy="18082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ysClr val="windowText" lastClr="000000"/>
                </a:solidFill>
                <a:latin typeface="+mn-ea"/>
                <a:cs typeface="함초롬바탕" panose="02030504000101010101" pitchFamily="18" charset="-127"/>
              </a:rPr>
              <a:t>반품요청</a:t>
            </a:r>
            <a:endParaRPr lang="ko-KR" altLang="en-US" sz="1000" b="1" dirty="0">
              <a:solidFill>
                <a:sysClr val="windowText" lastClr="000000"/>
              </a:solidFill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EB10CD8A-9A5B-4882-9606-EC9EB519D5BB}"/>
              </a:ext>
            </a:extLst>
          </p:cNvPr>
          <p:cNvGrpSpPr/>
          <p:nvPr/>
        </p:nvGrpSpPr>
        <p:grpSpPr>
          <a:xfrm>
            <a:off x="470800" y="375809"/>
            <a:ext cx="5240072" cy="1127679"/>
            <a:chOff x="457309" y="426329"/>
            <a:chExt cx="5240072" cy="1127679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18FFA297-7EF7-423F-B788-C452DA91EF4D}"/>
                </a:ext>
              </a:extLst>
            </p:cNvPr>
            <p:cNvGrpSpPr/>
            <p:nvPr/>
          </p:nvGrpSpPr>
          <p:grpSpPr>
            <a:xfrm>
              <a:off x="496761" y="709397"/>
              <a:ext cx="5200620" cy="844611"/>
              <a:chOff x="496761" y="709397"/>
              <a:chExt cx="5200620" cy="844611"/>
            </a:xfrm>
          </p:grpSpPr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A692D973-EB70-40DC-9912-4CFE4483DB8F}"/>
                  </a:ext>
                </a:extLst>
              </p:cNvPr>
              <p:cNvGrpSpPr/>
              <p:nvPr/>
            </p:nvGrpSpPr>
            <p:grpSpPr>
              <a:xfrm>
                <a:off x="572232" y="777765"/>
                <a:ext cx="5125149" cy="731977"/>
                <a:chOff x="583465" y="661219"/>
                <a:chExt cx="2390863" cy="731977"/>
              </a:xfrm>
            </p:grpSpPr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4F051C16-CA65-4856-9C3B-1CF41E9D6729}"/>
                    </a:ext>
                  </a:extLst>
                </p:cNvPr>
                <p:cNvSpPr/>
                <p:nvPr/>
              </p:nvSpPr>
              <p:spPr>
                <a:xfrm>
                  <a:off x="583465" y="661219"/>
                  <a:ext cx="2390863" cy="18527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900" b="1" dirty="0">
                      <a:solidFill>
                        <a:sysClr val="windowText" lastClr="000000"/>
                      </a:solidFill>
                      <a:latin typeface="+mn-ea"/>
                    </a:rPr>
                    <a:t>                      상품정보                    주문수량        주문금액      반품개수  환불</a:t>
                  </a:r>
                  <a:r>
                    <a:rPr lang="en-US" altLang="ko-KR" sz="900" b="1" dirty="0">
                      <a:solidFill>
                        <a:sysClr val="windowText" lastClr="000000"/>
                      </a:solidFill>
                      <a:latin typeface="+mn-ea"/>
                    </a:rPr>
                    <a:t>(</a:t>
                  </a:r>
                  <a:r>
                    <a:rPr lang="ko-KR" altLang="en-US" sz="900" b="1" dirty="0">
                      <a:solidFill>
                        <a:sysClr val="windowText" lastClr="000000"/>
                      </a:solidFill>
                      <a:latin typeface="+mn-ea"/>
                    </a:rPr>
                    <a:t>추가</a:t>
                  </a:r>
                  <a:r>
                    <a:rPr lang="en-US" altLang="ko-KR" sz="900" b="1" dirty="0">
                      <a:solidFill>
                        <a:sysClr val="windowText" lastClr="000000"/>
                      </a:solidFill>
                      <a:latin typeface="+mn-ea"/>
                    </a:rPr>
                    <a:t>)</a:t>
                  </a:r>
                  <a:r>
                    <a:rPr lang="ko-KR" altLang="en-US" sz="900" b="1" dirty="0">
                      <a:solidFill>
                        <a:sysClr val="windowText" lastClr="000000"/>
                      </a:solidFill>
                      <a:latin typeface="+mn-ea"/>
                    </a:rPr>
                    <a:t>비용</a:t>
                  </a:r>
                </a:p>
              </p:txBody>
            </p:sp>
            <p:pic>
              <p:nvPicPr>
                <p:cNvPr id="14" name="그림 13">
                  <a:extLst>
                    <a:ext uri="{FF2B5EF4-FFF2-40B4-BE49-F238E27FC236}">
                      <a16:creationId xmlns:a16="http://schemas.microsoft.com/office/drawing/2014/main" id="{265AD3DE-0AE8-4312-A5FF-3BC174C1B6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82969" y="879740"/>
                  <a:ext cx="218205" cy="474326"/>
                </a:xfrm>
                <a:prstGeom prst="rect">
                  <a:avLst/>
                </a:prstGeom>
                <a:ln w="3175">
                  <a:noFill/>
                </a:ln>
              </p:spPr>
            </p:pic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983528D5-DE59-4DC3-A41A-D08C6ECB0444}"/>
                    </a:ext>
                  </a:extLst>
                </p:cNvPr>
                <p:cNvSpPr/>
                <p:nvPr/>
              </p:nvSpPr>
              <p:spPr>
                <a:xfrm>
                  <a:off x="895394" y="998555"/>
                  <a:ext cx="1773927" cy="185270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ysClr val="windowText" lastClr="000000"/>
                      </a:solidFill>
                      <a:latin typeface="+mn-ea"/>
                    </a:rPr>
                    <a:t>오토바이 타이어 </a:t>
                  </a:r>
                  <a:r>
                    <a:rPr lang="en-US" altLang="ko-KR" sz="800" dirty="0">
                      <a:solidFill>
                        <a:sysClr val="windowText" lastClr="000000"/>
                      </a:solidFill>
                      <a:latin typeface="+mn-ea"/>
                    </a:rPr>
                    <a:t>A</a:t>
                  </a:r>
                  <a:r>
                    <a:rPr lang="ko-KR" altLang="en-US" sz="800" dirty="0">
                      <a:solidFill>
                        <a:sysClr val="windowText" lastClr="000000"/>
                      </a:solidFill>
                      <a:latin typeface="+mn-ea"/>
                    </a:rPr>
                    <a:t>타입</a:t>
                  </a:r>
                  <a:endParaRPr lang="en-US" altLang="ko-KR" sz="800" dirty="0">
                    <a:solidFill>
                      <a:sysClr val="windowText" lastClr="000000"/>
                    </a:solidFill>
                    <a:latin typeface="+mn-ea"/>
                  </a:endParaRPr>
                </a:p>
                <a:p>
                  <a:r>
                    <a:rPr lang="en-US" altLang="ko-KR" sz="800" dirty="0">
                      <a:solidFill>
                        <a:sysClr val="windowText" lastClr="000000"/>
                      </a:solidFill>
                      <a:latin typeface="+mn-ea"/>
                    </a:rPr>
                    <a:t>(</a:t>
                  </a:r>
                  <a:r>
                    <a:rPr lang="ko-KR" altLang="en-US" sz="800" dirty="0">
                      <a:solidFill>
                        <a:sysClr val="windowText" lastClr="000000"/>
                      </a:solidFill>
                      <a:latin typeface="+mn-ea"/>
                    </a:rPr>
                    <a:t>주문번호 </a:t>
                  </a:r>
                  <a:r>
                    <a:rPr lang="en-US" altLang="ko-KR" sz="800" dirty="0">
                      <a:solidFill>
                        <a:sysClr val="windowText" lastClr="000000"/>
                      </a:solidFill>
                      <a:latin typeface="+mn-ea"/>
                    </a:rPr>
                    <a:t>: XXXXXXXXXXXXX)</a:t>
                  </a:r>
                  <a:endParaRPr lang="ko-KR" altLang="en-US" sz="800" dirty="0">
                    <a:solidFill>
                      <a:sysClr val="windowText" lastClr="000000"/>
                    </a:solidFill>
                    <a:latin typeface="+mn-ea"/>
                  </a:endParaRPr>
                </a:p>
              </p:txBody>
            </p:sp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28E8365A-B861-4AE5-A531-8A7E992DCAC6}"/>
                    </a:ext>
                  </a:extLst>
                </p:cNvPr>
                <p:cNvSpPr/>
                <p:nvPr/>
              </p:nvSpPr>
              <p:spPr>
                <a:xfrm>
                  <a:off x="900608" y="1207926"/>
                  <a:ext cx="1773927" cy="185270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600" u="sng" dirty="0">
                      <a:solidFill>
                        <a:schemeClr val="accent6">
                          <a:lumMod val="75000"/>
                        </a:schemeClr>
                      </a:solidFill>
                      <a:latin typeface="+mn-ea"/>
                    </a:rPr>
                    <a:t>주문상세정보 확인하기</a:t>
                  </a:r>
                </a:p>
              </p:txBody>
            </p:sp>
          </p:grpSp>
          <p:cxnSp>
            <p:nvCxnSpPr>
              <p:cNvPr id="8" name="직선 연결선 7">
                <a:extLst>
                  <a:ext uri="{FF2B5EF4-FFF2-40B4-BE49-F238E27FC236}">
                    <a16:creationId xmlns:a16="http://schemas.microsoft.com/office/drawing/2014/main" id="{C8FE8C19-F2AC-4CF9-938F-2A91C02474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8187" y="709397"/>
                <a:ext cx="5182416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직선 연결선 8">
                <a:extLst>
                  <a:ext uri="{FF2B5EF4-FFF2-40B4-BE49-F238E27FC236}">
                    <a16:creationId xmlns:a16="http://schemas.microsoft.com/office/drawing/2014/main" id="{1EAF1BE0-E1FE-4CB8-9821-D27034DAF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6761" y="1554008"/>
                <a:ext cx="520062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C6E111-8CA8-415D-9E73-AE34BDAA5E01}"/>
                  </a:ext>
                </a:extLst>
              </p:cNvPr>
              <p:cNvSpPr txBox="1"/>
              <p:nvPr/>
            </p:nvSpPr>
            <p:spPr>
              <a:xfrm>
                <a:off x="2817727" y="1099801"/>
                <a:ext cx="372263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50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799941-C608-4693-9A1B-C67210B9F8E4}"/>
                  </a:ext>
                </a:extLst>
              </p:cNvPr>
              <p:cNvSpPr txBox="1"/>
              <p:nvPr/>
            </p:nvSpPr>
            <p:spPr>
              <a:xfrm>
                <a:off x="3432952" y="1115816"/>
                <a:ext cx="904142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ko-KR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4,000,000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A67311F-26BC-4163-8374-4562305459AE}"/>
                </a:ext>
              </a:extLst>
            </p:cNvPr>
            <p:cNvSpPr txBox="1"/>
            <p:nvPr/>
          </p:nvSpPr>
          <p:spPr>
            <a:xfrm>
              <a:off x="457309" y="426329"/>
              <a:ext cx="27334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1.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반품요청 제품정보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F9951D1-1E4B-4C73-80B4-6BED39764FAD}"/>
              </a:ext>
            </a:extLst>
          </p:cNvPr>
          <p:cNvSpPr txBox="1"/>
          <p:nvPr/>
        </p:nvSpPr>
        <p:spPr>
          <a:xfrm>
            <a:off x="524751" y="1060346"/>
            <a:ext cx="3012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□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FBA55B-23D3-474D-AF78-BBECB15EC520}"/>
              </a:ext>
            </a:extLst>
          </p:cNvPr>
          <p:cNvSpPr txBox="1"/>
          <p:nvPr/>
        </p:nvSpPr>
        <p:spPr>
          <a:xfrm>
            <a:off x="530386" y="745260"/>
            <a:ext cx="3012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▣</a:t>
            </a: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C613C6C2-E50B-4EA1-858A-A3C0EC393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54" y="1609333"/>
            <a:ext cx="5284825" cy="131166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59DA753-A352-44CA-90E1-A39A5A3A05C8}"/>
              </a:ext>
            </a:extLst>
          </p:cNvPr>
          <p:cNvSpPr txBox="1"/>
          <p:nvPr/>
        </p:nvSpPr>
        <p:spPr>
          <a:xfrm>
            <a:off x="508054" y="2961793"/>
            <a:ext cx="2733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반품수거 정보입력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11A2B8-8FC3-4B8B-9E14-19BFAAB1DBB1}"/>
              </a:ext>
            </a:extLst>
          </p:cNvPr>
          <p:cNvSpPr txBox="1"/>
          <p:nvPr/>
        </p:nvSpPr>
        <p:spPr>
          <a:xfrm>
            <a:off x="6268683" y="426328"/>
            <a:ext cx="2733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3.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환불 예정금액 산출내역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1F4C34D-A850-47F0-B16C-764E2E7B8C3D}"/>
              </a:ext>
            </a:extLst>
          </p:cNvPr>
          <p:cNvSpPr/>
          <p:nvPr/>
        </p:nvSpPr>
        <p:spPr>
          <a:xfrm>
            <a:off x="6045325" y="318995"/>
            <a:ext cx="5740900" cy="23988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8C9A0E1F-358A-402E-8166-22BC5E0345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399" y="3399056"/>
            <a:ext cx="5195480" cy="2307284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703DE300-3BD3-47A9-8120-1EF5741448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63" y="3199152"/>
            <a:ext cx="5233216" cy="247685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01DE0EB0-0D86-4AD5-8091-7A19907B553B}"/>
              </a:ext>
            </a:extLst>
          </p:cNvPr>
          <p:cNvSpPr/>
          <p:nvPr/>
        </p:nvSpPr>
        <p:spPr>
          <a:xfrm>
            <a:off x="7155616" y="1856539"/>
            <a:ext cx="1785448" cy="24689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ysClr val="windowText" lastClr="000000"/>
                </a:solidFill>
                <a:latin typeface="+mn-ea"/>
                <a:cs typeface="함초롬바탕" panose="02030504000101010101" pitchFamily="18" charset="-127"/>
              </a:rPr>
              <a:t>반품요청</a:t>
            </a:r>
            <a:r>
              <a:rPr lang="en-US" altLang="ko-KR" sz="900" b="1" dirty="0">
                <a:solidFill>
                  <a:sysClr val="windowText" lastClr="000000"/>
                </a:solidFill>
                <a:latin typeface="+mn-ea"/>
                <a:cs typeface="함초롬바탕" panose="02030504000101010101" pitchFamily="18" charset="-127"/>
              </a:rPr>
              <a:t>(</a:t>
            </a:r>
            <a:r>
              <a:rPr lang="ko-KR" altLang="en-US" sz="900" b="1" dirty="0">
                <a:solidFill>
                  <a:sysClr val="windowText" lastClr="000000"/>
                </a:solidFill>
                <a:latin typeface="+mn-ea"/>
                <a:cs typeface="함초롬바탕" panose="02030504000101010101" pitchFamily="18" charset="-127"/>
              </a:rPr>
              <a:t>비용정산</a:t>
            </a:r>
            <a:r>
              <a:rPr lang="en-US" altLang="ko-KR" sz="900" b="1" dirty="0">
                <a:solidFill>
                  <a:sysClr val="windowText" lastClr="000000"/>
                </a:solidFill>
                <a:latin typeface="+mn-ea"/>
                <a:cs typeface="함초롬바탕" panose="02030504000101010101" pitchFamily="18" charset="-127"/>
              </a:rPr>
              <a:t>)</a:t>
            </a:r>
            <a:endParaRPr lang="ko-KR" altLang="en-US" sz="900" b="1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07CF2DC-B282-490A-8B29-FA067A834B8D}"/>
              </a:ext>
            </a:extLst>
          </p:cNvPr>
          <p:cNvSpPr/>
          <p:nvPr/>
        </p:nvSpPr>
        <p:spPr>
          <a:xfrm>
            <a:off x="9067799" y="1856539"/>
            <a:ext cx="1785448" cy="24689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ysClr val="windowText" lastClr="000000"/>
                </a:solidFill>
                <a:latin typeface="+mn-ea"/>
                <a:cs typeface="함초롬바탕" panose="02030504000101010101" pitchFamily="18" charset="-127"/>
              </a:rPr>
              <a:t>반품요청 취소</a:t>
            </a:r>
            <a:endParaRPr lang="ko-KR" altLang="en-US" sz="900" b="1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E437A3-B0B7-472A-A8C0-09FE92EB7AF2}"/>
              </a:ext>
            </a:extLst>
          </p:cNvPr>
          <p:cNvSpPr txBox="1"/>
          <p:nvPr/>
        </p:nvSpPr>
        <p:spPr>
          <a:xfrm>
            <a:off x="6221208" y="829447"/>
            <a:ext cx="207124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취소</a:t>
            </a: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ko-KR" altLang="en-US" sz="1000" b="1" dirty="0" err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총금액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800,000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원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</a:t>
            </a:r>
            <a:r>
              <a:rPr lang="ko-KR" altLang="en-US" sz="800" dirty="0" err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상품액</a:t>
            </a: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800,000 </a:t>
            </a: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lang="en-US" altLang="ko-KR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-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취소 </a:t>
            </a: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배송비                       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lang="en-US" altLang="ko-KR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- </a:t>
            </a: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기타 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OOO</a:t>
            </a: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</a:t>
            </a: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751458-D362-4B0E-8C76-E6EEF728170A}"/>
              </a:ext>
            </a:extLst>
          </p:cNvPr>
          <p:cNvSpPr txBox="1"/>
          <p:nvPr/>
        </p:nvSpPr>
        <p:spPr>
          <a:xfrm>
            <a:off x="8235849" y="822382"/>
            <a:ext cx="19979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환불금액 차감내역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5,000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원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배송비 고객부담       </a:t>
            </a:r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5,000 </a:t>
            </a: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lang="en-US" altLang="ko-KR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-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취소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반품비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환불금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차감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0 </a:t>
            </a:r>
            <a:r>
              <a:rPr lang="ko-KR" altLang="en-US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lang="en-US" altLang="ko-KR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CBE2B21-D45B-4D88-B09A-3BE534F29245}"/>
              </a:ext>
            </a:extLst>
          </p:cNvPr>
          <p:cNvSpPr/>
          <p:nvPr/>
        </p:nvSpPr>
        <p:spPr>
          <a:xfrm>
            <a:off x="6263753" y="745260"/>
            <a:ext cx="1959497" cy="9108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2FE9CFC-58B1-4A3F-9186-94C4BDAFACD3}"/>
              </a:ext>
            </a:extLst>
          </p:cNvPr>
          <p:cNvSpPr/>
          <p:nvPr/>
        </p:nvSpPr>
        <p:spPr>
          <a:xfrm>
            <a:off x="6266152" y="741588"/>
            <a:ext cx="180000" cy="183938"/>
          </a:xfrm>
          <a:prstGeom prst="ellipse">
            <a:avLst/>
          </a:prstGeom>
          <a:solidFill>
            <a:srgbClr val="A3D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+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B991552-61BF-435A-9D42-72FB816C5962}"/>
              </a:ext>
            </a:extLst>
          </p:cNvPr>
          <p:cNvSpPr/>
          <p:nvPr/>
        </p:nvSpPr>
        <p:spPr>
          <a:xfrm>
            <a:off x="8225648" y="745260"/>
            <a:ext cx="1734837" cy="9108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5E64467-43C1-435B-A4B0-AE2A35D417A5}"/>
              </a:ext>
            </a:extLst>
          </p:cNvPr>
          <p:cNvSpPr/>
          <p:nvPr/>
        </p:nvSpPr>
        <p:spPr>
          <a:xfrm>
            <a:off x="8218415" y="741588"/>
            <a:ext cx="180000" cy="183938"/>
          </a:xfrm>
          <a:prstGeom prst="ellipse">
            <a:avLst/>
          </a:prstGeom>
          <a:solidFill>
            <a:srgbClr val="A3D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-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0E15227-45BA-49A6-92A4-B8E847C2CDB0}"/>
              </a:ext>
            </a:extLst>
          </p:cNvPr>
          <p:cNvSpPr/>
          <p:nvPr/>
        </p:nvSpPr>
        <p:spPr>
          <a:xfrm>
            <a:off x="9960485" y="745260"/>
            <a:ext cx="1684926" cy="91082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838A9EE-F192-4316-B726-422DC56DBB34}"/>
              </a:ext>
            </a:extLst>
          </p:cNvPr>
          <p:cNvSpPr/>
          <p:nvPr/>
        </p:nvSpPr>
        <p:spPr>
          <a:xfrm>
            <a:off x="9960485" y="752518"/>
            <a:ext cx="180000" cy="183938"/>
          </a:xfrm>
          <a:prstGeom prst="ellipse">
            <a:avLst/>
          </a:prstGeom>
          <a:solidFill>
            <a:srgbClr val="A3D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=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D8AADE-4C53-453D-A7E2-9E259B72FFF0}"/>
              </a:ext>
            </a:extLst>
          </p:cNvPr>
          <p:cNvSpPr txBox="1"/>
          <p:nvPr/>
        </p:nvSpPr>
        <p:spPr>
          <a:xfrm>
            <a:off x="9875320" y="829447"/>
            <a:ext cx="179193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환불 </a:t>
            </a:r>
            <a:r>
              <a:rPr lang="ko-KR" altLang="en-US" sz="1000" b="1" dirty="0" err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예상액</a:t>
            </a: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795,000</a:t>
            </a:r>
            <a:r>
              <a:rPr kumimoji="0" lang="ko-KR" altLang="en-US" sz="1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원</a:t>
            </a:r>
            <a:endParaRPr kumimoji="0" lang="en-US" altLang="ko-KR" sz="10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endParaRPr lang="en-US" altLang="ko-KR" sz="8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r>
              <a:rPr lang="en-US" altLang="ko-KR" sz="8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en-US" altLang="ko-KR" sz="800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- </a:t>
            </a:r>
            <a:r>
              <a:rPr lang="ko-KR" altLang="en-US" sz="800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포인트 </a:t>
            </a:r>
            <a:r>
              <a:rPr lang="ko-KR" altLang="en-US" sz="800" dirty="0" err="1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환입액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       800 </a:t>
            </a:r>
            <a:r>
              <a:rPr lang="ko-KR" altLang="en-US" sz="800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lang="en-US" altLang="ko-KR" sz="800" dirty="0">
              <a:solidFill>
                <a:schemeClr val="accent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800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- </a:t>
            </a:r>
            <a:r>
              <a:rPr lang="ko-KR" altLang="en-US" sz="800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포인트 </a:t>
            </a:r>
            <a:r>
              <a:rPr lang="ko-KR" altLang="en-US" sz="800" dirty="0" err="1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적립액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            0 </a:t>
            </a:r>
            <a:r>
              <a:rPr lang="ko-KR" altLang="en-US" sz="800" dirty="0"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</a:t>
            </a:r>
            <a:endParaRPr lang="en-US" altLang="ko-KR" sz="800" dirty="0">
              <a:solidFill>
                <a:schemeClr val="accent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</a:t>
            </a:r>
          </a:p>
          <a:p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8F8940-A315-4F94-8DD8-9FCA8E22582E}"/>
              </a:ext>
            </a:extLst>
          </p:cNvPr>
          <p:cNvSpPr txBox="1"/>
          <p:nvPr/>
        </p:nvSpPr>
        <p:spPr>
          <a:xfrm>
            <a:off x="6059539" y="3045113"/>
            <a:ext cx="58953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①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반품 개수를 텍스트박스로 입력 받는다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환불금액 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or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추가비용은 사유선택시 자동산출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되어 표시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  <a:p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② 반품 사유는 </a:t>
            </a:r>
            <a:r>
              <a:rPr lang="ko-KR" altLang="en-US" sz="1000" dirty="0" err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드롭다운리스트로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 err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입력받고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교환 사유에 따라 환불금액과 추가비용이 결정된다 </a:t>
            </a:r>
            <a:endParaRPr lang="en-US" altLang="ko-KR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③ 환불 예정금액 산출은 취소상품 금액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환불금액 차감내역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환불예상액 부문으로 나뉘어 지고</a:t>
            </a:r>
            <a:endParaRPr lang="en-US" altLang="ko-KR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각부문별 세부 항목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취소 </a:t>
            </a:r>
            <a:r>
              <a:rPr lang="ko-KR" altLang="en-US" sz="1000" dirty="0" err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상품액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배송비 고객부담 등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상황에 따라 변경할 수 있도록 개발한다</a:t>
            </a:r>
            <a:endParaRPr lang="en-US" altLang="ko-KR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반품요청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비용정산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버튼 </a:t>
            </a:r>
            <a:r>
              <a:rPr lang="ko-KR" altLang="en-US" sz="1000" dirty="0" err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클릭시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b="1" u="sng" dirty="0" err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하나에스크로</a:t>
            </a:r>
            <a:r>
              <a:rPr lang="ko-KR" altLang="en-US" sz="1000" b="1" u="sng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결제페이지</a:t>
            </a:r>
            <a:r>
              <a:rPr lang="en-US" altLang="ko-KR" sz="1000" b="1" u="sng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000" b="1" u="sng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가칭</a:t>
            </a:r>
            <a:r>
              <a:rPr lang="en-US" altLang="ko-KR" sz="1000" b="1" u="sng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000" u="sng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이동한다</a:t>
            </a:r>
            <a:endParaRPr lang="en-US" altLang="ko-KR" sz="1000" u="sng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⑤ 팝업창이 닫히고 내가 참여한 공동구매</a:t>
            </a:r>
            <a:r>
              <a:rPr lang="en-US" altLang="ko-KR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화면으로 돌아간다</a:t>
            </a:r>
            <a:endParaRPr lang="en-US" altLang="ko-KR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5C405C-B2D8-4C6A-AA66-CDE6C08046C3}"/>
              </a:ext>
            </a:extLst>
          </p:cNvPr>
          <p:cNvSpPr txBox="1"/>
          <p:nvPr/>
        </p:nvSpPr>
        <p:spPr>
          <a:xfrm>
            <a:off x="4302350" y="1081235"/>
            <a:ext cx="37226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6EB81AD-E008-46B3-82B5-909D3EB75765}"/>
              </a:ext>
            </a:extLst>
          </p:cNvPr>
          <p:cNvSpPr txBox="1"/>
          <p:nvPr/>
        </p:nvSpPr>
        <p:spPr>
          <a:xfrm>
            <a:off x="4870630" y="1081838"/>
            <a:ext cx="676515" cy="246221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795,000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9DAE9B67-A719-486C-A74E-C091D94F94D4}"/>
              </a:ext>
            </a:extLst>
          </p:cNvPr>
          <p:cNvSpPr/>
          <p:nvPr/>
        </p:nvSpPr>
        <p:spPr>
          <a:xfrm>
            <a:off x="4677922" y="100198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1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22AFF66A-70C2-4C71-A459-E1B32F63C534}"/>
              </a:ext>
            </a:extLst>
          </p:cNvPr>
          <p:cNvSpPr/>
          <p:nvPr/>
        </p:nvSpPr>
        <p:spPr>
          <a:xfrm>
            <a:off x="1175563" y="1746017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2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2F643400-8421-4718-8D75-3140BC6828BD}"/>
              </a:ext>
            </a:extLst>
          </p:cNvPr>
          <p:cNvSpPr/>
          <p:nvPr/>
        </p:nvSpPr>
        <p:spPr>
          <a:xfrm>
            <a:off x="7868340" y="40891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3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798A1AB3-2D79-4490-A9A6-268CFCA4ED9A}"/>
              </a:ext>
            </a:extLst>
          </p:cNvPr>
          <p:cNvSpPr/>
          <p:nvPr/>
        </p:nvSpPr>
        <p:spPr>
          <a:xfrm>
            <a:off x="7366077" y="1811400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4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DE84F571-BE95-4662-A2D9-F92F30412F7E}"/>
              </a:ext>
            </a:extLst>
          </p:cNvPr>
          <p:cNvSpPr/>
          <p:nvPr/>
        </p:nvSpPr>
        <p:spPr>
          <a:xfrm>
            <a:off x="9429122" y="1816025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5</a:t>
            </a:r>
            <a:endParaRPr lang="ko-KR" altLang="en-US" sz="11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1722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42757F30-510B-416B-8C95-D78087C12082}"/>
              </a:ext>
            </a:extLst>
          </p:cNvPr>
          <p:cNvSpPr txBox="1"/>
          <p:nvPr/>
        </p:nvSpPr>
        <p:spPr>
          <a:xfrm>
            <a:off x="105692" y="91541"/>
            <a:ext cx="6223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2. </a:t>
            </a:r>
            <a:r>
              <a:rPr lang="ko-KR" altLang="en-US" b="1" dirty="0">
                <a:latin typeface="+mn-ea"/>
              </a:rPr>
              <a:t>로그인 후 메인 화면 </a:t>
            </a:r>
            <a:r>
              <a:rPr lang="en-US" altLang="ko-KR" b="1" dirty="0">
                <a:latin typeface="+mn-ea"/>
              </a:rPr>
              <a:t>– </a:t>
            </a:r>
            <a:r>
              <a:rPr lang="ko-KR" altLang="en-US" b="1" dirty="0">
                <a:latin typeface="+mn-ea"/>
              </a:rPr>
              <a:t>개인화 화면</a:t>
            </a:r>
            <a:r>
              <a:rPr lang="en-US" altLang="ko-KR" b="1" dirty="0">
                <a:latin typeface="+mn-ea"/>
              </a:rPr>
              <a:t>: </a:t>
            </a:r>
            <a:r>
              <a:rPr lang="ko-KR" altLang="en-US" b="1" dirty="0">
                <a:latin typeface="+mn-ea"/>
              </a:rPr>
              <a:t>공동구매 참여 결과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BB50C194-D285-4E2D-9EFC-4907AD61A6B5}"/>
              </a:ext>
            </a:extLst>
          </p:cNvPr>
          <p:cNvSpPr txBox="1"/>
          <p:nvPr/>
        </p:nvSpPr>
        <p:spPr>
          <a:xfrm>
            <a:off x="15240" y="6558082"/>
            <a:ext cx="7734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+mn-ea"/>
              </a:rPr>
              <a:t>Page 13</a:t>
            </a:r>
            <a:endParaRPr lang="ko-KR" altLang="en-US" sz="1200" b="1" dirty="0">
              <a:latin typeface="+mn-ea"/>
            </a:endParaRP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3438384D-C590-4A2C-9A54-9133E71FFD64}"/>
              </a:ext>
            </a:extLst>
          </p:cNvPr>
          <p:cNvGrpSpPr/>
          <p:nvPr/>
        </p:nvGrpSpPr>
        <p:grpSpPr>
          <a:xfrm>
            <a:off x="56632" y="539931"/>
            <a:ext cx="2146638" cy="6018151"/>
            <a:chOff x="56632" y="539931"/>
            <a:chExt cx="2146638" cy="6018151"/>
          </a:xfrm>
        </p:grpSpPr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DC09D5D4-383C-43DA-961E-0F55DD41D27F}"/>
                </a:ext>
              </a:extLst>
            </p:cNvPr>
            <p:cNvSpPr/>
            <p:nvPr/>
          </p:nvSpPr>
          <p:spPr>
            <a:xfrm>
              <a:off x="56632" y="827920"/>
              <a:ext cx="2146638" cy="5730162"/>
            </a:xfrm>
            <a:prstGeom prst="rect">
              <a:avLst/>
            </a:prstGeom>
            <a:solidFill>
              <a:srgbClr val="002B82"/>
            </a:solidFill>
            <a:ln w="28575">
              <a:solidFill>
                <a:srgbClr val="002B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latin typeface="+mn-ea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981F11E1-C8AD-44A5-8415-39FE225F2749}"/>
                </a:ext>
              </a:extLst>
            </p:cNvPr>
            <p:cNvSpPr/>
            <p:nvPr/>
          </p:nvSpPr>
          <p:spPr>
            <a:xfrm>
              <a:off x="56632" y="539931"/>
              <a:ext cx="2146637" cy="276999"/>
            </a:xfrm>
            <a:prstGeom prst="rect">
              <a:avLst/>
            </a:prstGeom>
            <a:solidFill>
              <a:srgbClr val="002B82"/>
            </a:solidFill>
            <a:ln w="28575">
              <a:solidFill>
                <a:srgbClr val="002B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latin typeface="+mn-ea"/>
                </a:rPr>
                <a:t>[</a:t>
              </a:r>
              <a:r>
                <a:rPr lang="ko-KR" altLang="en-US" sz="1200" b="1" dirty="0">
                  <a:latin typeface="+mn-ea"/>
                </a:rPr>
                <a:t>개인화 화면</a:t>
              </a:r>
              <a:r>
                <a:rPr lang="en-US" altLang="ko-KR" sz="1200" b="1" dirty="0">
                  <a:latin typeface="+mn-ea"/>
                </a:rPr>
                <a:t>]</a:t>
              </a:r>
              <a:endParaRPr lang="ko-KR" altLang="en-US" sz="1200" b="1" dirty="0">
                <a:latin typeface="+mn-ea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06862B2-B803-4A01-A530-2FE840D6DB4A}"/>
              </a:ext>
            </a:extLst>
          </p:cNvPr>
          <p:cNvGrpSpPr/>
          <p:nvPr/>
        </p:nvGrpSpPr>
        <p:grpSpPr>
          <a:xfrm>
            <a:off x="139951" y="889272"/>
            <a:ext cx="1980000" cy="3528000"/>
            <a:chOff x="4930122" y="1543315"/>
            <a:chExt cx="2052000" cy="3564000"/>
          </a:xfrm>
        </p:grpSpPr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DE794B5E-DBDA-448B-845A-A2960F8C1B38}"/>
                </a:ext>
              </a:extLst>
            </p:cNvPr>
            <p:cNvSpPr/>
            <p:nvPr/>
          </p:nvSpPr>
          <p:spPr>
            <a:xfrm>
              <a:off x="4930122" y="1543315"/>
              <a:ext cx="2051917" cy="356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3ED3FE5D-5E97-4CCC-BABA-9E9508B0380F}"/>
                </a:ext>
              </a:extLst>
            </p:cNvPr>
            <p:cNvGrpSpPr/>
            <p:nvPr/>
          </p:nvGrpSpPr>
          <p:grpSpPr>
            <a:xfrm>
              <a:off x="4930122" y="1617742"/>
              <a:ext cx="2052000" cy="3415162"/>
              <a:chOff x="4930122" y="1617742"/>
              <a:chExt cx="2052000" cy="3415162"/>
            </a:xfrm>
          </p:grpSpPr>
          <p:sp>
            <p:nvSpPr>
              <p:cNvPr id="202" name="사각형: 둥근 모서리 201">
                <a:extLst>
                  <a:ext uri="{FF2B5EF4-FFF2-40B4-BE49-F238E27FC236}">
                    <a16:creationId xmlns:a16="http://schemas.microsoft.com/office/drawing/2014/main" id="{BA453612-2271-4271-8A82-3182AAA6AF06}"/>
                  </a:ext>
                </a:extLst>
              </p:cNvPr>
              <p:cNvSpPr/>
              <p:nvPr/>
            </p:nvSpPr>
            <p:spPr>
              <a:xfrm>
                <a:off x="5004680" y="1617742"/>
                <a:ext cx="756000" cy="180000"/>
              </a:xfrm>
              <a:prstGeom prst="roundRect">
                <a:avLst>
                  <a:gd name="adj" fmla="val 42273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개인정보 관리</a:t>
                </a: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CC15C4FC-540B-4DEA-BE6A-030CD917C203}"/>
                  </a:ext>
                </a:extLst>
              </p:cNvPr>
              <p:cNvSpPr txBox="1"/>
              <p:nvPr/>
            </p:nvSpPr>
            <p:spPr>
              <a:xfrm>
                <a:off x="5007406" y="1980558"/>
                <a:ext cx="53860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1400" b="1" dirty="0">
                    <a:latin typeface="+mn-ea"/>
                  </a:rPr>
                  <a:t>안남규</a:t>
                </a:r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7F1FEBB7-95EC-4498-8003-707F27E1542D}"/>
                  </a:ext>
                </a:extLst>
              </p:cNvPr>
              <p:cNvSpPr txBox="1"/>
              <p:nvPr/>
            </p:nvSpPr>
            <p:spPr>
              <a:xfrm>
                <a:off x="5042928" y="2273245"/>
                <a:ext cx="4472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법인 회원</a:t>
                </a:r>
              </a:p>
            </p:txBody>
          </p:sp>
          <p:pic>
            <p:nvPicPr>
              <p:cNvPr id="205" name="그림 204">
                <a:extLst>
                  <a:ext uri="{FF2B5EF4-FFF2-40B4-BE49-F238E27FC236}">
                    <a16:creationId xmlns:a16="http://schemas.microsoft.com/office/drawing/2014/main" id="{8F4FCFF1-ED2B-43CE-A9AE-92DA569513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45264" y="1894238"/>
                <a:ext cx="533111" cy="533111"/>
              </a:xfrm>
              <a:prstGeom prst="rect">
                <a:avLst/>
              </a:prstGeom>
            </p:spPr>
          </p:pic>
          <p:cxnSp>
            <p:nvCxnSpPr>
              <p:cNvPr id="207" name="직선 연결선 206">
                <a:extLst>
                  <a:ext uri="{FF2B5EF4-FFF2-40B4-BE49-F238E27FC236}">
                    <a16:creationId xmlns:a16="http://schemas.microsoft.com/office/drawing/2014/main" id="{8D9A5C52-6F8A-4058-B29A-CE56697FE1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122" y="3025138"/>
                <a:ext cx="20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8" name="그룹 207">
                <a:extLst>
                  <a:ext uri="{FF2B5EF4-FFF2-40B4-BE49-F238E27FC236}">
                    <a16:creationId xmlns:a16="http://schemas.microsoft.com/office/drawing/2014/main" id="{2F667120-D8A3-4AA7-ADC3-D95C260E7272}"/>
                  </a:ext>
                </a:extLst>
              </p:cNvPr>
              <p:cNvGrpSpPr/>
              <p:nvPr/>
            </p:nvGrpSpPr>
            <p:grpSpPr>
              <a:xfrm>
                <a:off x="4996554" y="2542137"/>
                <a:ext cx="887975" cy="364368"/>
                <a:chOff x="5047354" y="3467451"/>
                <a:chExt cx="887975" cy="364368"/>
              </a:xfrm>
            </p:grpSpPr>
            <p:pic>
              <p:nvPicPr>
                <p:cNvPr id="238" name="그림 237">
                  <a:extLst>
                    <a:ext uri="{FF2B5EF4-FFF2-40B4-BE49-F238E27FC236}">
                      <a16:creationId xmlns:a16="http://schemas.microsoft.com/office/drawing/2014/main" id="{EEBE9772-EAF1-4F5E-AFC8-F718DFBC185C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47354" y="3467451"/>
                  <a:ext cx="324000" cy="360000"/>
                </a:xfrm>
                <a:prstGeom prst="rect">
                  <a:avLst/>
                </a:prstGeom>
              </p:spPr>
            </p:pic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674641B2-0921-42DF-81D5-B29B30D06F1F}"/>
                    </a:ext>
                  </a:extLst>
                </p:cNvPr>
                <p:cNvSpPr txBox="1"/>
                <p:nvPr/>
              </p:nvSpPr>
              <p:spPr>
                <a:xfrm>
                  <a:off x="5385498" y="3585598"/>
                  <a:ext cx="549831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ko-KR" altLang="en-US" sz="8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>내가 신청한</a:t>
                  </a:r>
                  <a:endPara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  <a:p>
                  <a:r>
                    <a:rPr lang="ko-KR" altLang="en-US" sz="8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>공동구매</a:t>
                  </a:r>
                </a:p>
              </p:txBody>
            </p:sp>
          </p:grpSp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552E807C-4DE8-4369-80FC-F5A9DD03B8E4}"/>
                  </a:ext>
                </a:extLst>
              </p:cNvPr>
              <p:cNvGrpSpPr/>
              <p:nvPr/>
            </p:nvGrpSpPr>
            <p:grpSpPr>
              <a:xfrm>
                <a:off x="5994185" y="2604620"/>
                <a:ext cx="926166" cy="301885"/>
                <a:chOff x="5962435" y="3529934"/>
                <a:chExt cx="926166" cy="301885"/>
              </a:xfrm>
            </p:grpSpPr>
            <p:pic>
              <p:nvPicPr>
                <p:cNvPr id="236" name="그림 235">
                  <a:extLst>
                    <a:ext uri="{FF2B5EF4-FFF2-40B4-BE49-F238E27FC236}">
                      <a16:creationId xmlns:a16="http://schemas.microsoft.com/office/drawing/2014/main" id="{A4314B48-F07F-43B0-94D3-F75C5126E84C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962435" y="3529934"/>
                  <a:ext cx="324000" cy="297500"/>
                </a:xfrm>
                <a:prstGeom prst="rect">
                  <a:avLst/>
                </a:prstGeom>
              </p:spPr>
            </p:pic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C19FFB4E-78A8-4E81-B7EC-549F5AC0A28A}"/>
                    </a:ext>
                  </a:extLst>
                </p:cNvPr>
                <p:cNvSpPr txBox="1"/>
                <p:nvPr/>
              </p:nvSpPr>
              <p:spPr>
                <a:xfrm>
                  <a:off x="6301902" y="3585598"/>
                  <a:ext cx="586699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ko-KR" altLang="en-US" sz="8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>내가 참여 중</a:t>
                  </a:r>
                  <a:endPara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  <a:p>
                  <a:r>
                    <a:rPr lang="ko-KR" altLang="en-US" sz="8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>공동구매</a:t>
                  </a:r>
                </a:p>
              </p:txBody>
            </p:sp>
          </p:grpSp>
          <p:cxnSp>
            <p:nvCxnSpPr>
              <p:cNvPr id="211" name="직선 연결선 210">
                <a:extLst>
                  <a:ext uri="{FF2B5EF4-FFF2-40B4-BE49-F238E27FC236}">
                    <a16:creationId xmlns:a16="http://schemas.microsoft.com/office/drawing/2014/main" id="{51024906-C547-498E-8C5C-AF80A98762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122" y="3464683"/>
                <a:ext cx="20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직선 연결선 211">
                <a:extLst>
                  <a:ext uri="{FF2B5EF4-FFF2-40B4-BE49-F238E27FC236}">
                    <a16:creationId xmlns:a16="http://schemas.microsoft.com/office/drawing/2014/main" id="{6394BC14-9B5C-4122-9D94-7BC6985A8C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122" y="3904228"/>
                <a:ext cx="20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직선 연결선 212">
                <a:extLst>
                  <a:ext uri="{FF2B5EF4-FFF2-40B4-BE49-F238E27FC236}">
                    <a16:creationId xmlns:a16="http://schemas.microsoft.com/office/drawing/2014/main" id="{B912C5C1-855A-413E-979B-7D3EE79930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122" y="4343773"/>
                <a:ext cx="20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15" name="그림 214">
                <a:extLst>
                  <a:ext uri="{FF2B5EF4-FFF2-40B4-BE49-F238E27FC236}">
                    <a16:creationId xmlns:a16="http://schemas.microsoft.com/office/drawing/2014/main" id="{958E3A24-6080-42FD-9958-001A3BBEFF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69287" y="3135373"/>
                <a:ext cx="161925" cy="219075"/>
              </a:xfrm>
              <a:prstGeom prst="rect">
                <a:avLst/>
              </a:prstGeom>
            </p:spPr>
          </p:pic>
          <p:pic>
            <p:nvPicPr>
              <p:cNvPr id="216" name="그림 215">
                <a:extLst>
                  <a:ext uri="{FF2B5EF4-FFF2-40B4-BE49-F238E27FC236}">
                    <a16:creationId xmlns:a16="http://schemas.microsoft.com/office/drawing/2014/main" id="{43238602-4367-4168-A197-A08EAB259D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69287" y="3574918"/>
                <a:ext cx="161925" cy="219075"/>
              </a:xfrm>
              <a:prstGeom prst="rect">
                <a:avLst/>
              </a:prstGeom>
            </p:spPr>
          </p:pic>
          <p:pic>
            <p:nvPicPr>
              <p:cNvPr id="217" name="그림 216">
                <a:extLst>
                  <a:ext uri="{FF2B5EF4-FFF2-40B4-BE49-F238E27FC236}">
                    <a16:creationId xmlns:a16="http://schemas.microsoft.com/office/drawing/2014/main" id="{F70FA917-31B7-4014-927E-CE4893AFF7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77559" y="4014463"/>
                <a:ext cx="161925" cy="219075"/>
              </a:xfrm>
              <a:prstGeom prst="rect">
                <a:avLst/>
              </a:prstGeom>
            </p:spPr>
          </p:pic>
          <p:pic>
            <p:nvPicPr>
              <p:cNvPr id="218" name="그림 217">
                <a:extLst>
                  <a:ext uri="{FF2B5EF4-FFF2-40B4-BE49-F238E27FC236}">
                    <a16:creationId xmlns:a16="http://schemas.microsoft.com/office/drawing/2014/main" id="{83C2284B-8215-41A3-A210-92F2CEBDAF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77559" y="4454008"/>
                <a:ext cx="161925" cy="219075"/>
              </a:xfrm>
              <a:prstGeom prst="rect">
                <a:avLst/>
              </a:prstGeom>
            </p:spPr>
          </p:pic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10A37AF1-E858-4FCE-B5D8-1F7CCB3809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122" y="4783315"/>
                <a:ext cx="20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6D3E8CDB-521C-4A25-90E9-9952595CB0D7}"/>
                  </a:ext>
                </a:extLst>
              </p:cNvPr>
              <p:cNvSpPr txBox="1"/>
              <p:nvPr/>
            </p:nvSpPr>
            <p:spPr>
              <a:xfrm>
                <a:off x="4949156" y="3109544"/>
                <a:ext cx="15247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공동구매 참여 결과</a:t>
                </a:r>
              </a:p>
            </p:txBody>
          </p: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4A77BE2B-89F1-4565-89F1-2DAC5F84F9D1}"/>
                  </a:ext>
                </a:extLst>
              </p:cNvPr>
              <p:cNvSpPr txBox="1"/>
              <p:nvPr/>
            </p:nvSpPr>
            <p:spPr>
              <a:xfrm>
                <a:off x="4949156" y="3553618"/>
                <a:ext cx="7906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쿠폰 </a:t>
                </a:r>
                <a:r>
                  <a:rPr lang="en-US" altLang="ko-KR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0</a:t>
                </a:r>
                <a:r>
                  <a: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장</a:t>
                </a:r>
              </a:p>
            </p:txBody>
          </p:sp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80C8071F-1066-4403-A759-4632CFE8BBD3}"/>
                  </a:ext>
                </a:extLst>
              </p:cNvPr>
              <p:cNvSpPr txBox="1"/>
              <p:nvPr/>
            </p:nvSpPr>
            <p:spPr>
              <a:xfrm>
                <a:off x="4949156" y="3998264"/>
                <a:ext cx="8851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포인트 </a:t>
                </a:r>
                <a:r>
                  <a:rPr lang="en-US" altLang="ko-KR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0P</a:t>
                </a:r>
                <a:endPara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DBD5747D-EBC8-402F-9280-EAAAA58A8111}"/>
                  </a:ext>
                </a:extLst>
              </p:cNvPr>
              <p:cNvSpPr txBox="1"/>
              <p:nvPr/>
            </p:nvSpPr>
            <p:spPr>
              <a:xfrm>
                <a:off x="4949156" y="4436478"/>
                <a:ext cx="6463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메시지</a:t>
                </a:r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212D300A-052B-463E-9E51-5617F3486FD5}"/>
                  </a:ext>
                </a:extLst>
              </p:cNvPr>
              <p:cNvSpPr/>
              <p:nvPr/>
            </p:nvSpPr>
            <p:spPr>
              <a:xfrm>
                <a:off x="4996547" y="4852904"/>
                <a:ext cx="540000" cy="180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로그 아웃</a:t>
                </a:r>
              </a:p>
            </p:txBody>
          </p:sp>
        </p:grpSp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099073DD-37A4-4B2D-8F54-2CDB4442E36C}"/>
              </a:ext>
            </a:extLst>
          </p:cNvPr>
          <p:cNvGrpSpPr/>
          <p:nvPr/>
        </p:nvGrpSpPr>
        <p:grpSpPr>
          <a:xfrm>
            <a:off x="2302038" y="889272"/>
            <a:ext cx="9731645" cy="5668810"/>
            <a:chOff x="2686048" y="146048"/>
            <a:chExt cx="9731645" cy="5668810"/>
          </a:xfrm>
        </p:grpSpPr>
        <p:sp>
          <p:nvSpPr>
            <p:cNvPr id="259" name="직사각형 258">
              <a:extLst>
                <a:ext uri="{FF2B5EF4-FFF2-40B4-BE49-F238E27FC236}">
                  <a16:creationId xmlns:a16="http://schemas.microsoft.com/office/drawing/2014/main" id="{486C7E25-3E05-473F-B6DA-FB558C81D3F0}"/>
                </a:ext>
              </a:extLst>
            </p:cNvPr>
            <p:cNvSpPr/>
            <p:nvPr/>
          </p:nvSpPr>
          <p:spPr>
            <a:xfrm>
              <a:off x="2686048" y="146048"/>
              <a:ext cx="9731645" cy="566881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50" dirty="0">
                <a:solidFill>
                  <a:schemeClr val="tx1"/>
                </a:solidFill>
                <a:ea typeface="나눔고딕" panose="020D0604000000000000"/>
              </a:endParaRPr>
            </a:p>
          </p:txBody>
        </p:sp>
        <p:sp>
          <p:nvSpPr>
            <p:cNvPr id="260" name="직사각형 259">
              <a:extLst>
                <a:ext uri="{FF2B5EF4-FFF2-40B4-BE49-F238E27FC236}">
                  <a16:creationId xmlns:a16="http://schemas.microsoft.com/office/drawing/2014/main" id="{6511CDBB-1186-45C5-9A4D-A2E70B908252}"/>
                </a:ext>
              </a:extLst>
            </p:cNvPr>
            <p:cNvSpPr/>
            <p:nvPr/>
          </p:nvSpPr>
          <p:spPr>
            <a:xfrm>
              <a:off x="2686050" y="146050"/>
              <a:ext cx="1620000" cy="16867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ysClr val="windowText" lastClr="000000"/>
                  </a:solidFill>
                  <a:latin typeface="+mn-ea"/>
                  <a:cs typeface="함초롬바탕" panose="02030504000101010101" pitchFamily="18" charset="-127"/>
                </a:rPr>
                <a:t>① </a:t>
              </a:r>
              <a:r>
                <a:rPr lang="ko-KR" altLang="en-US" sz="1000" b="1" dirty="0">
                  <a:solidFill>
                    <a:sysClr val="windowText" lastClr="000000"/>
                  </a:solidFill>
                  <a:latin typeface="+mn-ea"/>
                </a:rPr>
                <a:t>공동구매 참여 결과</a:t>
              </a:r>
            </a:p>
          </p:txBody>
        </p:sp>
      </p:grpSp>
      <p:sp>
        <p:nvSpPr>
          <p:cNvPr id="38" name="타원 37">
            <a:extLst>
              <a:ext uri="{FF2B5EF4-FFF2-40B4-BE49-F238E27FC236}">
                <a16:creationId xmlns:a16="http://schemas.microsoft.com/office/drawing/2014/main" id="{846DCFAF-979A-4B50-B2EB-C607B23F4FD8}"/>
              </a:ext>
            </a:extLst>
          </p:cNvPr>
          <p:cNvSpPr/>
          <p:nvPr/>
        </p:nvSpPr>
        <p:spPr>
          <a:xfrm>
            <a:off x="1595200" y="2372780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ea typeface="나눔고딕" panose="020D0604000000000000"/>
              </a:rPr>
              <a:t>1</a:t>
            </a:r>
            <a:endParaRPr lang="ko-KR" altLang="en-US" sz="1100" b="1" dirty="0">
              <a:ea typeface="나눔고딕" panose="020D0604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713717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42757F30-510B-416B-8C95-D78087C12082}"/>
              </a:ext>
            </a:extLst>
          </p:cNvPr>
          <p:cNvSpPr txBox="1"/>
          <p:nvPr/>
        </p:nvSpPr>
        <p:spPr>
          <a:xfrm>
            <a:off x="105692" y="91541"/>
            <a:ext cx="9089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2. </a:t>
            </a:r>
            <a:r>
              <a:rPr lang="ko-KR" altLang="en-US" b="1" dirty="0">
                <a:latin typeface="+mn-ea"/>
              </a:rPr>
              <a:t>로그인 후 메인 화면 </a:t>
            </a:r>
            <a:r>
              <a:rPr lang="en-US" altLang="ko-KR" b="1" dirty="0">
                <a:latin typeface="+mn-ea"/>
              </a:rPr>
              <a:t>– </a:t>
            </a:r>
            <a:r>
              <a:rPr lang="ko-KR" altLang="en-US" b="1" dirty="0">
                <a:latin typeface="+mn-ea"/>
              </a:rPr>
              <a:t>개인화 화면</a:t>
            </a:r>
            <a:r>
              <a:rPr lang="en-US" altLang="ko-KR" b="1" dirty="0">
                <a:latin typeface="+mn-ea"/>
              </a:rPr>
              <a:t>: </a:t>
            </a:r>
            <a:r>
              <a:rPr lang="ko-KR" altLang="en-US" b="1" dirty="0">
                <a:latin typeface="+mn-ea"/>
              </a:rPr>
              <a:t>내가 신청한 공동구매 및 내가 참여한 공동구매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BB50C194-D285-4E2D-9EFC-4907AD61A6B5}"/>
              </a:ext>
            </a:extLst>
          </p:cNvPr>
          <p:cNvSpPr txBox="1"/>
          <p:nvPr/>
        </p:nvSpPr>
        <p:spPr>
          <a:xfrm>
            <a:off x="15240" y="6558082"/>
            <a:ext cx="7734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+mn-ea"/>
              </a:rPr>
              <a:t>Page 14</a:t>
            </a:r>
            <a:endParaRPr lang="ko-KR" altLang="en-US" sz="1200" b="1" dirty="0">
              <a:latin typeface="+mn-ea"/>
            </a:endParaRP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3438384D-C590-4A2C-9A54-9133E71FFD64}"/>
              </a:ext>
            </a:extLst>
          </p:cNvPr>
          <p:cNvGrpSpPr/>
          <p:nvPr/>
        </p:nvGrpSpPr>
        <p:grpSpPr>
          <a:xfrm>
            <a:off x="56632" y="539931"/>
            <a:ext cx="2146638" cy="6018151"/>
            <a:chOff x="56632" y="539931"/>
            <a:chExt cx="2146638" cy="6018151"/>
          </a:xfrm>
        </p:grpSpPr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DC09D5D4-383C-43DA-961E-0F55DD41D27F}"/>
                </a:ext>
              </a:extLst>
            </p:cNvPr>
            <p:cNvSpPr/>
            <p:nvPr/>
          </p:nvSpPr>
          <p:spPr>
            <a:xfrm>
              <a:off x="56632" y="827920"/>
              <a:ext cx="2146638" cy="5730162"/>
            </a:xfrm>
            <a:prstGeom prst="rect">
              <a:avLst/>
            </a:prstGeom>
            <a:solidFill>
              <a:srgbClr val="002B82"/>
            </a:solidFill>
            <a:ln w="28575">
              <a:solidFill>
                <a:srgbClr val="002B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latin typeface="+mn-ea"/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981F11E1-C8AD-44A5-8415-39FE225F2749}"/>
                </a:ext>
              </a:extLst>
            </p:cNvPr>
            <p:cNvSpPr/>
            <p:nvPr/>
          </p:nvSpPr>
          <p:spPr>
            <a:xfrm>
              <a:off x="56632" y="539931"/>
              <a:ext cx="2146637" cy="276999"/>
            </a:xfrm>
            <a:prstGeom prst="rect">
              <a:avLst/>
            </a:prstGeom>
            <a:solidFill>
              <a:srgbClr val="002B82"/>
            </a:solidFill>
            <a:ln w="28575">
              <a:solidFill>
                <a:srgbClr val="002B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latin typeface="+mn-ea"/>
                </a:rPr>
                <a:t>[</a:t>
              </a:r>
              <a:r>
                <a:rPr lang="ko-KR" altLang="en-US" sz="1200" b="1" dirty="0">
                  <a:latin typeface="+mn-ea"/>
                </a:rPr>
                <a:t>개인화 화면</a:t>
              </a:r>
              <a:r>
                <a:rPr lang="en-US" altLang="ko-KR" sz="1200" b="1" dirty="0">
                  <a:latin typeface="+mn-ea"/>
                </a:rPr>
                <a:t>]</a:t>
              </a:r>
              <a:endParaRPr lang="ko-KR" altLang="en-US" sz="1200" b="1" dirty="0">
                <a:latin typeface="+mn-ea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06862B2-B803-4A01-A530-2FE840D6DB4A}"/>
              </a:ext>
            </a:extLst>
          </p:cNvPr>
          <p:cNvGrpSpPr/>
          <p:nvPr/>
        </p:nvGrpSpPr>
        <p:grpSpPr>
          <a:xfrm>
            <a:off x="139951" y="889272"/>
            <a:ext cx="1980000" cy="3528000"/>
            <a:chOff x="4930122" y="1543315"/>
            <a:chExt cx="2052000" cy="3564000"/>
          </a:xfrm>
        </p:grpSpPr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DE794B5E-DBDA-448B-845A-A2960F8C1B38}"/>
                </a:ext>
              </a:extLst>
            </p:cNvPr>
            <p:cNvSpPr/>
            <p:nvPr/>
          </p:nvSpPr>
          <p:spPr>
            <a:xfrm>
              <a:off x="4930122" y="1543315"/>
              <a:ext cx="2051917" cy="3564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3ED3FE5D-5E97-4CCC-BABA-9E9508B0380F}"/>
                </a:ext>
              </a:extLst>
            </p:cNvPr>
            <p:cNvGrpSpPr/>
            <p:nvPr/>
          </p:nvGrpSpPr>
          <p:grpSpPr>
            <a:xfrm>
              <a:off x="4930122" y="1617742"/>
              <a:ext cx="2052000" cy="3415162"/>
              <a:chOff x="4930122" y="1617742"/>
              <a:chExt cx="2052000" cy="3415162"/>
            </a:xfrm>
          </p:grpSpPr>
          <p:sp>
            <p:nvSpPr>
              <p:cNvPr id="202" name="사각형: 둥근 모서리 201">
                <a:extLst>
                  <a:ext uri="{FF2B5EF4-FFF2-40B4-BE49-F238E27FC236}">
                    <a16:creationId xmlns:a16="http://schemas.microsoft.com/office/drawing/2014/main" id="{BA453612-2271-4271-8A82-3182AAA6AF06}"/>
                  </a:ext>
                </a:extLst>
              </p:cNvPr>
              <p:cNvSpPr/>
              <p:nvPr/>
            </p:nvSpPr>
            <p:spPr>
              <a:xfrm>
                <a:off x="5004680" y="1617742"/>
                <a:ext cx="756000" cy="180000"/>
              </a:xfrm>
              <a:prstGeom prst="roundRect">
                <a:avLst>
                  <a:gd name="adj" fmla="val 42273"/>
                </a:avLst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개인정보 관리</a:t>
                </a: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CC15C4FC-540B-4DEA-BE6A-030CD917C203}"/>
                  </a:ext>
                </a:extLst>
              </p:cNvPr>
              <p:cNvSpPr txBox="1"/>
              <p:nvPr/>
            </p:nvSpPr>
            <p:spPr>
              <a:xfrm>
                <a:off x="5007406" y="1980558"/>
                <a:ext cx="53860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1400" b="1" dirty="0">
                    <a:latin typeface="+mn-ea"/>
                  </a:rPr>
                  <a:t>안남규</a:t>
                </a:r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7F1FEBB7-95EC-4498-8003-707F27E1542D}"/>
                  </a:ext>
                </a:extLst>
              </p:cNvPr>
              <p:cNvSpPr txBox="1"/>
              <p:nvPr/>
            </p:nvSpPr>
            <p:spPr>
              <a:xfrm>
                <a:off x="5042928" y="2273245"/>
                <a:ext cx="44723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법인 회원</a:t>
                </a:r>
              </a:p>
            </p:txBody>
          </p:sp>
          <p:pic>
            <p:nvPicPr>
              <p:cNvPr id="205" name="그림 204">
                <a:extLst>
                  <a:ext uri="{FF2B5EF4-FFF2-40B4-BE49-F238E27FC236}">
                    <a16:creationId xmlns:a16="http://schemas.microsoft.com/office/drawing/2014/main" id="{8F4FCFF1-ED2B-43CE-A9AE-92DA569513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45264" y="1894238"/>
                <a:ext cx="533111" cy="533111"/>
              </a:xfrm>
              <a:prstGeom prst="rect">
                <a:avLst/>
              </a:prstGeom>
            </p:spPr>
          </p:pic>
          <p:cxnSp>
            <p:nvCxnSpPr>
              <p:cNvPr id="207" name="직선 연결선 206">
                <a:extLst>
                  <a:ext uri="{FF2B5EF4-FFF2-40B4-BE49-F238E27FC236}">
                    <a16:creationId xmlns:a16="http://schemas.microsoft.com/office/drawing/2014/main" id="{8D9A5C52-6F8A-4058-B29A-CE56697FE1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122" y="3025138"/>
                <a:ext cx="20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8" name="그룹 207">
                <a:extLst>
                  <a:ext uri="{FF2B5EF4-FFF2-40B4-BE49-F238E27FC236}">
                    <a16:creationId xmlns:a16="http://schemas.microsoft.com/office/drawing/2014/main" id="{2F667120-D8A3-4AA7-ADC3-D95C260E7272}"/>
                  </a:ext>
                </a:extLst>
              </p:cNvPr>
              <p:cNvGrpSpPr/>
              <p:nvPr/>
            </p:nvGrpSpPr>
            <p:grpSpPr>
              <a:xfrm>
                <a:off x="4996554" y="2542137"/>
                <a:ext cx="887975" cy="364368"/>
                <a:chOff x="5047354" y="3467451"/>
                <a:chExt cx="887975" cy="364368"/>
              </a:xfrm>
            </p:grpSpPr>
            <p:pic>
              <p:nvPicPr>
                <p:cNvPr id="238" name="그림 237">
                  <a:extLst>
                    <a:ext uri="{FF2B5EF4-FFF2-40B4-BE49-F238E27FC236}">
                      <a16:creationId xmlns:a16="http://schemas.microsoft.com/office/drawing/2014/main" id="{EEBE9772-EAF1-4F5E-AFC8-F718DFBC185C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47354" y="3467451"/>
                  <a:ext cx="324000" cy="360000"/>
                </a:xfrm>
                <a:prstGeom prst="rect">
                  <a:avLst/>
                </a:prstGeom>
              </p:spPr>
            </p:pic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674641B2-0921-42DF-81D5-B29B30D06F1F}"/>
                    </a:ext>
                  </a:extLst>
                </p:cNvPr>
                <p:cNvSpPr txBox="1"/>
                <p:nvPr/>
              </p:nvSpPr>
              <p:spPr>
                <a:xfrm>
                  <a:off x="5385498" y="3585598"/>
                  <a:ext cx="549831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ko-KR" altLang="en-US" sz="8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>내가 신청한</a:t>
                  </a:r>
                  <a:endPara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  <a:p>
                  <a:r>
                    <a:rPr lang="ko-KR" altLang="en-US" sz="8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>공동구매</a:t>
                  </a:r>
                </a:p>
              </p:txBody>
            </p:sp>
          </p:grpSp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552E807C-4DE8-4369-80FC-F5A9DD03B8E4}"/>
                  </a:ext>
                </a:extLst>
              </p:cNvPr>
              <p:cNvGrpSpPr/>
              <p:nvPr/>
            </p:nvGrpSpPr>
            <p:grpSpPr>
              <a:xfrm>
                <a:off x="5994185" y="2604620"/>
                <a:ext cx="926166" cy="301885"/>
                <a:chOff x="5962435" y="3529934"/>
                <a:chExt cx="926166" cy="301885"/>
              </a:xfrm>
            </p:grpSpPr>
            <p:pic>
              <p:nvPicPr>
                <p:cNvPr id="236" name="그림 235">
                  <a:extLst>
                    <a:ext uri="{FF2B5EF4-FFF2-40B4-BE49-F238E27FC236}">
                      <a16:creationId xmlns:a16="http://schemas.microsoft.com/office/drawing/2014/main" id="{A4314B48-F07F-43B0-94D3-F75C5126E84C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962435" y="3529934"/>
                  <a:ext cx="324000" cy="297500"/>
                </a:xfrm>
                <a:prstGeom prst="rect">
                  <a:avLst/>
                </a:prstGeom>
              </p:spPr>
            </p:pic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C19FFB4E-78A8-4E81-B7EC-549F5AC0A28A}"/>
                    </a:ext>
                  </a:extLst>
                </p:cNvPr>
                <p:cNvSpPr txBox="1"/>
                <p:nvPr/>
              </p:nvSpPr>
              <p:spPr>
                <a:xfrm>
                  <a:off x="6301902" y="3585598"/>
                  <a:ext cx="586699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ko-KR" altLang="en-US" sz="8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>내가 참여 중</a:t>
                  </a:r>
                  <a:endParaRPr lang="en-US" altLang="ko-KR" sz="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endParaRPr>
                </a:p>
                <a:p>
                  <a:r>
                    <a:rPr lang="ko-KR" altLang="en-US" sz="8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ea"/>
                    </a:rPr>
                    <a:t>공동구매</a:t>
                  </a:r>
                </a:p>
              </p:txBody>
            </p:sp>
          </p:grpSp>
          <p:cxnSp>
            <p:nvCxnSpPr>
              <p:cNvPr id="211" name="직선 연결선 210">
                <a:extLst>
                  <a:ext uri="{FF2B5EF4-FFF2-40B4-BE49-F238E27FC236}">
                    <a16:creationId xmlns:a16="http://schemas.microsoft.com/office/drawing/2014/main" id="{51024906-C547-498E-8C5C-AF80A98762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122" y="3464683"/>
                <a:ext cx="20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직선 연결선 211">
                <a:extLst>
                  <a:ext uri="{FF2B5EF4-FFF2-40B4-BE49-F238E27FC236}">
                    <a16:creationId xmlns:a16="http://schemas.microsoft.com/office/drawing/2014/main" id="{6394BC14-9B5C-4122-9D94-7BC6985A8C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122" y="3904228"/>
                <a:ext cx="20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직선 연결선 212">
                <a:extLst>
                  <a:ext uri="{FF2B5EF4-FFF2-40B4-BE49-F238E27FC236}">
                    <a16:creationId xmlns:a16="http://schemas.microsoft.com/office/drawing/2014/main" id="{B912C5C1-855A-413E-979B-7D3EE79930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122" y="4343773"/>
                <a:ext cx="20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15" name="그림 214">
                <a:extLst>
                  <a:ext uri="{FF2B5EF4-FFF2-40B4-BE49-F238E27FC236}">
                    <a16:creationId xmlns:a16="http://schemas.microsoft.com/office/drawing/2014/main" id="{958E3A24-6080-42FD-9958-001A3BBEFF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69287" y="3135373"/>
                <a:ext cx="161925" cy="219075"/>
              </a:xfrm>
              <a:prstGeom prst="rect">
                <a:avLst/>
              </a:prstGeom>
            </p:spPr>
          </p:pic>
          <p:pic>
            <p:nvPicPr>
              <p:cNvPr id="216" name="그림 215">
                <a:extLst>
                  <a:ext uri="{FF2B5EF4-FFF2-40B4-BE49-F238E27FC236}">
                    <a16:creationId xmlns:a16="http://schemas.microsoft.com/office/drawing/2014/main" id="{43238602-4367-4168-A197-A08EAB259D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69287" y="3574918"/>
                <a:ext cx="161925" cy="219075"/>
              </a:xfrm>
              <a:prstGeom prst="rect">
                <a:avLst/>
              </a:prstGeom>
            </p:spPr>
          </p:pic>
          <p:pic>
            <p:nvPicPr>
              <p:cNvPr id="217" name="그림 216">
                <a:extLst>
                  <a:ext uri="{FF2B5EF4-FFF2-40B4-BE49-F238E27FC236}">
                    <a16:creationId xmlns:a16="http://schemas.microsoft.com/office/drawing/2014/main" id="{F70FA917-31B7-4014-927E-CE4893AFF7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77559" y="4014463"/>
                <a:ext cx="161925" cy="219075"/>
              </a:xfrm>
              <a:prstGeom prst="rect">
                <a:avLst/>
              </a:prstGeom>
            </p:spPr>
          </p:pic>
          <p:pic>
            <p:nvPicPr>
              <p:cNvPr id="218" name="그림 217">
                <a:extLst>
                  <a:ext uri="{FF2B5EF4-FFF2-40B4-BE49-F238E27FC236}">
                    <a16:creationId xmlns:a16="http://schemas.microsoft.com/office/drawing/2014/main" id="{83C2284B-8215-41A3-A210-92F2CEBDAF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77559" y="4454008"/>
                <a:ext cx="161925" cy="219075"/>
              </a:xfrm>
              <a:prstGeom prst="rect">
                <a:avLst/>
              </a:prstGeom>
            </p:spPr>
          </p:pic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10A37AF1-E858-4FCE-B5D8-1F7CCB3809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0122" y="4783315"/>
                <a:ext cx="20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6D3E8CDB-521C-4A25-90E9-9952595CB0D7}"/>
                  </a:ext>
                </a:extLst>
              </p:cNvPr>
              <p:cNvSpPr txBox="1"/>
              <p:nvPr/>
            </p:nvSpPr>
            <p:spPr>
              <a:xfrm>
                <a:off x="4949156" y="3109544"/>
                <a:ext cx="15247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공동구매 참여 결과</a:t>
                </a:r>
              </a:p>
            </p:txBody>
          </p: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4A77BE2B-89F1-4565-89F1-2DAC5F84F9D1}"/>
                  </a:ext>
                </a:extLst>
              </p:cNvPr>
              <p:cNvSpPr txBox="1"/>
              <p:nvPr/>
            </p:nvSpPr>
            <p:spPr>
              <a:xfrm>
                <a:off x="4949156" y="3553618"/>
                <a:ext cx="7906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쿠폰 </a:t>
                </a:r>
                <a:r>
                  <a:rPr lang="en-US" altLang="ko-KR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0</a:t>
                </a:r>
                <a:r>
                  <a: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장</a:t>
                </a:r>
              </a:p>
            </p:txBody>
          </p:sp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80C8071F-1066-4403-A759-4632CFE8BBD3}"/>
                  </a:ext>
                </a:extLst>
              </p:cNvPr>
              <p:cNvSpPr txBox="1"/>
              <p:nvPr/>
            </p:nvSpPr>
            <p:spPr>
              <a:xfrm>
                <a:off x="4949156" y="3998264"/>
                <a:ext cx="8851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포인트 </a:t>
                </a:r>
                <a:r>
                  <a:rPr lang="en-US" altLang="ko-KR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0P</a:t>
                </a:r>
                <a:endParaRPr lang="ko-KR" altLang="en-US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DBD5747D-EBC8-402F-9280-EAAAA58A8111}"/>
                  </a:ext>
                </a:extLst>
              </p:cNvPr>
              <p:cNvSpPr txBox="1"/>
              <p:nvPr/>
            </p:nvSpPr>
            <p:spPr>
              <a:xfrm>
                <a:off x="4949156" y="4436478"/>
                <a:ext cx="6463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</a:rPr>
                  <a:t>메시지</a:t>
                </a:r>
              </a:p>
            </p:txBody>
          </p:sp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212D300A-052B-463E-9E51-5617F3486FD5}"/>
                  </a:ext>
                </a:extLst>
              </p:cNvPr>
              <p:cNvSpPr/>
              <p:nvPr/>
            </p:nvSpPr>
            <p:spPr>
              <a:xfrm>
                <a:off x="4996547" y="4852904"/>
                <a:ext cx="540000" cy="1800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</a:rPr>
                  <a:t>로그 아웃</a:t>
                </a:r>
              </a:p>
            </p:txBody>
          </p:sp>
        </p:grpSp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099073DD-37A4-4B2D-8F54-2CDB4442E36C}"/>
              </a:ext>
            </a:extLst>
          </p:cNvPr>
          <p:cNvGrpSpPr/>
          <p:nvPr/>
        </p:nvGrpSpPr>
        <p:grpSpPr>
          <a:xfrm>
            <a:off x="2302038" y="889272"/>
            <a:ext cx="4761945" cy="2985014"/>
            <a:chOff x="2686048" y="146048"/>
            <a:chExt cx="4761945" cy="2805014"/>
          </a:xfrm>
        </p:grpSpPr>
        <p:sp>
          <p:nvSpPr>
            <p:cNvPr id="259" name="직사각형 258">
              <a:extLst>
                <a:ext uri="{FF2B5EF4-FFF2-40B4-BE49-F238E27FC236}">
                  <a16:creationId xmlns:a16="http://schemas.microsoft.com/office/drawing/2014/main" id="{486C7E25-3E05-473F-B6DA-FB558C81D3F0}"/>
                </a:ext>
              </a:extLst>
            </p:cNvPr>
            <p:cNvSpPr/>
            <p:nvPr/>
          </p:nvSpPr>
          <p:spPr>
            <a:xfrm>
              <a:off x="2686048" y="146048"/>
              <a:ext cx="4761945" cy="280501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60" name="직사각형 259">
              <a:extLst>
                <a:ext uri="{FF2B5EF4-FFF2-40B4-BE49-F238E27FC236}">
                  <a16:creationId xmlns:a16="http://schemas.microsoft.com/office/drawing/2014/main" id="{6511CDBB-1186-45C5-9A4D-A2E70B908252}"/>
                </a:ext>
              </a:extLst>
            </p:cNvPr>
            <p:cNvSpPr/>
            <p:nvPr/>
          </p:nvSpPr>
          <p:spPr>
            <a:xfrm>
              <a:off x="2686050" y="146050"/>
              <a:ext cx="900000" cy="16867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ysClr val="windowText" lastClr="000000"/>
                  </a:solidFill>
                  <a:latin typeface="+mn-ea"/>
                  <a:cs typeface="함초롬바탕" panose="02030504000101010101" pitchFamily="18" charset="-127"/>
                </a:rPr>
                <a:t>① 쿠폰</a:t>
              </a:r>
              <a:endParaRPr lang="ko-KR" altLang="en-US" sz="1000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</p:grpSp>
      <p:sp>
        <p:nvSpPr>
          <p:cNvPr id="38" name="타원 37">
            <a:extLst>
              <a:ext uri="{FF2B5EF4-FFF2-40B4-BE49-F238E27FC236}">
                <a16:creationId xmlns:a16="http://schemas.microsoft.com/office/drawing/2014/main" id="{846DCFAF-979A-4B50-B2EB-C607B23F4FD8}"/>
              </a:ext>
            </a:extLst>
          </p:cNvPr>
          <p:cNvSpPr/>
          <p:nvPr/>
        </p:nvSpPr>
        <p:spPr>
          <a:xfrm>
            <a:off x="914497" y="282300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ea typeface="나눔고딕" panose="020D0604000000000000"/>
              </a:rPr>
              <a:t>1</a:t>
            </a:r>
            <a:endParaRPr lang="ko-KR" altLang="en-US" sz="1100" b="1" dirty="0">
              <a:ea typeface="나눔고딕" panose="020D0604000000000000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DB79F58-3985-43AE-9F59-5583900A8406}"/>
              </a:ext>
            </a:extLst>
          </p:cNvPr>
          <p:cNvGrpSpPr/>
          <p:nvPr/>
        </p:nvGrpSpPr>
        <p:grpSpPr>
          <a:xfrm>
            <a:off x="7271738" y="889272"/>
            <a:ext cx="4761945" cy="5668810"/>
            <a:chOff x="2686048" y="146048"/>
            <a:chExt cx="4761945" cy="5668810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8EE6C6A1-D013-48B5-86A8-D295F59CE8BA}"/>
                </a:ext>
              </a:extLst>
            </p:cNvPr>
            <p:cNvSpPr/>
            <p:nvPr/>
          </p:nvSpPr>
          <p:spPr>
            <a:xfrm>
              <a:off x="2686048" y="146048"/>
              <a:ext cx="4761945" cy="566881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020F3B2B-7568-49AE-9F30-0658C72EC1E9}"/>
                </a:ext>
              </a:extLst>
            </p:cNvPr>
            <p:cNvSpPr/>
            <p:nvPr/>
          </p:nvSpPr>
          <p:spPr>
            <a:xfrm>
              <a:off x="2686050" y="146050"/>
              <a:ext cx="900000" cy="16867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ysClr val="windowText" lastClr="000000"/>
                  </a:solidFill>
                  <a:latin typeface="+mn-ea"/>
                  <a:cs typeface="함초롬바탕" panose="02030504000101010101" pitchFamily="18" charset="-127"/>
                </a:rPr>
                <a:t>③ 메시지</a:t>
              </a:r>
              <a:endParaRPr lang="ko-KR" altLang="en-US" sz="1000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</p:grpSp>
      <p:sp>
        <p:nvSpPr>
          <p:cNvPr id="43" name="타원 42">
            <a:extLst>
              <a:ext uri="{FF2B5EF4-FFF2-40B4-BE49-F238E27FC236}">
                <a16:creationId xmlns:a16="http://schemas.microsoft.com/office/drawing/2014/main" id="{E3118135-1A53-40C0-B5FC-D76E1CB21A74}"/>
              </a:ext>
            </a:extLst>
          </p:cNvPr>
          <p:cNvSpPr/>
          <p:nvPr/>
        </p:nvSpPr>
        <p:spPr>
          <a:xfrm>
            <a:off x="976796" y="3267207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ea typeface="나눔고딕" panose="020D0604000000000000"/>
              </a:rPr>
              <a:t>2</a:t>
            </a:r>
            <a:endParaRPr lang="ko-KR" altLang="en-US" sz="1100" b="1" dirty="0">
              <a:ea typeface="나눔고딕" panose="020D0604000000000000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023BB4D-9474-4EA7-A8F5-44875221EFDD}"/>
              </a:ext>
            </a:extLst>
          </p:cNvPr>
          <p:cNvSpPr/>
          <p:nvPr/>
        </p:nvSpPr>
        <p:spPr>
          <a:xfrm>
            <a:off x="713954" y="3694286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ea typeface="나눔고딕" panose="020D0604000000000000"/>
              </a:rPr>
              <a:t>3</a:t>
            </a:r>
            <a:endParaRPr lang="ko-KR" altLang="en-US" sz="1100" b="1" dirty="0">
              <a:ea typeface="나눔고딕" panose="020D0604000000000000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228DABD9-1467-4CBB-8E7C-E6CE7181A8A0}"/>
              </a:ext>
            </a:extLst>
          </p:cNvPr>
          <p:cNvGrpSpPr/>
          <p:nvPr/>
        </p:nvGrpSpPr>
        <p:grpSpPr>
          <a:xfrm>
            <a:off x="2302038" y="3771170"/>
            <a:ext cx="4761945" cy="2805014"/>
            <a:chOff x="2686048" y="146048"/>
            <a:chExt cx="4761945" cy="2805014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288545C-4069-4B4E-836F-A4F1C699E12E}"/>
                </a:ext>
              </a:extLst>
            </p:cNvPr>
            <p:cNvSpPr/>
            <p:nvPr/>
          </p:nvSpPr>
          <p:spPr>
            <a:xfrm>
              <a:off x="2686048" y="146048"/>
              <a:ext cx="4761945" cy="280501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3A3A2879-F677-4528-80E9-519FB3A41B60}"/>
                </a:ext>
              </a:extLst>
            </p:cNvPr>
            <p:cNvSpPr/>
            <p:nvPr/>
          </p:nvSpPr>
          <p:spPr>
            <a:xfrm>
              <a:off x="2686050" y="146050"/>
              <a:ext cx="900000" cy="16867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ysClr val="windowText" lastClr="000000"/>
                  </a:solidFill>
                  <a:latin typeface="+mn-ea"/>
                  <a:cs typeface="함초롬바탕" panose="02030504000101010101" pitchFamily="18" charset="-127"/>
                </a:rPr>
                <a:t>② 포인트</a:t>
              </a:r>
              <a:endParaRPr lang="ko-KR" altLang="en-US" sz="1000" b="1" dirty="0">
                <a:solidFill>
                  <a:sysClr val="windowText" lastClr="000000"/>
                </a:solidFill>
                <a:latin typeface="+mn-ea"/>
              </a:endParaRPr>
            </a:p>
          </p:txBody>
        </p:sp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D322D5C-997D-4A02-AAE9-F1D255DBB81F}"/>
              </a:ext>
            </a:extLst>
          </p:cNvPr>
          <p:cNvGraphicFramePr>
            <a:graphicFrameLocks noGrp="1"/>
          </p:cNvGraphicFramePr>
          <p:nvPr/>
        </p:nvGraphicFramePr>
        <p:xfrm>
          <a:off x="2387441" y="1251860"/>
          <a:ext cx="4525849" cy="5670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3797">
                  <a:extLst>
                    <a:ext uri="{9D8B030D-6E8A-4147-A177-3AD203B41FA5}">
                      <a16:colId xmlns:a16="http://schemas.microsoft.com/office/drawing/2014/main" val="432495550"/>
                    </a:ext>
                  </a:extLst>
                </a:gridCol>
                <a:gridCol w="457287">
                  <a:extLst>
                    <a:ext uri="{9D8B030D-6E8A-4147-A177-3AD203B41FA5}">
                      <a16:colId xmlns:a16="http://schemas.microsoft.com/office/drawing/2014/main" val="3165040000"/>
                    </a:ext>
                  </a:extLst>
                </a:gridCol>
                <a:gridCol w="968726">
                  <a:extLst>
                    <a:ext uri="{9D8B030D-6E8A-4147-A177-3AD203B41FA5}">
                      <a16:colId xmlns:a16="http://schemas.microsoft.com/office/drawing/2014/main" val="4203918455"/>
                    </a:ext>
                  </a:extLst>
                </a:gridCol>
                <a:gridCol w="508741">
                  <a:extLst>
                    <a:ext uri="{9D8B030D-6E8A-4147-A177-3AD203B41FA5}">
                      <a16:colId xmlns:a16="http://schemas.microsoft.com/office/drawing/2014/main" val="1267397118"/>
                    </a:ext>
                  </a:extLst>
                </a:gridCol>
                <a:gridCol w="1158040">
                  <a:extLst>
                    <a:ext uri="{9D8B030D-6E8A-4147-A177-3AD203B41FA5}">
                      <a16:colId xmlns:a16="http://schemas.microsoft.com/office/drawing/2014/main" val="1073415439"/>
                    </a:ext>
                  </a:extLst>
                </a:gridCol>
                <a:gridCol w="529258">
                  <a:extLst>
                    <a:ext uri="{9D8B030D-6E8A-4147-A177-3AD203B41FA5}">
                      <a16:colId xmlns:a16="http://schemas.microsoft.com/office/drawing/2014/main" val="962027285"/>
                    </a:ext>
                  </a:extLst>
                </a:gridCol>
              </a:tblGrid>
              <a:tr h="1766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쿠폰번호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발행처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 err="1">
                          <a:effectLst/>
                        </a:rPr>
                        <a:t>쿠폰명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할인액</a:t>
                      </a:r>
                      <a:r>
                        <a:rPr lang="en-US" altLang="ko-KR" sz="800" u="none" strike="noStrike" dirty="0">
                          <a:effectLst/>
                        </a:rPr>
                        <a:t>(</a:t>
                      </a:r>
                      <a:r>
                        <a:rPr lang="ko-KR" altLang="en-US" sz="800" u="none" strike="noStrike" dirty="0">
                          <a:effectLst/>
                        </a:rPr>
                        <a:t>율</a:t>
                      </a:r>
                      <a:r>
                        <a:rPr lang="en-US" altLang="ko-KR" sz="800" u="none" strike="noStrike" dirty="0">
                          <a:effectLst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사용조건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제한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유효기간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81160"/>
                  </a:ext>
                </a:extLst>
              </a:tr>
              <a:tr h="39038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u="none" strike="noStrike" dirty="0">
                          <a:effectLst/>
                        </a:rPr>
                        <a:t>202008150000000</a:t>
                      </a:r>
                      <a:endParaRPr lang="en-US" altLang="ko-KR" sz="1000" b="1" dirty="0">
                        <a:ea typeface="나눔고딕" panose="020D0604000000000000"/>
                      </a:endParaRPr>
                    </a:p>
                  </a:txBody>
                  <a:tcPr marL="9525" marR="9525" marT="952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B2BUY</a:t>
                      </a:r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 err="1">
                          <a:effectLst/>
                        </a:rPr>
                        <a:t>첫구매감사쿠폰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r>
                        <a:rPr lang="en-US" altLang="ko-KR" sz="800" u="none" strike="noStrike" dirty="0">
                          <a:effectLst/>
                        </a:rPr>
                        <a:t>100,000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원이상</a:t>
                      </a:r>
                      <a:r>
                        <a:rPr lang="ko-KR" altLang="en-US" sz="800" u="none" strike="noStrike" dirty="0">
                          <a:effectLst/>
                        </a:rPr>
                        <a:t> 구매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</a:p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최대할인액 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2,000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</a:t>
                      </a:r>
                    </a:p>
                  </a:txBody>
                  <a:tcPr marL="9525" marR="9525" marT="952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20200815~</a:t>
                      </a:r>
                    </a:p>
                    <a:p>
                      <a:pPr algn="ctr" fontAlgn="b"/>
                      <a:r>
                        <a:rPr lang="en-US" altLang="ko-KR" sz="800" u="none" strike="noStrike" dirty="0">
                          <a:effectLst/>
                        </a:rPr>
                        <a:t>20210814</a:t>
                      </a:r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485912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0DE34C-EDB0-4B0D-A161-357C2BE5DB98}"/>
              </a:ext>
            </a:extLst>
          </p:cNvPr>
          <p:cNvSpPr/>
          <p:nvPr/>
        </p:nvSpPr>
        <p:spPr>
          <a:xfrm>
            <a:off x="2312397" y="1961414"/>
            <a:ext cx="574427" cy="18954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ysClr val="windowText" lastClr="000000"/>
                </a:solidFill>
                <a:latin typeface="+mn-ea"/>
              </a:rPr>
              <a:t>발급일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3A6EE87-AF76-4022-9942-2F5A902C38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2558" y="1939856"/>
            <a:ext cx="4142348" cy="26019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91C6129B-FA0B-401D-81FE-F87C3D247CBA}"/>
              </a:ext>
            </a:extLst>
          </p:cNvPr>
          <p:cNvSpPr/>
          <p:nvPr/>
        </p:nvSpPr>
        <p:spPr>
          <a:xfrm>
            <a:off x="2319911" y="4096544"/>
            <a:ext cx="574427" cy="18954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ysClr val="windowText" lastClr="000000"/>
                </a:solidFill>
                <a:latin typeface="+mn-ea"/>
              </a:rPr>
              <a:t>발급일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6281171-8DCE-4057-B74A-B9CF2D8791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0942" y="4060407"/>
            <a:ext cx="4142348" cy="260199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9ADA6ED3-B910-4959-A011-D5AE3CFFD4CF}"/>
              </a:ext>
            </a:extLst>
          </p:cNvPr>
          <p:cNvSpPr/>
          <p:nvPr/>
        </p:nvSpPr>
        <p:spPr>
          <a:xfrm>
            <a:off x="2344436" y="5035691"/>
            <a:ext cx="979878" cy="24103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ysClr val="windowText" lastClr="000000"/>
                </a:solidFill>
                <a:latin typeface="+mn-ea"/>
              </a:rPr>
              <a:t>적립</a:t>
            </a:r>
            <a:r>
              <a:rPr lang="en-US" altLang="ko-KR" sz="800" b="1" dirty="0">
                <a:solidFill>
                  <a:sysClr val="windowText" lastClr="000000"/>
                </a:solidFill>
                <a:latin typeface="+mn-ea"/>
              </a:rPr>
              <a:t>, </a:t>
            </a:r>
            <a:r>
              <a:rPr lang="ko-KR" altLang="en-US" sz="800" b="1" dirty="0">
                <a:solidFill>
                  <a:sysClr val="windowText" lastClr="000000"/>
                </a:solidFill>
                <a:latin typeface="+mn-ea"/>
              </a:rPr>
              <a:t>사용</a:t>
            </a:r>
            <a:r>
              <a:rPr lang="en-US" altLang="ko-KR" sz="800" b="1" dirty="0">
                <a:solidFill>
                  <a:sysClr val="windowText" lastClr="000000"/>
                </a:solidFill>
                <a:latin typeface="+mn-ea"/>
              </a:rPr>
              <a:t>, </a:t>
            </a:r>
            <a:r>
              <a:rPr lang="ko-KR" altLang="en-US" sz="800" b="1" dirty="0">
                <a:solidFill>
                  <a:sysClr val="windowText" lastClr="000000"/>
                </a:solidFill>
                <a:latin typeface="+mn-ea"/>
              </a:rPr>
              <a:t>충전</a:t>
            </a:r>
          </a:p>
        </p:txBody>
      </p:sp>
    </p:spTree>
    <p:extLst>
      <p:ext uri="{BB962C8B-B14F-4D97-AF65-F5344CB8AC3E}">
        <p14:creationId xmlns:p14="http://schemas.microsoft.com/office/powerpoint/2010/main" val="149661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Box 262">
            <a:extLst>
              <a:ext uri="{FF2B5EF4-FFF2-40B4-BE49-F238E27FC236}">
                <a16:creationId xmlns:a16="http://schemas.microsoft.com/office/drawing/2014/main" id="{1E6B8F40-853D-4B24-A2BE-7AB1E8916CCF}"/>
              </a:ext>
            </a:extLst>
          </p:cNvPr>
          <p:cNvSpPr txBox="1"/>
          <p:nvPr/>
        </p:nvSpPr>
        <p:spPr>
          <a:xfrm>
            <a:off x="105692" y="91541"/>
            <a:ext cx="5828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2. </a:t>
            </a:r>
            <a:r>
              <a:rPr lang="ko-KR" altLang="en-US" b="1" dirty="0">
                <a:latin typeface="+mn-ea"/>
              </a:rPr>
              <a:t>로그인 후 메인 화면 </a:t>
            </a:r>
            <a:r>
              <a:rPr lang="en-US" altLang="ko-KR" b="1" dirty="0">
                <a:latin typeface="+mn-ea"/>
              </a:rPr>
              <a:t>– </a:t>
            </a:r>
            <a:r>
              <a:rPr lang="ko-KR" altLang="en-US" b="1" dirty="0">
                <a:latin typeface="+mn-ea"/>
              </a:rPr>
              <a:t>상단메뉴</a:t>
            </a:r>
            <a:r>
              <a:rPr lang="en-US" altLang="ko-KR" b="1" dirty="0">
                <a:latin typeface="+mn-ea"/>
              </a:rPr>
              <a:t>: </a:t>
            </a:r>
            <a:r>
              <a:rPr lang="ko-KR" altLang="en-US" b="1" dirty="0">
                <a:latin typeface="+mn-ea"/>
              </a:rPr>
              <a:t>공동구매</a:t>
            </a:r>
            <a:r>
              <a:rPr lang="en-US" altLang="ko-KR" b="1" dirty="0">
                <a:latin typeface="+mn-ea"/>
              </a:rPr>
              <a:t> </a:t>
            </a:r>
            <a:r>
              <a:rPr lang="ko-KR" altLang="en-US" b="1" dirty="0">
                <a:latin typeface="+mn-ea"/>
              </a:rPr>
              <a:t>신청하기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924E32F-321D-4819-9DF8-7D7A9CBF844C}"/>
              </a:ext>
            </a:extLst>
          </p:cNvPr>
          <p:cNvSpPr/>
          <p:nvPr/>
        </p:nvSpPr>
        <p:spPr>
          <a:xfrm>
            <a:off x="2299744" y="1435074"/>
            <a:ext cx="4679999" cy="514079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AD6495-7E12-45DE-967C-3AC0C65FB9FC}"/>
              </a:ext>
            </a:extLst>
          </p:cNvPr>
          <p:cNvSpPr txBox="1"/>
          <p:nvPr/>
        </p:nvSpPr>
        <p:spPr>
          <a:xfrm>
            <a:off x="2276441" y="1422191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+mn-ea"/>
              </a:rPr>
              <a:t>공동구매 신청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591855E6-F616-4AA8-BC01-EEB08B6D4D99}"/>
              </a:ext>
            </a:extLst>
          </p:cNvPr>
          <p:cNvSpPr txBox="1"/>
          <p:nvPr/>
        </p:nvSpPr>
        <p:spPr>
          <a:xfrm>
            <a:off x="2464482" y="2115599"/>
            <a:ext cx="84798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1050" b="1">
                <a:ea typeface="나눔고딕" panose="020D0604000000000000"/>
              </a:defRPr>
            </a:lvl1pPr>
          </a:lstStyle>
          <a:p>
            <a:r>
              <a:rPr lang="en-US" altLang="ko-KR" dirty="0">
                <a:latin typeface="+mn-ea"/>
                <a:ea typeface="+mn-ea"/>
              </a:rPr>
              <a:t>1 </a:t>
            </a:r>
            <a:r>
              <a:rPr lang="ko-KR" altLang="en-US" dirty="0">
                <a:latin typeface="+mn-ea"/>
                <a:ea typeface="+mn-ea"/>
              </a:rPr>
              <a:t>신청자 정보</a:t>
            </a:r>
          </a:p>
        </p:txBody>
      </p:sp>
      <p:cxnSp>
        <p:nvCxnSpPr>
          <p:cNvPr id="293" name="직선 연결선 292">
            <a:extLst>
              <a:ext uri="{FF2B5EF4-FFF2-40B4-BE49-F238E27FC236}">
                <a16:creationId xmlns:a16="http://schemas.microsoft.com/office/drawing/2014/main" id="{F0E5DD54-6013-47B9-B842-BC71AEC8F2C1}"/>
              </a:ext>
            </a:extLst>
          </p:cNvPr>
          <p:cNvCxnSpPr>
            <a:cxnSpLocks/>
          </p:cNvCxnSpPr>
          <p:nvPr/>
        </p:nvCxnSpPr>
        <p:spPr>
          <a:xfrm>
            <a:off x="2383315" y="3269101"/>
            <a:ext cx="4469301" cy="50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>
            <a:extLst>
              <a:ext uri="{FF2B5EF4-FFF2-40B4-BE49-F238E27FC236}">
                <a16:creationId xmlns:a16="http://schemas.microsoft.com/office/drawing/2014/main" id="{24C97573-A53B-47CB-98EF-4263952F13B5}"/>
              </a:ext>
            </a:extLst>
          </p:cNvPr>
          <p:cNvSpPr txBox="1"/>
          <p:nvPr/>
        </p:nvSpPr>
        <p:spPr>
          <a:xfrm>
            <a:off x="2405771" y="3404503"/>
            <a:ext cx="135523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50" b="1" dirty="0">
                <a:latin typeface="+mn-ea"/>
              </a:rPr>
              <a:t>2.</a:t>
            </a:r>
            <a:r>
              <a:rPr lang="ko-KR" altLang="en-US" sz="1050" b="1" dirty="0">
                <a:latin typeface="+mn-ea"/>
              </a:rPr>
              <a:t> 공동구매 신청정보</a:t>
            </a:r>
          </a:p>
        </p:txBody>
      </p:sp>
      <p:sp>
        <p:nvSpPr>
          <p:cNvPr id="295" name="직사각형 294">
            <a:extLst>
              <a:ext uri="{FF2B5EF4-FFF2-40B4-BE49-F238E27FC236}">
                <a16:creationId xmlns:a16="http://schemas.microsoft.com/office/drawing/2014/main" id="{32445A2F-AC77-4803-87D7-92481AADDD2C}"/>
              </a:ext>
            </a:extLst>
          </p:cNvPr>
          <p:cNvSpPr/>
          <p:nvPr/>
        </p:nvSpPr>
        <p:spPr>
          <a:xfrm>
            <a:off x="3365326" y="2369248"/>
            <a:ext cx="1122521" cy="201651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spc="-5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97" name="직사각형 296">
            <a:extLst>
              <a:ext uri="{FF2B5EF4-FFF2-40B4-BE49-F238E27FC236}">
                <a16:creationId xmlns:a16="http://schemas.microsoft.com/office/drawing/2014/main" id="{0CF14748-1DF9-4849-A5F5-0AF563D8FCF3}"/>
              </a:ext>
            </a:extLst>
          </p:cNvPr>
          <p:cNvSpPr/>
          <p:nvPr/>
        </p:nvSpPr>
        <p:spPr>
          <a:xfrm>
            <a:off x="3377011" y="2617179"/>
            <a:ext cx="1110217" cy="182271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spc="-5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09" name="직사각형 308">
            <a:extLst>
              <a:ext uri="{FF2B5EF4-FFF2-40B4-BE49-F238E27FC236}">
                <a16:creationId xmlns:a16="http://schemas.microsoft.com/office/drawing/2014/main" id="{53E24204-F7D4-4ABF-8651-FB562F14A504}"/>
              </a:ext>
            </a:extLst>
          </p:cNvPr>
          <p:cNvSpPr/>
          <p:nvPr/>
        </p:nvSpPr>
        <p:spPr>
          <a:xfrm>
            <a:off x="5503732" y="2898151"/>
            <a:ext cx="1135693" cy="169486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spc="-5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11" name="직사각형 310">
            <a:extLst>
              <a:ext uri="{FF2B5EF4-FFF2-40B4-BE49-F238E27FC236}">
                <a16:creationId xmlns:a16="http://schemas.microsoft.com/office/drawing/2014/main" id="{6572A468-1BCA-42D4-9241-5413B8B2E77C}"/>
              </a:ext>
            </a:extLst>
          </p:cNvPr>
          <p:cNvSpPr/>
          <p:nvPr/>
        </p:nvSpPr>
        <p:spPr>
          <a:xfrm>
            <a:off x="3366063" y="2901278"/>
            <a:ext cx="1110217" cy="163723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spc="-5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4A4C7FEE-DC63-4421-BC97-64DC86FBC182}"/>
              </a:ext>
            </a:extLst>
          </p:cNvPr>
          <p:cNvGrpSpPr/>
          <p:nvPr/>
        </p:nvGrpSpPr>
        <p:grpSpPr>
          <a:xfrm>
            <a:off x="2299743" y="745536"/>
            <a:ext cx="4680000" cy="612000"/>
            <a:chOff x="2686050" y="146049"/>
            <a:chExt cx="4680000" cy="612000"/>
          </a:xfrm>
        </p:grpSpPr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FA5AF873-D37E-4FBE-B736-D27210517010}"/>
                </a:ext>
              </a:extLst>
            </p:cNvPr>
            <p:cNvSpPr/>
            <p:nvPr/>
          </p:nvSpPr>
          <p:spPr>
            <a:xfrm>
              <a:off x="2686050" y="146049"/>
              <a:ext cx="4680000" cy="61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09BE754D-6716-4ED3-A213-8F5D71518922}"/>
                </a:ext>
              </a:extLst>
            </p:cNvPr>
            <p:cNvSpPr/>
            <p:nvPr/>
          </p:nvSpPr>
          <p:spPr>
            <a:xfrm>
              <a:off x="2686050" y="146050"/>
              <a:ext cx="778158" cy="1686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  <a:latin typeface="+mn-ea"/>
                </a:rPr>
                <a:t>상단 메뉴</a:t>
              </a:r>
            </a:p>
          </p:txBody>
        </p:sp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C4FA482B-A7D0-49C6-9B1E-DE6DC19E4435}"/>
                </a:ext>
              </a:extLst>
            </p:cNvPr>
            <p:cNvSpPr/>
            <p:nvPr/>
          </p:nvSpPr>
          <p:spPr>
            <a:xfrm>
              <a:off x="2773680" y="403014"/>
              <a:ext cx="1333500" cy="2880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000" b="1" dirty="0">
                  <a:latin typeface="+mn-ea"/>
                </a:rPr>
                <a:t>공동구매 신청하기</a:t>
              </a:r>
            </a:p>
          </p:txBody>
        </p:sp>
        <p:sp>
          <p:nvSpPr>
            <p:cNvPr id="143" name="사각형: 둥근 모서리 142">
              <a:extLst>
                <a:ext uri="{FF2B5EF4-FFF2-40B4-BE49-F238E27FC236}">
                  <a16:creationId xmlns:a16="http://schemas.microsoft.com/office/drawing/2014/main" id="{70D8965F-0ED0-43F4-9FB2-6069C511CD54}"/>
                </a:ext>
              </a:extLst>
            </p:cNvPr>
            <p:cNvSpPr/>
            <p:nvPr/>
          </p:nvSpPr>
          <p:spPr>
            <a:xfrm>
              <a:off x="4179300" y="403014"/>
              <a:ext cx="1333500" cy="288000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000" b="1" dirty="0">
                  <a:latin typeface="+mn-ea"/>
                </a:rPr>
                <a:t>공동구매 참여하기</a:t>
              </a:r>
            </a:p>
          </p:txBody>
        </p:sp>
        <p:pic>
          <p:nvPicPr>
            <p:cNvPr id="144" name="그림 143">
              <a:extLst>
                <a:ext uri="{FF2B5EF4-FFF2-40B4-BE49-F238E27FC236}">
                  <a16:creationId xmlns:a16="http://schemas.microsoft.com/office/drawing/2014/main" id="{ED9AEAD0-E8A3-4C81-AA7F-8F84149F7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59113" y="335959"/>
              <a:ext cx="428625" cy="381000"/>
            </a:xfrm>
            <a:prstGeom prst="rect">
              <a:avLst/>
            </a:prstGeom>
          </p:spPr>
        </p:pic>
        <p:pic>
          <p:nvPicPr>
            <p:cNvPr id="145" name="그림 144">
              <a:extLst>
                <a:ext uri="{FF2B5EF4-FFF2-40B4-BE49-F238E27FC236}">
                  <a16:creationId xmlns:a16="http://schemas.microsoft.com/office/drawing/2014/main" id="{6CB736A2-2D33-4FAE-8353-E9DB63379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4816" y="369297"/>
              <a:ext cx="314325" cy="314325"/>
            </a:xfrm>
            <a:prstGeom prst="rect">
              <a:avLst/>
            </a:prstGeom>
          </p:spPr>
        </p:pic>
        <p:pic>
          <p:nvPicPr>
            <p:cNvPr id="146" name="그림 145">
              <a:extLst>
                <a:ext uri="{FF2B5EF4-FFF2-40B4-BE49-F238E27FC236}">
                  <a16:creationId xmlns:a16="http://schemas.microsoft.com/office/drawing/2014/main" id="{527FDF03-1A3E-4528-A652-C2C9C550F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32888" y="456244"/>
              <a:ext cx="529764" cy="20507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40F88A4-6885-4B77-9713-1886819D74DE}"/>
              </a:ext>
            </a:extLst>
          </p:cNvPr>
          <p:cNvSpPr txBox="1"/>
          <p:nvPr/>
        </p:nvSpPr>
        <p:spPr>
          <a:xfrm>
            <a:off x="2510369" y="2338644"/>
            <a:ext cx="9001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법인</a:t>
            </a:r>
            <a:r>
              <a:rPr lang="en-US" altLang="ko-KR" sz="900" b="1" dirty="0">
                <a:latin typeface="+mn-ea"/>
              </a:rPr>
              <a:t>(</a:t>
            </a:r>
            <a:r>
              <a:rPr lang="ko-KR" altLang="en-US" sz="900" b="1" dirty="0">
                <a:latin typeface="+mn-ea"/>
              </a:rPr>
              <a:t>상호</a:t>
            </a:r>
            <a:r>
              <a:rPr lang="en-US" altLang="ko-KR" sz="900" b="1" dirty="0">
                <a:latin typeface="+mn-ea"/>
              </a:rPr>
              <a:t>)</a:t>
            </a:r>
            <a:r>
              <a:rPr lang="ko-KR" altLang="en-US" sz="900" b="1" dirty="0">
                <a:latin typeface="+mn-ea"/>
              </a:rPr>
              <a:t>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4A4824-0374-4777-9222-22A17A8A4646}"/>
              </a:ext>
            </a:extLst>
          </p:cNvPr>
          <p:cNvSpPr txBox="1"/>
          <p:nvPr/>
        </p:nvSpPr>
        <p:spPr>
          <a:xfrm>
            <a:off x="2522055" y="2587863"/>
            <a:ext cx="9001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담당자명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6B61F-D4EA-4533-8133-CE79DA5E8A5E}"/>
              </a:ext>
            </a:extLst>
          </p:cNvPr>
          <p:cNvSpPr txBox="1"/>
          <p:nvPr/>
        </p:nvSpPr>
        <p:spPr>
          <a:xfrm>
            <a:off x="4560294" y="2352891"/>
            <a:ext cx="11102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사업자등록번호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B99001-EA49-4443-A553-07E1CA75FD27}"/>
              </a:ext>
            </a:extLst>
          </p:cNvPr>
          <p:cNvSpPr/>
          <p:nvPr/>
        </p:nvSpPr>
        <p:spPr>
          <a:xfrm>
            <a:off x="5497322" y="2382305"/>
            <a:ext cx="1110217" cy="201317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spc="-5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093564-564B-4CAE-8287-3097FA29ABA1}"/>
              </a:ext>
            </a:extLst>
          </p:cNvPr>
          <p:cNvSpPr txBox="1"/>
          <p:nvPr/>
        </p:nvSpPr>
        <p:spPr>
          <a:xfrm>
            <a:off x="4566550" y="2850294"/>
            <a:ext cx="9909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이메일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F9EFF5-D21C-4463-B61A-3461C4DCBDC7}"/>
              </a:ext>
            </a:extLst>
          </p:cNvPr>
          <p:cNvSpPr txBox="1"/>
          <p:nvPr/>
        </p:nvSpPr>
        <p:spPr>
          <a:xfrm>
            <a:off x="2519489" y="2876103"/>
            <a:ext cx="9463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사업장주소지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9FF99FA-C1FC-4DFE-AE2E-48D3228FC88A}"/>
              </a:ext>
            </a:extLst>
          </p:cNvPr>
          <p:cNvSpPr/>
          <p:nvPr/>
        </p:nvSpPr>
        <p:spPr>
          <a:xfrm>
            <a:off x="5497322" y="2644666"/>
            <a:ext cx="1110217" cy="179711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spc="-5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C6052B-1924-4E97-80B3-0AA63C41AB0C}"/>
              </a:ext>
            </a:extLst>
          </p:cNvPr>
          <p:cNvSpPr txBox="1"/>
          <p:nvPr/>
        </p:nvSpPr>
        <p:spPr>
          <a:xfrm>
            <a:off x="4569474" y="2603779"/>
            <a:ext cx="9001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전화번호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3966A22-1B16-44BB-9BBC-8B4CAC450CB2}"/>
              </a:ext>
            </a:extLst>
          </p:cNvPr>
          <p:cNvSpPr/>
          <p:nvPr/>
        </p:nvSpPr>
        <p:spPr>
          <a:xfrm>
            <a:off x="3465656" y="3852833"/>
            <a:ext cx="2855295" cy="181496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spc="-5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품목명</a:t>
            </a:r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, </a:t>
            </a:r>
            <a:r>
              <a:rPr lang="ko-KR" altLang="en-US" sz="800" spc="-5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모델명 등 품목 정보 기술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83CB97-97D6-4B7F-8E39-C9FCD88FFA54}"/>
              </a:ext>
            </a:extLst>
          </p:cNvPr>
          <p:cNvSpPr txBox="1"/>
          <p:nvPr/>
        </p:nvSpPr>
        <p:spPr>
          <a:xfrm>
            <a:off x="2496888" y="3835571"/>
            <a:ext cx="9001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 err="1">
                <a:latin typeface="+mn-ea"/>
              </a:rPr>
              <a:t>품목상세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C8F681-7E83-4178-BC5D-2A8CDF059F87}"/>
              </a:ext>
            </a:extLst>
          </p:cNvPr>
          <p:cNvSpPr txBox="1"/>
          <p:nvPr/>
        </p:nvSpPr>
        <p:spPr>
          <a:xfrm>
            <a:off x="2502055" y="4101289"/>
            <a:ext cx="9001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필요수량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193BCE7-7868-4058-B16C-01669E3B970D}"/>
              </a:ext>
            </a:extLst>
          </p:cNvPr>
          <p:cNvSpPr/>
          <p:nvPr/>
        </p:nvSpPr>
        <p:spPr>
          <a:xfrm>
            <a:off x="3469055" y="4112088"/>
            <a:ext cx="562215" cy="174174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800" spc="-5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F19CE0-1010-46D5-AE53-010AAD9C36D9}"/>
              </a:ext>
            </a:extLst>
          </p:cNvPr>
          <p:cNvSpPr txBox="1"/>
          <p:nvPr/>
        </p:nvSpPr>
        <p:spPr>
          <a:xfrm>
            <a:off x="2511870" y="4367007"/>
            <a:ext cx="1018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수령희망일자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C57F9D3-8489-48C6-8E67-324D823AE768}"/>
              </a:ext>
            </a:extLst>
          </p:cNvPr>
          <p:cNvSpPr/>
          <p:nvPr/>
        </p:nvSpPr>
        <p:spPr>
          <a:xfrm>
            <a:off x="3487386" y="4384884"/>
            <a:ext cx="562215" cy="174174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(From)</a:t>
            </a:r>
            <a:endParaRPr lang="ko-KR" altLang="en-US" sz="800" spc="-5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9E67537-E2A9-4026-8665-D1114E225C23}"/>
              </a:ext>
            </a:extLst>
          </p:cNvPr>
          <p:cNvSpPr/>
          <p:nvPr/>
        </p:nvSpPr>
        <p:spPr>
          <a:xfrm>
            <a:off x="4467406" y="4384884"/>
            <a:ext cx="562215" cy="174174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(TO)</a:t>
            </a:r>
            <a:endParaRPr lang="ko-KR" altLang="en-US" sz="800" spc="-5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DC1BFC-CF78-415D-939A-E4F94F37E3E1}"/>
              </a:ext>
            </a:extLst>
          </p:cNvPr>
          <p:cNvSpPr txBox="1"/>
          <p:nvPr/>
        </p:nvSpPr>
        <p:spPr>
          <a:xfrm>
            <a:off x="4081308" y="4369927"/>
            <a:ext cx="4158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+mn-ea"/>
              </a:rPr>
              <a:t>~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E388CF-328F-4484-A384-772A53EBD5A5}"/>
              </a:ext>
            </a:extLst>
          </p:cNvPr>
          <p:cNvSpPr txBox="1"/>
          <p:nvPr/>
        </p:nvSpPr>
        <p:spPr>
          <a:xfrm>
            <a:off x="2511870" y="4643898"/>
            <a:ext cx="10185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배송주소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CBF93D9-BA2B-4F2F-AE2A-6FCC278EB03B}"/>
              </a:ext>
            </a:extLst>
          </p:cNvPr>
          <p:cNvSpPr/>
          <p:nvPr/>
        </p:nvSpPr>
        <p:spPr>
          <a:xfrm>
            <a:off x="3487387" y="4664414"/>
            <a:ext cx="1594026" cy="156354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800" spc="-5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F94335D-4314-41AC-BD3A-A2025A5AEDDE}"/>
              </a:ext>
            </a:extLst>
          </p:cNvPr>
          <p:cNvSpPr txBox="1"/>
          <p:nvPr/>
        </p:nvSpPr>
        <p:spPr>
          <a:xfrm>
            <a:off x="5051806" y="4671211"/>
            <a:ext cx="7950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>
                <a:latin typeface="+mn-ea"/>
              </a:rPr>
              <a:t>배송지형태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7F41D38-4F30-480C-9E2E-5BB966F100E1}"/>
              </a:ext>
            </a:extLst>
          </p:cNvPr>
          <p:cNvSpPr/>
          <p:nvPr/>
        </p:nvSpPr>
        <p:spPr>
          <a:xfrm>
            <a:off x="5777703" y="4667109"/>
            <a:ext cx="562215" cy="174174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800" spc="-5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44341E-9CD7-4331-A0ED-72DC445E681A}"/>
              </a:ext>
            </a:extLst>
          </p:cNvPr>
          <p:cNvSpPr txBox="1"/>
          <p:nvPr/>
        </p:nvSpPr>
        <p:spPr>
          <a:xfrm>
            <a:off x="4378959" y="4107202"/>
            <a:ext cx="134608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희망구매단가</a:t>
            </a:r>
            <a:r>
              <a:rPr lang="en-US" altLang="ko-KR" sz="900" b="1" dirty="0">
                <a:latin typeface="+mn-ea"/>
              </a:rPr>
              <a:t>(1EA)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A3C3FF6-6C07-43C7-AD8A-FAF2671276E0}"/>
              </a:ext>
            </a:extLst>
          </p:cNvPr>
          <p:cNvSpPr/>
          <p:nvPr/>
        </p:nvSpPr>
        <p:spPr>
          <a:xfrm>
            <a:off x="5721965" y="4125121"/>
            <a:ext cx="649881" cy="200262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800" spc="-5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2445EB0-FE50-4D4B-AF55-06D9F1266A22}"/>
              </a:ext>
            </a:extLst>
          </p:cNvPr>
          <p:cNvSpPr txBox="1"/>
          <p:nvPr/>
        </p:nvSpPr>
        <p:spPr>
          <a:xfrm>
            <a:off x="2519489" y="4904554"/>
            <a:ext cx="13087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latin typeface="+mn-ea"/>
              </a:rPr>
              <a:t>(</a:t>
            </a:r>
            <a:r>
              <a:rPr lang="ko-KR" altLang="en-US" sz="900" b="1" dirty="0">
                <a:latin typeface="+mn-ea"/>
              </a:rPr>
              <a:t>선택</a:t>
            </a:r>
            <a:r>
              <a:rPr lang="en-US" altLang="ko-KR" sz="900" b="1" dirty="0">
                <a:latin typeface="+mn-ea"/>
              </a:rPr>
              <a:t>) </a:t>
            </a:r>
            <a:r>
              <a:rPr lang="ko-KR" altLang="en-US" sz="900" b="1" dirty="0">
                <a:latin typeface="+mn-ea"/>
              </a:rPr>
              <a:t>기타요청사항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A8832D7-B9B0-4FC7-9860-ABBE85B0CA76}"/>
              </a:ext>
            </a:extLst>
          </p:cNvPr>
          <p:cNvSpPr/>
          <p:nvPr/>
        </p:nvSpPr>
        <p:spPr>
          <a:xfrm>
            <a:off x="3817885" y="4947238"/>
            <a:ext cx="2662610" cy="283923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800" spc="-5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DDE144E-5D3E-4061-A8C0-A39490359F3E}"/>
              </a:ext>
            </a:extLst>
          </p:cNvPr>
          <p:cNvSpPr txBox="1"/>
          <p:nvPr/>
        </p:nvSpPr>
        <p:spPr>
          <a:xfrm>
            <a:off x="2443673" y="5301449"/>
            <a:ext cx="274360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</a:t>
            </a:r>
            <a:r>
              <a:rPr lang="ko-KR" altLang="en-US" sz="900" b="1" dirty="0">
                <a:latin typeface="+mn-ea"/>
              </a:rPr>
              <a:t>선택</a:t>
            </a:r>
            <a:r>
              <a:rPr lang="en-US" altLang="ko-KR" sz="900" b="1" dirty="0">
                <a:latin typeface="+mn-ea"/>
              </a:rPr>
              <a:t>) </a:t>
            </a:r>
            <a:r>
              <a:rPr lang="ko-KR" altLang="en-US" sz="900" b="1" dirty="0">
                <a:latin typeface="+mn-ea"/>
              </a:rPr>
              <a:t>최근구매정보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3C3308A-FB58-4C31-BFFE-DE9CCE6F6A6A}"/>
              </a:ext>
            </a:extLst>
          </p:cNvPr>
          <p:cNvSpPr/>
          <p:nvPr/>
        </p:nvSpPr>
        <p:spPr>
          <a:xfrm>
            <a:off x="4796016" y="5314689"/>
            <a:ext cx="1594026" cy="156354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(From)</a:t>
            </a:r>
            <a:endParaRPr lang="ko-KR" altLang="en-US" sz="800" spc="-5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FD5EA5-F9BE-49BC-9ABA-BEA44D830F0C}"/>
              </a:ext>
            </a:extLst>
          </p:cNvPr>
          <p:cNvSpPr txBox="1"/>
          <p:nvPr/>
        </p:nvSpPr>
        <p:spPr>
          <a:xfrm>
            <a:off x="3799273" y="5295816"/>
            <a:ext cx="8519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>
                <a:latin typeface="+mn-ea"/>
              </a:rPr>
              <a:t>구매업체명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455CD9-E21E-41B5-8AA2-A05D07560B86}"/>
              </a:ext>
            </a:extLst>
          </p:cNvPr>
          <p:cNvSpPr txBox="1"/>
          <p:nvPr/>
        </p:nvSpPr>
        <p:spPr>
          <a:xfrm>
            <a:off x="3790544" y="5524168"/>
            <a:ext cx="11039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구매처주소</a:t>
            </a:r>
            <a:r>
              <a:rPr lang="en-US" altLang="ko-KR" sz="900" b="1" dirty="0">
                <a:latin typeface="+mn-ea"/>
              </a:rPr>
              <a:t>(URL)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7868100-F6BE-4C2D-BA3F-4DB5DBCE7AE0}"/>
              </a:ext>
            </a:extLst>
          </p:cNvPr>
          <p:cNvSpPr/>
          <p:nvPr/>
        </p:nvSpPr>
        <p:spPr>
          <a:xfrm>
            <a:off x="4805761" y="5537656"/>
            <a:ext cx="1594026" cy="156354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(From)</a:t>
            </a:r>
            <a:endParaRPr lang="ko-KR" altLang="en-US" sz="800" spc="-5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6E7DF47-9E75-48D4-9BFD-5AA167A6B002}"/>
              </a:ext>
            </a:extLst>
          </p:cNvPr>
          <p:cNvSpPr txBox="1"/>
          <p:nvPr/>
        </p:nvSpPr>
        <p:spPr>
          <a:xfrm>
            <a:off x="3792368" y="5731736"/>
            <a:ext cx="9877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구매단가</a:t>
            </a:r>
            <a:r>
              <a:rPr lang="en-US" altLang="ko-KR" sz="900" b="1" dirty="0">
                <a:latin typeface="+mn-ea"/>
              </a:rPr>
              <a:t>(1EA)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722FE3FF-C996-4590-AA37-70EA322834F0}"/>
              </a:ext>
            </a:extLst>
          </p:cNvPr>
          <p:cNvSpPr/>
          <p:nvPr/>
        </p:nvSpPr>
        <p:spPr>
          <a:xfrm>
            <a:off x="4805761" y="5759386"/>
            <a:ext cx="1594026" cy="156354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latin typeface="+mn-ea"/>
              </a:rPr>
              <a:t>(From)</a:t>
            </a:r>
            <a:endParaRPr lang="ko-KR" altLang="en-US" sz="800" spc="-50" dirty="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219" name="직선 연결선 218">
            <a:extLst>
              <a:ext uri="{FF2B5EF4-FFF2-40B4-BE49-F238E27FC236}">
                <a16:creationId xmlns:a16="http://schemas.microsoft.com/office/drawing/2014/main" id="{74967FA2-7317-44E5-B9DA-0E1C5810BB55}"/>
              </a:ext>
            </a:extLst>
          </p:cNvPr>
          <p:cNvCxnSpPr>
            <a:cxnSpLocks/>
          </p:cNvCxnSpPr>
          <p:nvPr/>
        </p:nvCxnSpPr>
        <p:spPr>
          <a:xfrm flipV="1">
            <a:off x="2333946" y="2023617"/>
            <a:ext cx="4106446" cy="1466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9956435D-079F-4A7A-AC2C-767ECCAB3F2C}"/>
              </a:ext>
            </a:extLst>
          </p:cNvPr>
          <p:cNvSpPr/>
          <p:nvPr/>
        </p:nvSpPr>
        <p:spPr>
          <a:xfrm>
            <a:off x="6882030" y="4216705"/>
            <a:ext cx="5083720" cy="255184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공동구매 신청하기를 클릭하면 신청자정보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공동구매 신청정보를 입력하는 화면으로 이동한다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228600" indent="-2286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신청자정보는 로그인정보를 이용하여 자동으로 정보를 불러오고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법인명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사업자등록번호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등을 제외한 값은 수정 가능하도록 텍스트 박스를 열어 준다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  <a:p>
            <a:pPr marL="228600" indent="-2286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공동구매 신청정보는 필수와 선택 입력 값을 구분하여 입력 받고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필수 입력 값이 누락 되었을 때는 팝업창으로 사용자에게 알려준다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228600" indent="-2286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신청 품목을 최대가능 개수만큼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(O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확장가능하며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배송주소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형태는 신청품목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과 동일한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값을 가져올지 체크박스로 입력 받아 값을 복사하여 입력되도록 구성한다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marL="228600" indent="-2286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임시저장 버튼을 클릭하면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공동구매신청 저장함에 정보가 저장되며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임시함에서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공동구매신청 건을 다시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불러올수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있도록 별도 페이지 구성한다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[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페이지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00]</a:t>
            </a:r>
          </a:p>
          <a:p>
            <a:pPr marL="228600" indent="-2286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공동구매신청을 누르면 최종신청 여부를 팝업으로 물어보고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‘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확인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’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클릭시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새로운 페이지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공동구매신청확인서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에서 신청 정보를 출력할 수 있다</a:t>
            </a:r>
            <a:endParaRPr lang="ko-KR" altLang="en-US" sz="100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56A021F3-00E8-4E39-87F6-9FFE8162E60D}"/>
              </a:ext>
            </a:extLst>
          </p:cNvPr>
          <p:cNvSpPr/>
          <p:nvPr/>
        </p:nvSpPr>
        <p:spPr>
          <a:xfrm>
            <a:off x="3574454" y="924963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1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68022D33-32C3-4E20-BD20-34CAF3E9162E}"/>
              </a:ext>
            </a:extLst>
          </p:cNvPr>
          <p:cNvSpPr/>
          <p:nvPr/>
        </p:nvSpPr>
        <p:spPr>
          <a:xfrm>
            <a:off x="3318260" y="2105600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2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1904601-6806-4B54-97F9-DA246BFA535B}"/>
              </a:ext>
            </a:extLst>
          </p:cNvPr>
          <p:cNvSpPr/>
          <p:nvPr/>
        </p:nvSpPr>
        <p:spPr>
          <a:xfrm>
            <a:off x="5041441" y="6222089"/>
            <a:ext cx="1333500" cy="20102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atin typeface="+mn-ea"/>
              </a:rPr>
              <a:t>공동구매신청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B5FC1211-B12A-459F-9CC0-E6C64979185F}"/>
              </a:ext>
            </a:extLst>
          </p:cNvPr>
          <p:cNvSpPr/>
          <p:nvPr/>
        </p:nvSpPr>
        <p:spPr>
          <a:xfrm>
            <a:off x="3633192" y="6217075"/>
            <a:ext cx="1333500" cy="20102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latin typeface="+mn-ea"/>
              </a:rPr>
              <a:t>임시저장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E5F5D47-A269-41EE-BBF0-C2B7E0C2A7E7}"/>
              </a:ext>
            </a:extLst>
          </p:cNvPr>
          <p:cNvSpPr txBox="1"/>
          <p:nvPr/>
        </p:nvSpPr>
        <p:spPr>
          <a:xfrm>
            <a:off x="2387373" y="1767259"/>
            <a:ext cx="42735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기존 공동구매에 없는 필요하신 품목을 신청해주세요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7DC00D36-6FC0-4695-99B2-ABC6E967A48C}"/>
              </a:ext>
            </a:extLst>
          </p:cNvPr>
          <p:cNvSpPr/>
          <p:nvPr/>
        </p:nvSpPr>
        <p:spPr>
          <a:xfrm>
            <a:off x="3692423" y="3398208"/>
            <a:ext cx="189512" cy="17417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3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CF0216D2-7B55-4005-994F-31C5FF50F0B5}"/>
              </a:ext>
            </a:extLst>
          </p:cNvPr>
          <p:cNvSpPr/>
          <p:nvPr/>
        </p:nvSpPr>
        <p:spPr>
          <a:xfrm>
            <a:off x="2629044" y="5984391"/>
            <a:ext cx="288000" cy="180000"/>
          </a:xfrm>
          <a:prstGeom prst="rect">
            <a:avLst/>
          </a:prstGeom>
          <a:solidFill>
            <a:srgbClr val="0070C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latin typeface="+mn-ea"/>
              </a:rPr>
              <a:t>추가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73D21A9-3FC7-49BC-9EF5-12FE126CC920}"/>
              </a:ext>
            </a:extLst>
          </p:cNvPr>
          <p:cNvSpPr/>
          <p:nvPr/>
        </p:nvSpPr>
        <p:spPr>
          <a:xfrm>
            <a:off x="2950447" y="5984391"/>
            <a:ext cx="288000" cy="180000"/>
          </a:xfrm>
          <a:prstGeom prst="rect">
            <a:avLst/>
          </a:prstGeom>
          <a:solidFill>
            <a:srgbClr val="0070C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1" dirty="0">
                <a:latin typeface="+mn-ea"/>
              </a:rPr>
              <a:t>삭제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6CCAA4E-D7D0-47C6-9FFE-3465EB84437E}"/>
              </a:ext>
            </a:extLst>
          </p:cNvPr>
          <p:cNvSpPr txBox="1"/>
          <p:nvPr/>
        </p:nvSpPr>
        <p:spPr>
          <a:xfrm>
            <a:off x="2443373" y="3688143"/>
            <a:ext cx="702090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50" b="1" dirty="0">
                <a:latin typeface="+mn-ea"/>
              </a:rPr>
              <a:t>1)</a:t>
            </a:r>
            <a:r>
              <a:rPr lang="ko-KR" altLang="en-US" sz="900" b="1" dirty="0">
                <a:latin typeface="+mn-ea"/>
              </a:rPr>
              <a:t>신청품목</a:t>
            </a:r>
            <a:r>
              <a:rPr lang="en-US" altLang="ko-KR" sz="1050" b="1" dirty="0">
                <a:latin typeface="+mn-ea"/>
              </a:rPr>
              <a:t>1</a:t>
            </a:r>
            <a:endParaRPr lang="ko-KR" altLang="en-US" sz="1050" b="1" dirty="0">
              <a:latin typeface="+mn-ea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5C354D9-DDCE-4393-B313-EE10384A4B3C}"/>
              </a:ext>
            </a:extLst>
          </p:cNvPr>
          <p:cNvSpPr/>
          <p:nvPr/>
        </p:nvSpPr>
        <p:spPr>
          <a:xfrm>
            <a:off x="2443168" y="3635230"/>
            <a:ext cx="4038421" cy="2566316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400"/>
              </a:spcAft>
              <a:buFont typeface="+mj-ea"/>
              <a:buAutoNum type="circleNumDbPlain"/>
            </a:pPr>
            <a:endParaRPr lang="ko-KR" altLang="en-US" sz="100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057DD69-721C-4689-8167-C76FC7E9B692}"/>
              </a:ext>
            </a:extLst>
          </p:cNvPr>
          <p:cNvSpPr/>
          <p:nvPr/>
        </p:nvSpPr>
        <p:spPr>
          <a:xfrm>
            <a:off x="2844847" y="5860967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4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5265F550-13D9-479A-9A2D-A464290B856C}"/>
              </a:ext>
            </a:extLst>
          </p:cNvPr>
          <p:cNvSpPr/>
          <p:nvPr/>
        </p:nvSpPr>
        <p:spPr>
          <a:xfrm>
            <a:off x="4819415" y="6134605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5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A600B3EB-A2E1-4074-B509-92CA03AB9EE2}"/>
              </a:ext>
            </a:extLst>
          </p:cNvPr>
          <p:cNvSpPr/>
          <p:nvPr/>
        </p:nvSpPr>
        <p:spPr>
          <a:xfrm>
            <a:off x="6271930" y="6132089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6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5D56CF17-67DA-421E-89F5-10D37DEC479B}"/>
              </a:ext>
            </a:extLst>
          </p:cNvPr>
          <p:cNvSpPr/>
          <p:nvPr/>
        </p:nvSpPr>
        <p:spPr>
          <a:xfrm>
            <a:off x="7047658" y="89455"/>
            <a:ext cx="5046630" cy="3976441"/>
          </a:xfrm>
          <a:prstGeom prst="rect">
            <a:avLst/>
          </a:prstGeom>
          <a:noFill/>
          <a:ln w="31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cxnSp>
        <p:nvCxnSpPr>
          <p:cNvPr id="256" name="연결선: 꺾임 255">
            <a:extLst>
              <a:ext uri="{FF2B5EF4-FFF2-40B4-BE49-F238E27FC236}">
                <a16:creationId xmlns:a16="http://schemas.microsoft.com/office/drawing/2014/main" id="{1F994F1A-9142-4443-B5C1-71B1CF180F22}"/>
              </a:ext>
            </a:extLst>
          </p:cNvPr>
          <p:cNvCxnSpPr>
            <a:cxnSpLocks/>
          </p:cNvCxnSpPr>
          <p:nvPr/>
        </p:nvCxnSpPr>
        <p:spPr>
          <a:xfrm flipV="1">
            <a:off x="6374941" y="2020526"/>
            <a:ext cx="681426" cy="4244928"/>
          </a:xfrm>
          <a:prstGeom prst="bentConnector3">
            <a:avLst>
              <a:gd name="adj1" fmla="val 50000"/>
            </a:avLst>
          </a:prstGeom>
          <a:noFill/>
          <a:ln>
            <a:solidFill>
              <a:srgbClr val="7030A0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11059B2C-495D-43AA-A68D-1320BAA68F95}"/>
              </a:ext>
            </a:extLst>
          </p:cNvPr>
          <p:cNvGraphicFramePr>
            <a:graphicFrameLocks noGrp="1"/>
          </p:cNvGraphicFramePr>
          <p:nvPr/>
        </p:nvGraphicFramePr>
        <p:xfrm>
          <a:off x="7087877" y="989521"/>
          <a:ext cx="4993472" cy="628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8755">
                  <a:extLst>
                    <a:ext uri="{9D8B030D-6E8A-4147-A177-3AD203B41FA5}">
                      <a16:colId xmlns:a16="http://schemas.microsoft.com/office/drawing/2014/main" val="3252766020"/>
                    </a:ext>
                  </a:extLst>
                </a:gridCol>
                <a:gridCol w="905862">
                  <a:extLst>
                    <a:ext uri="{9D8B030D-6E8A-4147-A177-3AD203B41FA5}">
                      <a16:colId xmlns:a16="http://schemas.microsoft.com/office/drawing/2014/main" val="3152019281"/>
                    </a:ext>
                  </a:extLst>
                </a:gridCol>
                <a:gridCol w="980727">
                  <a:extLst>
                    <a:ext uri="{9D8B030D-6E8A-4147-A177-3AD203B41FA5}">
                      <a16:colId xmlns:a16="http://schemas.microsoft.com/office/drawing/2014/main" val="3012434286"/>
                    </a:ext>
                  </a:extLst>
                </a:gridCol>
                <a:gridCol w="1190348">
                  <a:extLst>
                    <a:ext uri="{9D8B030D-6E8A-4147-A177-3AD203B41FA5}">
                      <a16:colId xmlns:a16="http://schemas.microsoft.com/office/drawing/2014/main" val="3452458038"/>
                    </a:ext>
                  </a:extLst>
                </a:gridCol>
                <a:gridCol w="1227780">
                  <a:extLst>
                    <a:ext uri="{9D8B030D-6E8A-4147-A177-3AD203B41FA5}">
                      <a16:colId xmlns:a16="http://schemas.microsoft.com/office/drawing/2014/main" val="1453833467"/>
                    </a:ext>
                  </a:extLst>
                </a:gridCol>
              </a:tblGrid>
              <a:tr h="209550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고객정보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880624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 err="1">
                          <a:effectLst/>
                        </a:rPr>
                        <a:t>법인명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사업자등록번호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담당자명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전화번호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>
                          <a:effectLst/>
                        </a:rPr>
                        <a:t>이메일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24126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30153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B0258586-6F3F-4B9A-B452-CCA23B440E8D}"/>
              </a:ext>
            </a:extLst>
          </p:cNvPr>
          <p:cNvGraphicFramePr>
            <a:graphicFrameLocks noGrp="1"/>
          </p:cNvGraphicFramePr>
          <p:nvPr/>
        </p:nvGraphicFramePr>
        <p:xfrm>
          <a:off x="7102089" y="1911261"/>
          <a:ext cx="4976857" cy="7334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106">
                  <a:extLst>
                    <a:ext uri="{9D8B030D-6E8A-4147-A177-3AD203B41FA5}">
                      <a16:colId xmlns:a16="http://schemas.microsoft.com/office/drawing/2014/main" val="929003941"/>
                    </a:ext>
                  </a:extLst>
                </a:gridCol>
                <a:gridCol w="1128162">
                  <a:extLst>
                    <a:ext uri="{9D8B030D-6E8A-4147-A177-3AD203B41FA5}">
                      <a16:colId xmlns:a16="http://schemas.microsoft.com/office/drawing/2014/main" val="1985088083"/>
                    </a:ext>
                  </a:extLst>
                </a:gridCol>
                <a:gridCol w="807891">
                  <a:extLst>
                    <a:ext uri="{9D8B030D-6E8A-4147-A177-3AD203B41FA5}">
                      <a16:colId xmlns:a16="http://schemas.microsoft.com/office/drawing/2014/main" val="1000649181"/>
                    </a:ext>
                  </a:extLst>
                </a:gridCol>
                <a:gridCol w="814059">
                  <a:extLst>
                    <a:ext uri="{9D8B030D-6E8A-4147-A177-3AD203B41FA5}">
                      <a16:colId xmlns:a16="http://schemas.microsoft.com/office/drawing/2014/main" val="945517904"/>
                    </a:ext>
                  </a:extLst>
                </a:gridCol>
                <a:gridCol w="1011406">
                  <a:extLst>
                    <a:ext uri="{9D8B030D-6E8A-4147-A177-3AD203B41FA5}">
                      <a16:colId xmlns:a16="http://schemas.microsoft.com/office/drawing/2014/main" val="3539925932"/>
                    </a:ext>
                  </a:extLst>
                </a:gridCol>
                <a:gridCol w="931233">
                  <a:extLst>
                    <a:ext uri="{9D8B030D-6E8A-4147-A177-3AD203B41FA5}">
                      <a16:colId xmlns:a16="http://schemas.microsoft.com/office/drawing/2014/main" val="1983604529"/>
                    </a:ext>
                  </a:extLst>
                </a:gridCol>
              </a:tblGrid>
              <a:tr h="813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 dirty="0">
                          <a:effectLst/>
                        </a:rPr>
                        <a:t>NO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신청정보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754538"/>
                  </a:ext>
                </a:extLst>
              </a:tr>
              <a:tr h="81307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900" u="none" strike="noStrike" dirty="0">
                          <a:effectLst/>
                        </a:rPr>
                        <a:t>1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품목명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필요수량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희망단가</a:t>
                      </a:r>
                      <a:r>
                        <a:rPr lang="en-US" altLang="ko-KR" sz="900" u="none" strike="noStrike" dirty="0">
                          <a:effectLst/>
                        </a:rPr>
                        <a:t>(1</a:t>
                      </a:r>
                      <a:r>
                        <a:rPr lang="en-US" sz="900" u="none" strike="noStrike" dirty="0">
                          <a:effectLst/>
                        </a:rPr>
                        <a:t>EA)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수령희망일</a:t>
                      </a:r>
                      <a:r>
                        <a:rPr lang="en-US" altLang="ko-KR" sz="900" u="none" strike="noStrike" dirty="0">
                          <a:effectLst/>
                        </a:rPr>
                        <a:t>(</a:t>
                      </a:r>
                      <a:r>
                        <a:rPr lang="en-US" sz="900" u="none" strike="noStrike" dirty="0">
                          <a:effectLst/>
                        </a:rPr>
                        <a:t>FR)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수령희망일</a:t>
                      </a:r>
                      <a:r>
                        <a:rPr lang="en-US" altLang="ko-KR" sz="900" u="none" strike="noStrike" dirty="0">
                          <a:effectLst/>
                        </a:rPr>
                        <a:t>(</a:t>
                      </a:r>
                      <a:r>
                        <a:rPr lang="en-US" sz="900" u="none" strike="noStrike" dirty="0">
                          <a:effectLst/>
                        </a:rPr>
                        <a:t>TO)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170946"/>
                  </a:ext>
                </a:extLst>
              </a:tr>
              <a:tr h="813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295861"/>
                  </a:ext>
                </a:extLst>
              </a:tr>
              <a:tr h="813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배송지형태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배송지주소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우편번호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기타 요청사항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523965"/>
                  </a:ext>
                </a:extLst>
              </a:tr>
              <a:tr h="813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643129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2E2E126A-434C-4B8B-9452-7A434F803228}"/>
              </a:ext>
            </a:extLst>
          </p:cNvPr>
          <p:cNvGraphicFramePr>
            <a:graphicFrameLocks noGrp="1"/>
          </p:cNvGraphicFramePr>
          <p:nvPr/>
        </p:nvGraphicFramePr>
        <p:xfrm>
          <a:off x="7102089" y="2698149"/>
          <a:ext cx="4976857" cy="586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106">
                  <a:extLst>
                    <a:ext uri="{9D8B030D-6E8A-4147-A177-3AD203B41FA5}">
                      <a16:colId xmlns:a16="http://schemas.microsoft.com/office/drawing/2014/main" val="4224932617"/>
                    </a:ext>
                  </a:extLst>
                </a:gridCol>
                <a:gridCol w="1128162">
                  <a:extLst>
                    <a:ext uri="{9D8B030D-6E8A-4147-A177-3AD203B41FA5}">
                      <a16:colId xmlns:a16="http://schemas.microsoft.com/office/drawing/2014/main" val="3716763410"/>
                    </a:ext>
                  </a:extLst>
                </a:gridCol>
                <a:gridCol w="807891">
                  <a:extLst>
                    <a:ext uri="{9D8B030D-6E8A-4147-A177-3AD203B41FA5}">
                      <a16:colId xmlns:a16="http://schemas.microsoft.com/office/drawing/2014/main" val="3584004368"/>
                    </a:ext>
                  </a:extLst>
                </a:gridCol>
                <a:gridCol w="814059">
                  <a:extLst>
                    <a:ext uri="{9D8B030D-6E8A-4147-A177-3AD203B41FA5}">
                      <a16:colId xmlns:a16="http://schemas.microsoft.com/office/drawing/2014/main" val="750746137"/>
                    </a:ext>
                  </a:extLst>
                </a:gridCol>
                <a:gridCol w="1011406">
                  <a:extLst>
                    <a:ext uri="{9D8B030D-6E8A-4147-A177-3AD203B41FA5}">
                      <a16:colId xmlns:a16="http://schemas.microsoft.com/office/drawing/2014/main" val="3226298529"/>
                    </a:ext>
                  </a:extLst>
                </a:gridCol>
                <a:gridCol w="931233">
                  <a:extLst>
                    <a:ext uri="{9D8B030D-6E8A-4147-A177-3AD203B41FA5}">
                      <a16:colId xmlns:a16="http://schemas.microsoft.com/office/drawing/2014/main" val="90656909"/>
                    </a:ext>
                  </a:extLst>
                </a:gridCol>
              </a:tblGrid>
              <a:tr h="81307"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품목명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필요수량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희망단가</a:t>
                      </a:r>
                      <a:r>
                        <a:rPr lang="en-US" altLang="ko-KR" sz="900" u="none" strike="noStrike" dirty="0">
                          <a:effectLst/>
                        </a:rPr>
                        <a:t>(1</a:t>
                      </a:r>
                      <a:r>
                        <a:rPr lang="en-US" sz="900" u="none" strike="noStrike" dirty="0">
                          <a:effectLst/>
                        </a:rPr>
                        <a:t>EA)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수령희망일</a:t>
                      </a:r>
                      <a:r>
                        <a:rPr lang="en-US" altLang="ko-KR" sz="900" u="none" strike="noStrike" dirty="0">
                          <a:effectLst/>
                        </a:rPr>
                        <a:t>(</a:t>
                      </a:r>
                      <a:r>
                        <a:rPr lang="en-US" sz="900" u="none" strike="noStrike" dirty="0">
                          <a:effectLst/>
                        </a:rPr>
                        <a:t>FR)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수령희망일</a:t>
                      </a:r>
                      <a:r>
                        <a:rPr lang="en-US" altLang="ko-KR" sz="900" u="none" strike="noStrike" dirty="0">
                          <a:effectLst/>
                        </a:rPr>
                        <a:t>(</a:t>
                      </a:r>
                      <a:r>
                        <a:rPr lang="en-US" sz="900" u="none" strike="noStrike" dirty="0">
                          <a:effectLst/>
                        </a:rPr>
                        <a:t>TO)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888965"/>
                  </a:ext>
                </a:extLst>
              </a:tr>
              <a:tr h="813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279418"/>
                  </a:ext>
                </a:extLst>
              </a:tr>
              <a:tr h="813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배송지형태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배송지주소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우편번호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기타 요청사항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390245"/>
                  </a:ext>
                </a:extLst>
              </a:tr>
              <a:tr h="813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>
                          <a:effectLst/>
                        </a:rPr>
                        <a:t>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u="none" strike="noStrike" dirty="0">
                          <a:effectLst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194181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D846CEAA-548E-4F60-B5B3-11E097033A59}"/>
              </a:ext>
            </a:extLst>
          </p:cNvPr>
          <p:cNvSpPr txBox="1"/>
          <p:nvPr/>
        </p:nvSpPr>
        <p:spPr>
          <a:xfrm>
            <a:off x="8653107" y="153096"/>
            <a:ext cx="18630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공동구매 신청확인서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862556-4A07-4CB0-88AE-8958521CA6C3}"/>
              </a:ext>
            </a:extLst>
          </p:cNvPr>
          <p:cNvSpPr txBox="1"/>
          <p:nvPr/>
        </p:nvSpPr>
        <p:spPr>
          <a:xfrm>
            <a:off x="10405210" y="482300"/>
            <a:ext cx="13393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신청번호 </a:t>
            </a:r>
            <a:r>
              <a:rPr lang="en-US" altLang="ko-KR" sz="900" b="1" dirty="0">
                <a:latin typeface="+mn-ea"/>
              </a:rPr>
              <a:t>: 2020-1A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DED001-BA21-4437-86ED-0CB3BF2E026F}"/>
              </a:ext>
            </a:extLst>
          </p:cNvPr>
          <p:cNvSpPr txBox="1"/>
          <p:nvPr/>
        </p:nvSpPr>
        <p:spPr>
          <a:xfrm>
            <a:off x="10405210" y="694054"/>
            <a:ext cx="149723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dirty="0">
                <a:latin typeface="+mn-ea"/>
              </a:rPr>
              <a:t>신청일자 </a:t>
            </a:r>
            <a:r>
              <a:rPr lang="en-US" altLang="ko-KR" sz="900" b="1" dirty="0">
                <a:latin typeface="+mn-ea"/>
              </a:rPr>
              <a:t>: 2020-00-00</a:t>
            </a:r>
            <a:endParaRPr lang="ko-KR" altLang="en-US" sz="900" b="1" dirty="0">
              <a:latin typeface="+mn-ea"/>
            </a:endParaRPr>
          </a:p>
        </p:txBody>
      </p:sp>
      <p:pic>
        <p:nvPicPr>
          <p:cNvPr id="71" name="그림 70" descr="그리기이(가) 표시된 사진&#10;&#10;자동 생성된 설명">
            <a:extLst>
              <a:ext uri="{FF2B5EF4-FFF2-40B4-BE49-F238E27FC236}">
                <a16:creationId xmlns:a16="http://schemas.microsoft.com/office/drawing/2014/main" id="{E5FE01DD-8194-4B16-9F12-5407E289A5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3973" y="3549253"/>
            <a:ext cx="294730" cy="441694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B279696A-1118-4907-906D-459554693BBE}"/>
              </a:ext>
            </a:extLst>
          </p:cNvPr>
          <p:cNvSpPr txBox="1"/>
          <p:nvPr/>
        </p:nvSpPr>
        <p:spPr>
          <a:xfrm>
            <a:off x="11005057" y="3660805"/>
            <a:ext cx="939781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200" b="1" spc="-100" dirty="0" err="1">
                <a:latin typeface="+mn-ea"/>
              </a:rPr>
              <a:t>비</a:t>
            </a:r>
            <a:r>
              <a:rPr lang="ko-KR" altLang="en-US" sz="1200" b="1" spc="-100" dirty="0" err="1">
                <a:solidFill>
                  <a:srgbClr val="0070C0"/>
                </a:solidFill>
                <a:latin typeface="+mn-ea"/>
              </a:rPr>
              <a:t>투</a:t>
            </a:r>
            <a:r>
              <a:rPr lang="ko-KR" altLang="en-US" sz="1200" b="1" spc="-100" dirty="0" err="1">
                <a:latin typeface="+mn-ea"/>
              </a:rPr>
              <a:t>바이</a:t>
            </a:r>
            <a:r>
              <a:rPr lang="ko-KR" altLang="en-US" sz="1200" b="1" spc="-100" dirty="0">
                <a:latin typeface="+mn-ea"/>
              </a:rPr>
              <a:t>  </a:t>
            </a:r>
            <a:r>
              <a:rPr lang="en-US" altLang="ko-KR" sz="1200" b="1" spc="-100" dirty="0">
                <a:latin typeface="+mn-ea"/>
              </a:rPr>
              <a:t>(</a:t>
            </a:r>
            <a:r>
              <a:rPr lang="ko-KR" altLang="en-US" sz="1200" b="1" spc="-100" dirty="0">
                <a:latin typeface="+mn-ea"/>
              </a:rPr>
              <a:t>인</a:t>
            </a:r>
            <a:r>
              <a:rPr lang="en-US" altLang="ko-KR" sz="1200" b="1" spc="-100" dirty="0">
                <a:latin typeface="+mn-ea"/>
              </a:rPr>
              <a:t>)</a:t>
            </a:r>
            <a:endParaRPr lang="ko-KR" altLang="en-US" sz="1200" b="1" spc="-100" dirty="0">
              <a:latin typeface="+mn-ea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DEE8E1D-FA28-45AB-A92A-763B2DB536B9}"/>
              </a:ext>
            </a:extLst>
          </p:cNvPr>
          <p:cNvSpPr txBox="1"/>
          <p:nvPr/>
        </p:nvSpPr>
        <p:spPr>
          <a:xfrm>
            <a:off x="9218760" y="3503477"/>
            <a:ext cx="939781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200" b="1" spc="-100" dirty="0">
                <a:latin typeface="+mn-ea"/>
              </a:rPr>
              <a:t>- 1 - </a:t>
            </a:r>
            <a:endParaRPr lang="ko-KR" altLang="en-US" sz="1200" b="1" spc="-100" dirty="0">
              <a:latin typeface="+mn-ea"/>
            </a:endParaRPr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2FD9D849-A193-4CC7-BE1B-D9E94F1FCE27}"/>
              </a:ext>
            </a:extLst>
          </p:cNvPr>
          <p:cNvCxnSpPr>
            <a:cxnSpLocks/>
          </p:cNvCxnSpPr>
          <p:nvPr/>
        </p:nvCxnSpPr>
        <p:spPr>
          <a:xfrm flipV="1">
            <a:off x="7178894" y="459913"/>
            <a:ext cx="4765944" cy="1555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66201008-29D6-414A-90C4-B1EC0134DAC3}"/>
              </a:ext>
            </a:extLst>
          </p:cNvPr>
          <p:cNvGrpSpPr/>
          <p:nvPr/>
        </p:nvGrpSpPr>
        <p:grpSpPr>
          <a:xfrm>
            <a:off x="56632" y="539931"/>
            <a:ext cx="2146638" cy="6018151"/>
            <a:chOff x="56632" y="539931"/>
            <a:chExt cx="2146638" cy="6018151"/>
          </a:xfrm>
        </p:grpSpPr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9C558E06-2FC6-4DFE-AFBC-1B54F574F10F}"/>
                </a:ext>
              </a:extLst>
            </p:cNvPr>
            <p:cNvGrpSpPr/>
            <p:nvPr/>
          </p:nvGrpSpPr>
          <p:grpSpPr>
            <a:xfrm>
              <a:off x="56632" y="539931"/>
              <a:ext cx="2146638" cy="6018151"/>
              <a:chOff x="56632" y="539931"/>
              <a:chExt cx="2146638" cy="6018151"/>
            </a:xfrm>
          </p:grpSpPr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B6ABCE41-C1A5-4201-B620-1FC2393A805E}"/>
                  </a:ext>
                </a:extLst>
              </p:cNvPr>
              <p:cNvSpPr/>
              <p:nvPr/>
            </p:nvSpPr>
            <p:spPr>
              <a:xfrm>
                <a:off x="56632" y="827920"/>
                <a:ext cx="2146638" cy="5730162"/>
              </a:xfrm>
              <a:prstGeom prst="rect">
                <a:avLst/>
              </a:prstGeom>
              <a:solidFill>
                <a:srgbClr val="002B82"/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200" b="1" dirty="0">
                  <a:latin typeface="+mn-ea"/>
                </a:endParaRPr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4FD3F6B1-B029-4FDF-8EDD-BC8CA9678151}"/>
                  </a:ext>
                </a:extLst>
              </p:cNvPr>
              <p:cNvSpPr/>
              <p:nvPr/>
            </p:nvSpPr>
            <p:spPr>
              <a:xfrm>
                <a:off x="56632" y="539931"/>
                <a:ext cx="2146637" cy="276999"/>
              </a:xfrm>
              <a:prstGeom prst="rect">
                <a:avLst/>
              </a:prstGeom>
              <a:solidFill>
                <a:srgbClr val="002B82"/>
              </a:solidFill>
              <a:ln w="28575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b="1" dirty="0">
                    <a:latin typeface="+mn-ea"/>
                  </a:rPr>
                  <a:t>[</a:t>
                </a:r>
                <a:r>
                  <a:rPr lang="ko-KR" altLang="en-US" sz="1200" b="1" dirty="0">
                    <a:latin typeface="+mn-ea"/>
                  </a:rPr>
                  <a:t>전체 화면 구조</a:t>
                </a:r>
                <a:r>
                  <a:rPr lang="en-US" altLang="ko-KR" sz="1200" b="1" dirty="0">
                    <a:latin typeface="+mn-ea"/>
                  </a:rPr>
                  <a:t>]</a:t>
                </a:r>
                <a:endParaRPr lang="ko-KR" altLang="en-US" sz="1200" b="1" dirty="0">
                  <a:latin typeface="+mn-ea"/>
                </a:endParaRPr>
              </a:p>
            </p:txBody>
          </p:sp>
        </p:grp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41D2AFA7-FAFC-4752-ADFD-402223D219CD}"/>
                </a:ext>
              </a:extLst>
            </p:cNvPr>
            <p:cNvGrpSpPr/>
            <p:nvPr/>
          </p:nvGrpSpPr>
          <p:grpSpPr>
            <a:xfrm>
              <a:off x="136251" y="889272"/>
              <a:ext cx="1980000" cy="4680000"/>
              <a:chOff x="136251" y="741223"/>
              <a:chExt cx="1980000" cy="4680000"/>
            </a:xfrm>
          </p:grpSpPr>
          <p:grpSp>
            <p:nvGrpSpPr>
              <p:cNvPr id="102" name="그룹 101">
                <a:extLst>
                  <a:ext uri="{FF2B5EF4-FFF2-40B4-BE49-F238E27FC236}">
                    <a16:creationId xmlns:a16="http://schemas.microsoft.com/office/drawing/2014/main" id="{96E98D52-E156-4866-9206-857447DC2B77}"/>
                  </a:ext>
                </a:extLst>
              </p:cNvPr>
              <p:cNvGrpSpPr/>
              <p:nvPr/>
            </p:nvGrpSpPr>
            <p:grpSpPr>
              <a:xfrm>
                <a:off x="136251" y="741223"/>
                <a:ext cx="1980000" cy="4680000"/>
                <a:chOff x="226421" y="238759"/>
                <a:chExt cx="1980000" cy="4680000"/>
              </a:xfrm>
            </p:grpSpPr>
            <p:grpSp>
              <p:nvGrpSpPr>
                <p:cNvPr id="106" name="그룹 105">
                  <a:extLst>
                    <a:ext uri="{FF2B5EF4-FFF2-40B4-BE49-F238E27FC236}">
                      <a16:creationId xmlns:a16="http://schemas.microsoft.com/office/drawing/2014/main" id="{9B879E28-73DC-4E11-83B5-EBB81E9BE201}"/>
                    </a:ext>
                  </a:extLst>
                </p:cNvPr>
                <p:cNvGrpSpPr/>
                <p:nvPr/>
              </p:nvGrpSpPr>
              <p:grpSpPr>
                <a:xfrm>
                  <a:off x="226421" y="238759"/>
                  <a:ext cx="1980000" cy="4680000"/>
                  <a:chOff x="226421" y="206454"/>
                  <a:chExt cx="3222454" cy="7655778"/>
                </a:xfrm>
              </p:grpSpPr>
              <p:sp>
                <p:nvSpPr>
                  <p:cNvPr id="115" name="직사각형 114">
                    <a:extLst>
                      <a:ext uri="{FF2B5EF4-FFF2-40B4-BE49-F238E27FC236}">
                        <a16:creationId xmlns:a16="http://schemas.microsoft.com/office/drawing/2014/main" id="{9758A248-B4BE-4DCD-A4ED-7A51306E24D8}"/>
                      </a:ext>
                    </a:extLst>
                  </p:cNvPr>
                  <p:cNvSpPr/>
                  <p:nvPr/>
                </p:nvSpPr>
                <p:spPr>
                  <a:xfrm>
                    <a:off x="226421" y="206454"/>
                    <a:ext cx="3222454" cy="765577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+mn-ea"/>
                    </a:endParaRPr>
                  </a:p>
                </p:txBody>
              </p:sp>
              <p:sp>
                <p:nvSpPr>
                  <p:cNvPr id="116" name="직사각형 115">
                    <a:extLst>
                      <a:ext uri="{FF2B5EF4-FFF2-40B4-BE49-F238E27FC236}">
                        <a16:creationId xmlns:a16="http://schemas.microsoft.com/office/drawing/2014/main" id="{D8DD180E-FF44-4A1F-8092-020C93A25A49}"/>
                      </a:ext>
                    </a:extLst>
                  </p:cNvPr>
                  <p:cNvSpPr/>
                  <p:nvPr/>
                </p:nvSpPr>
                <p:spPr>
                  <a:xfrm>
                    <a:off x="372896" y="3389140"/>
                    <a:ext cx="2929504" cy="1177810"/>
                  </a:xfrm>
                  <a:prstGeom prst="rect">
                    <a:avLst/>
                  </a:prstGeom>
                  <a:noFill/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/>
                  <a:p>
                    <a:pPr algn="ctr"/>
                    <a:r>
                      <a:rPr lang="ko-KR" altLang="en-US" sz="1000" b="1" dirty="0">
                        <a:solidFill>
                          <a:schemeClr val="tx1"/>
                        </a:solidFill>
                        <a:latin typeface="+mn-ea"/>
                      </a:rPr>
                      <a:t>추천 공동구매 </a:t>
                    </a:r>
                    <a:r>
                      <a:rPr lang="en-US" altLang="ko-KR" sz="1000" b="1" dirty="0">
                        <a:solidFill>
                          <a:schemeClr val="tx1"/>
                        </a:solidFill>
                        <a:latin typeface="+mn-ea"/>
                      </a:rPr>
                      <a:t>(3</a:t>
                    </a:r>
                    <a:r>
                      <a:rPr lang="ko-KR" altLang="en-US" sz="1000" b="1" dirty="0">
                        <a:solidFill>
                          <a:schemeClr val="tx1"/>
                        </a:solidFill>
                        <a:latin typeface="+mn-ea"/>
                      </a:rPr>
                      <a:t>개</a:t>
                    </a:r>
                    <a:r>
                      <a:rPr lang="en-US" altLang="ko-KR" sz="1000" b="1" dirty="0">
                        <a:solidFill>
                          <a:schemeClr val="tx1"/>
                        </a:solidFill>
                        <a:latin typeface="+mn-ea"/>
                      </a:rPr>
                      <a:t>)</a:t>
                    </a:r>
                    <a:endParaRPr lang="ko-KR" altLang="en-US" sz="1000" b="1" dirty="0">
                      <a:solidFill>
                        <a:schemeClr val="tx1"/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117" name="직사각형 116">
                    <a:extLst>
                      <a:ext uri="{FF2B5EF4-FFF2-40B4-BE49-F238E27FC236}">
                        <a16:creationId xmlns:a16="http://schemas.microsoft.com/office/drawing/2014/main" id="{CFF753F2-2EE0-49BC-8ED3-97E5FD140013}"/>
                      </a:ext>
                    </a:extLst>
                  </p:cNvPr>
                  <p:cNvSpPr/>
                  <p:nvPr/>
                </p:nvSpPr>
                <p:spPr>
                  <a:xfrm>
                    <a:off x="372896" y="2128944"/>
                    <a:ext cx="2929504" cy="1177810"/>
                  </a:xfrm>
                  <a:prstGeom prst="rect">
                    <a:avLst/>
                  </a:prstGeom>
                  <a:noFill/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/>
                  <a:p>
                    <a:pPr algn="ctr"/>
                    <a:r>
                      <a:rPr lang="ko-KR" altLang="en-US" sz="1000" b="1" dirty="0">
                        <a:solidFill>
                          <a:schemeClr val="tx1"/>
                        </a:solidFill>
                        <a:latin typeface="+mn-ea"/>
                      </a:rPr>
                      <a:t>참여 중 공동구매 </a:t>
                    </a:r>
                    <a:r>
                      <a:rPr lang="en-US" altLang="ko-KR" sz="1000" b="1" dirty="0">
                        <a:solidFill>
                          <a:schemeClr val="tx1"/>
                        </a:solidFill>
                        <a:latin typeface="+mn-ea"/>
                      </a:rPr>
                      <a:t>(3</a:t>
                    </a:r>
                    <a:r>
                      <a:rPr lang="ko-KR" altLang="en-US" sz="1000" b="1" dirty="0">
                        <a:solidFill>
                          <a:schemeClr val="tx1"/>
                        </a:solidFill>
                        <a:latin typeface="+mn-ea"/>
                      </a:rPr>
                      <a:t>개</a:t>
                    </a:r>
                    <a:r>
                      <a:rPr lang="en-US" altLang="ko-KR" sz="1000" b="1" dirty="0">
                        <a:solidFill>
                          <a:schemeClr val="tx1"/>
                        </a:solidFill>
                        <a:latin typeface="+mn-ea"/>
                      </a:rPr>
                      <a:t>)</a:t>
                    </a:r>
                    <a:endParaRPr lang="ko-KR" altLang="en-US" sz="1000" b="1" dirty="0">
                      <a:solidFill>
                        <a:schemeClr val="tx1"/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118" name="직사각형 117">
                    <a:extLst>
                      <a:ext uri="{FF2B5EF4-FFF2-40B4-BE49-F238E27FC236}">
                        <a16:creationId xmlns:a16="http://schemas.microsoft.com/office/drawing/2014/main" id="{2B2169D4-C0FA-46FE-8578-B4F49D28394E}"/>
                      </a:ext>
                    </a:extLst>
                  </p:cNvPr>
                  <p:cNvSpPr/>
                  <p:nvPr/>
                </p:nvSpPr>
                <p:spPr>
                  <a:xfrm>
                    <a:off x="372896" y="4649337"/>
                    <a:ext cx="2929504" cy="1177810"/>
                  </a:xfrm>
                  <a:prstGeom prst="rect">
                    <a:avLst/>
                  </a:prstGeom>
                  <a:noFill/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/>
                  <a:p>
                    <a:pPr algn="ctr"/>
                    <a:r>
                      <a:rPr lang="ko-KR" altLang="en-US" sz="1000" b="1" dirty="0">
                        <a:solidFill>
                          <a:schemeClr val="tx1"/>
                        </a:solidFill>
                        <a:latin typeface="+mn-ea"/>
                      </a:rPr>
                      <a:t>오픈 예정 공동구매 </a:t>
                    </a:r>
                    <a:r>
                      <a:rPr lang="en-US" altLang="ko-KR" sz="1000" b="1" dirty="0">
                        <a:solidFill>
                          <a:schemeClr val="tx1"/>
                        </a:solidFill>
                        <a:latin typeface="+mn-ea"/>
                      </a:rPr>
                      <a:t>(3</a:t>
                    </a:r>
                    <a:r>
                      <a:rPr lang="ko-KR" altLang="en-US" sz="1000" b="1" dirty="0">
                        <a:solidFill>
                          <a:schemeClr val="tx1"/>
                        </a:solidFill>
                        <a:latin typeface="+mn-ea"/>
                      </a:rPr>
                      <a:t>개</a:t>
                    </a:r>
                    <a:r>
                      <a:rPr lang="en-US" altLang="ko-KR" sz="1000" b="1" dirty="0">
                        <a:solidFill>
                          <a:schemeClr val="tx1"/>
                        </a:solidFill>
                        <a:latin typeface="+mn-ea"/>
                      </a:rPr>
                      <a:t>)</a:t>
                    </a:r>
                    <a:endParaRPr lang="ko-KR" altLang="en-US" sz="1000" b="1" dirty="0">
                      <a:solidFill>
                        <a:schemeClr val="tx1"/>
                      </a:solidFill>
                      <a:latin typeface="+mn-ea"/>
                    </a:endParaRPr>
                  </a:p>
                </p:txBody>
              </p:sp>
              <p:sp>
                <p:nvSpPr>
                  <p:cNvPr id="119" name="직사각형 118">
                    <a:extLst>
                      <a:ext uri="{FF2B5EF4-FFF2-40B4-BE49-F238E27FC236}">
                        <a16:creationId xmlns:a16="http://schemas.microsoft.com/office/drawing/2014/main" id="{4A9211A2-78B0-4622-A346-19306EC5E4D3}"/>
                      </a:ext>
                    </a:extLst>
                  </p:cNvPr>
                  <p:cNvSpPr/>
                  <p:nvPr/>
                </p:nvSpPr>
                <p:spPr>
                  <a:xfrm>
                    <a:off x="372896" y="7169728"/>
                    <a:ext cx="2929504" cy="5889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/>
                  <a:p>
                    <a:pPr algn="ctr"/>
                    <a:r>
                      <a:rPr lang="ko-KR" altLang="en-US" sz="1000" b="1" dirty="0">
                        <a:solidFill>
                          <a:schemeClr val="tx1"/>
                        </a:solidFill>
                        <a:latin typeface="+mn-ea"/>
                      </a:rPr>
                      <a:t>하단 메뉴</a:t>
                    </a:r>
                  </a:p>
                </p:txBody>
              </p:sp>
              <p:sp>
                <p:nvSpPr>
                  <p:cNvPr id="120" name="직사각형 119">
                    <a:extLst>
                      <a:ext uri="{FF2B5EF4-FFF2-40B4-BE49-F238E27FC236}">
                        <a16:creationId xmlns:a16="http://schemas.microsoft.com/office/drawing/2014/main" id="{0002D2DD-DBE9-44F2-A54E-3DB3B86A8C2B}"/>
                      </a:ext>
                    </a:extLst>
                  </p:cNvPr>
                  <p:cNvSpPr/>
                  <p:nvPr/>
                </p:nvSpPr>
                <p:spPr>
                  <a:xfrm>
                    <a:off x="372896" y="5909533"/>
                    <a:ext cx="2929504" cy="1177810"/>
                  </a:xfrm>
                  <a:prstGeom prst="rect">
                    <a:avLst/>
                  </a:prstGeom>
                  <a:noFill/>
                  <a:ln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/>
                  <a:p>
                    <a:pPr algn="ctr"/>
                    <a:r>
                      <a:rPr lang="ko-KR" altLang="en-US" sz="1000" b="1" dirty="0">
                        <a:solidFill>
                          <a:schemeClr val="tx1"/>
                        </a:solidFill>
                        <a:latin typeface="+mn-ea"/>
                      </a:rPr>
                      <a:t>종료된 공동구매 </a:t>
                    </a:r>
                    <a:r>
                      <a:rPr lang="en-US" altLang="ko-KR" sz="1000" b="1" dirty="0">
                        <a:solidFill>
                          <a:schemeClr val="tx1"/>
                        </a:solidFill>
                        <a:latin typeface="+mn-ea"/>
                      </a:rPr>
                      <a:t>(3</a:t>
                    </a:r>
                    <a:r>
                      <a:rPr lang="ko-KR" altLang="en-US" sz="1000" b="1" dirty="0">
                        <a:solidFill>
                          <a:schemeClr val="tx1"/>
                        </a:solidFill>
                        <a:latin typeface="+mn-ea"/>
                      </a:rPr>
                      <a:t>개</a:t>
                    </a:r>
                    <a:r>
                      <a:rPr lang="en-US" altLang="ko-KR" sz="1000" b="1" dirty="0">
                        <a:solidFill>
                          <a:schemeClr val="tx1"/>
                        </a:solidFill>
                        <a:latin typeface="+mn-ea"/>
                      </a:rPr>
                      <a:t>)</a:t>
                    </a:r>
                    <a:endParaRPr lang="ko-KR" altLang="en-US" sz="1000" b="1" dirty="0">
                      <a:solidFill>
                        <a:schemeClr val="tx1"/>
                      </a:solidFill>
                      <a:latin typeface="+mn-ea"/>
                    </a:endParaRPr>
                  </a:p>
                </p:txBody>
              </p:sp>
            </p:grpSp>
            <p:grpSp>
              <p:nvGrpSpPr>
                <p:cNvPr id="107" name="그룹 106">
                  <a:extLst>
                    <a:ext uri="{FF2B5EF4-FFF2-40B4-BE49-F238E27FC236}">
                      <a16:creationId xmlns:a16="http://schemas.microsoft.com/office/drawing/2014/main" id="{77DC7143-7EE1-4B27-B5B0-8B5485F33E76}"/>
                    </a:ext>
                  </a:extLst>
                </p:cNvPr>
                <p:cNvGrpSpPr/>
                <p:nvPr/>
              </p:nvGrpSpPr>
              <p:grpSpPr>
                <a:xfrm>
                  <a:off x="261940" y="274406"/>
                  <a:ext cx="126204" cy="180000"/>
                  <a:chOff x="285750" y="225410"/>
                  <a:chExt cx="237915" cy="319870"/>
                </a:xfrm>
              </p:grpSpPr>
              <p:sp>
                <p:nvSpPr>
                  <p:cNvPr id="113" name="직사각형 112">
                    <a:extLst>
                      <a:ext uri="{FF2B5EF4-FFF2-40B4-BE49-F238E27FC236}">
                        <a16:creationId xmlns:a16="http://schemas.microsoft.com/office/drawing/2014/main" id="{BE337AD3-B5E5-46B6-AB67-570FBA940B7D}"/>
                      </a:ext>
                    </a:extLst>
                  </p:cNvPr>
                  <p:cNvSpPr/>
                  <p:nvPr/>
                </p:nvSpPr>
                <p:spPr>
                  <a:xfrm>
                    <a:off x="285750" y="253164"/>
                    <a:ext cx="237915" cy="255896"/>
                  </a:xfrm>
                  <a:prstGeom prst="rect">
                    <a:avLst/>
                  </a:prstGeom>
                  <a:solidFill>
                    <a:schemeClr val="bg1"/>
                  </a:solidFill>
                  <a:ln w="3175">
                    <a:solidFill>
                      <a:schemeClr val="tx1">
                        <a:lumMod val="50000"/>
                        <a:lumOff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+mn-ea"/>
                    </a:endParaRPr>
                  </a:p>
                </p:txBody>
              </p:sp>
              <p:pic>
                <p:nvPicPr>
                  <p:cNvPr id="114" name="그림 113" descr="그리기이(가) 표시된 사진&#10;&#10;자동 생성된 설명">
                    <a:extLst>
                      <a:ext uri="{FF2B5EF4-FFF2-40B4-BE49-F238E27FC236}">
                        <a16:creationId xmlns:a16="http://schemas.microsoft.com/office/drawing/2014/main" id="{7180EB10-023B-45D9-B21F-883EC557664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85750" y="225410"/>
                    <a:ext cx="226425" cy="31987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4904B143-DD11-4178-8B4B-25AD11A9DB54}"/>
                    </a:ext>
                  </a:extLst>
                </p:cNvPr>
                <p:cNvSpPr txBox="1"/>
                <p:nvPr/>
              </p:nvSpPr>
              <p:spPr>
                <a:xfrm>
                  <a:off x="372523" y="310545"/>
                  <a:ext cx="307777" cy="10772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ko-KR" altLang="en-US" sz="700" b="1" spc="-100" dirty="0">
                      <a:latin typeface="+mn-ea"/>
                    </a:rPr>
                    <a:t>비</a:t>
                  </a:r>
                  <a:r>
                    <a:rPr lang="ko-KR" altLang="en-US" sz="700" b="1" spc="-100" dirty="0">
                      <a:solidFill>
                        <a:srgbClr val="0070C0"/>
                      </a:solidFill>
                      <a:latin typeface="+mn-ea"/>
                    </a:rPr>
                    <a:t>투</a:t>
                  </a:r>
                  <a:r>
                    <a:rPr lang="ko-KR" altLang="en-US" sz="700" b="1" spc="-100" dirty="0">
                      <a:latin typeface="+mn-ea"/>
                    </a:rPr>
                    <a:t>바이</a:t>
                  </a:r>
                </a:p>
              </p:txBody>
            </p:sp>
            <p:sp>
              <p:nvSpPr>
                <p:cNvPr id="109" name="직사각형 108">
                  <a:extLst>
                    <a:ext uri="{FF2B5EF4-FFF2-40B4-BE49-F238E27FC236}">
                      <a16:creationId xmlns:a16="http://schemas.microsoft.com/office/drawing/2014/main" id="{F6541A52-8140-4320-A926-4AA94DF7ACEE}"/>
                    </a:ext>
                  </a:extLst>
                </p:cNvPr>
                <p:cNvSpPr/>
                <p:nvPr/>
              </p:nvSpPr>
              <p:spPr>
                <a:xfrm>
                  <a:off x="316421" y="643618"/>
                  <a:ext cx="1800000" cy="720000"/>
                </a:xfrm>
                <a:prstGeom prst="rect">
                  <a:avLst/>
                </a:prstGeom>
                <a:no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ko-KR" altLang="en-US" sz="1000" b="1" dirty="0">
                      <a:solidFill>
                        <a:schemeClr val="tx1"/>
                      </a:solidFill>
                      <a:latin typeface="+mn-ea"/>
                    </a:rPr>
                    <a:t>공지 사항</a:t>
                  </a:r>
                </a:p>
              </p:txBody>
            </p:sp>
            <p:sp>
              <p:nvSpPr>
                <p:cNvPr id="110" name="화살표: 갈매기형 수장 109">
                  <a:extLst>
                    <a:ext uri="{FF2B5EF4-FFF2-40B4-BE49-F238E27FC236}">
                      <a16:creationId xmlns:a16="http://schemas.microsoft.com/office/drawing/2014/main" id="{5A3E91BE-412D-4BB8-BFAD-98261F5FBF3C}"/>
                    </a:ext>
                  </a:extLst>
                </p:cNvPr>
                <p:cNvSpPr/>
                <p:nvPr/>
              </p:nvSpPr>
              <p:spPr>
                <a:xfrm>
                  <a:off x="1998302" y="1205410"/>
                  <a:ext cx="26125" cy="107770"/>
                </a:xfrm>
                <a:prstGeom prst="chevron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pic>
              <p:nvPicPr>
                <p:cNvPr id="111" name="그림 110">
                  <a:extLst>
                    <a:ext uri="{FF2B5EF4-FFF2-40B4-BE49-F238E27FC236}">
                      <a16:creationId xmlns:a16="http://schemas.microsoft.com/office/drawing/2014/main" id="{775D215F-826F-4A78-A788-79FF7F26B5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43664" y="1205410"/>
                  <a:ext cx="218233" cy="107770"/>
                </a:xfrm>
                <a:prstGeom prst="rect">
                  <a:avLst/>
                </a:prstGeom>
              </p:spPr>
            </p:pic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D385DE13-C0AE-4D70-B6FB-E6B017DA0B19}"/>
                    </a:ext>
                  </a:extLst>
                </p:cNvPr>
                <p:cNvSpPr/>
                <p:nvPr/>
              </p:nvSpPr>
              <p:spPr>
                <a:xfrm>
                  <a:off x="1338263" y="292405"/>
                  <a:ext cx="778158" cy="168675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 b="1" dirty="0">
                      <a:solidFill>
                        <a:schemeClr val="tx1"/>
                      </a:solidFill>
                      <a:latin typeface="+mn-ea"/>
                    </a:rPr>
                    <a:t>상단 메뉴</a:t>
                  </a:r>
                </a:p>
              </p:txBody>
            </p:sp>
          </p:grpSp>
          <p:sp>
            <p:nvSpPr>
              <p:cNvPr id="103" name="사각형: 둥근 모서리 102">
                <a:extLst>
                  <a:ext uri="{FF2B5EF4-FFF2-40B4-BE49-F238E27FC236}">
                    <a16:creationId xmlns:a16="http://schemas.microsoft.com/office/drawing/2014/main" id="{8919DAAA-BE00-430F-BA3C-3F95E66B9867}"/>
                  </a:ext>
                </a:extLst>
              </p:cNvPr>
              <p:cNvSpPr/>
              <p:nvPr/>
            </p:nvSpPr>
            <p:spPr>
              <a:xfrm>
                <a:off x="685800" y="792488"/>
                <a:ext cx="504000" cy="171056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+mn-ea"/>
                  </a:rPr>
                  <a:t>검색</a:t>
                </a:r>
              </a:p>
            </p:txBody>
          </p:sp>
          <p:sp>
            <p:nvSpPr>
              <p:cNvPr id="104" name="사각형: 둥근 모서리 103">
                <a:extLst>
                  <a:ext uri="{FF2B5EF4-FFF2-40B4-BE49-F238E27FC236}">
                    <a16:creationId xmlns:a16="http://schemas.microsoft.com/office/drawing/2014/main" id="{26F0B884-1E84-4F41-9605-B79D2A7174E3}"/>
                  </a:ext>
                </a:extLst>
              </p:cNvPr>
              <p:cNvSpPr/>
              <p:nvPr/>
            </p:nvSpPr>
            <p:spPr>
              <a:xfrm>
                <a:off x="226251" y="990691"/>
                <a:ext cx="504000" cy="108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latin typeface="+mn-ea"/>
                  </a:rPr>
                  <a:t>전체 메뉴</a:t>
                </a:r>
              </a:p>
            </p:txBody>
          </p:sp>
          <p:sp>
            <p:nvSpPr>
              <p:cNvPr id="105" name="사각형: 둥근 모서리 104">
                <a:extLst>
                  <a:ext uri="{FF2B5EF4-FFF2-40B4-BE49-F238E27FC236}">
                    <a16:creationId xmlns:a16="http://schemas.microsoft.com/office/drawing/2014/main" id="{79E59D79-C692-4ABF-8F8D-61C5752E9191}"/>
                  </a:ext>
                </a:extLst>
              </p:cNvPr>
              <p:cNvSpPr/>
              <p:nvPr/>
            </p:nvSpPr>
            <p:spPr>
              <a:xfrm>
                <a:off x="754011" y="990691"/>
                <a:ext cx="504000" cy="108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latin typeface="+mn-ea"/>
                  </a:rPr>
                  <a:t>나의 메뉴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3ACDAAA-6B19-4FAD-86C4-20815BE7F90F}"/>
              </a:ext>
            </a:extLst>
          </p:cNvPr>
          <p:cNvSpPr txBox="1"/>
          <p:nvPr/>
        </p:nvSpPr>
        <p:spPr>
          <a:xfrm>
            <a:off x="15240" y="6558082"/>
            <a:ext cx="7734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+mn-ea"/>
              </a:rPr>
              <a:t>Page 15</a:t>
            </a:r>
            <a:endParaRPr lang="ko-KR" altLang="en-US" sz="1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552683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F4C83E-FB0A-4A02-A9CE-BC75416006D9}"/>
              </a:ext>
            </a:extLst>
          </p:cNvPr>
          <p:cNvSpPr/>
          <p:nvPr/>
        </p:nvSpPr>
        <p:spPr>
          <a:xfrm>
            <a:off x="5528345" y="326541"/>
            <a:ext cx="2501778" cy="1745574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1E6B8F40-853D-4B24-A2BE-7AB1E8916CCF}"/>
              </a:ext>
            </a:extLst>
          </p:cNvPr>
          <p:cNvSpPr txBox="1"/>
          <p:nvPr/>
        </p:nvSpPr>
        <p:spPr>
          <a:xfrm>
            <a:off x="105692" y="91541"/>
            <a:ext cx="4487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ea typeface="나눔고딕" panose="020D0604000000000000"/>
              </a:rPr>
              <a:t>로그인 후 메인 화면</a:t>
            </a:r>
            <a:r>
              <a:rPr lang="en-US" altLang="ko-KR" b="1" dirty="0">
                <a:ea typeface="나눔고딕" panose="020D0604000000000000"/>
              </a:rPr>
              <a:t> – </a:t>
            </a:r>
            <a:r>
              <a:rPr lang="ko-KR" altLang="en-US" b="1" dirty="0">
                <a:ea typeface="나눔고딕" panose="020D0604000000000000"/>
              </a:rPr>
              <a:t>공동구매 참여하기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AD6495-7E12-45DE-967C-3AC0C65FB9FC}"/>
              </a:ext>
            </a:extLst>
          </p:cNvPr>
          <p:cNvSpPr txBox="1"/>
          <p:nvPr/>
        </p:nvSpPr>
        <p:spPr>
          <a:xfrm>
            <a:off x="130492" y="379418"/>
            <a:ext cx="48542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ea typeface="나눔고딕" panose="020D0604000000000000"/>
              </a:rPr>
              <a:t>본 화면은 제품 상세페이지에서 참여하기 </a:t>
            </a:r>
            <a:r>
              <a:rPr lang="ko-KR" altLang="en-US" sz="1050" dirty="0" err="1">
                <a:ea typeface="나눔고딕" panose="020D0604000000000000"/>
              </a:rPr>
              <a:t>클릭후</a:t>
            </a:r>
            <a:r>
              <a:rPr lang="ko-KR" altLang="en-US" sz="1050" dirty="0">
                <a:ea typeface="나눔고딕" panose="020D0604000000000000"/>
              </a:rPr>
              <a:t> 오른쪽 주문</a:t>
            </a:r>
            <a:r>
              <a:rPr lang="en-US" altLang="ko-KR" sz="1050" dirty="0">
                <a:ea typeface="나눔고딕" panose="020D0604000000000000"/>
              </a:rPr>
              <a:t>Pop-Up</a:t>
            </a:r>
            <a:r>
              <a:rPr lang="ko-KR" altLang="en-US" sz="1050" dirty="0">
                <a:ea typeface="나눔고딕" panose="020D0604000000000000"/>
              </a:rPr>
              <a:t>과 같이 </a:t>
            </a:r>
            <a:endParaRPr lang="en-US" altLang="ko-KR" sz="1050" dirty="0">
              <a:ea typeface="나눔고딕" panose="020D0604000000000000"/>
            </a:endParaRPr>
          </a:p>
          <a:p>
            <a:r>
              <a:rPr lang="ko-KR" altLang="en-US" sz="1050" dirty="0">
                <a:ea typeface="나눔고딕" panose="020D0604000000000000"/>
              </a:rPr>
              <a:t>주문상품을 선택하고 구매하기를 </a:t>
            </a:r>
            <a:r>
              <a:rPr lang="ko-KR" altLang="en-US" sz="1050" dirty="0" err="1">
                <a:ea typeface="나눔고딕" panose="020D0604000000000000"/>
              </a:rPr>
              <a:t>눌렀을때</a:t>
            </a:r>
            <a:r>
              <a:rPr lang="ko-KR" altLang="en-US" sz="1050" dirty="0">
                <a:ea typeface="나눔고딕" panose="020D0604000000000000"/>
              </a:rPr>
              <a:t> 이동하는 화면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591855E6-F616-4AA8-BC01-EEB08B6D4D99}"/>
              </a:ext>
            </a:extLst>
          </p:cNvPr>
          <p:cNvSpPr txBox="1"/>
          <p:nvPr/>
        </p:nvSpPr>
        <p:spPr>
          <a:xfrm>
            <a:off x="167091" y="1039921"/>
            <a:ext cx="969817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1050" b="1">
                <a:ea typeface="나눔고딕" panose="020D0604000000000000"/>
              </a:defRPr>
            </a:lvl1pPr>
          </a:lstStyle>
          <a:p>
            <a:r>
              <a:rPr lang="en-US" altLang="ko-KR" dirty="0"/>
              <a:t>1.</a:t>
            </a:r>
            <a:r>
              <a:rPr lang="ko-KR" altLang="en-US" dirty="0"/>
              <a:t> 주문상세내역</a:t>
            </a: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24C97573-A53B-47CB-98EF-4263952F13B5}"/>
              </a:ext>
            </a:extLst>
          </p:cNvPr>
          <p:cNvSpPr txBox="1"/>
          <p:nvPr/>
        </p:nvSpPr>
        <p:spPr>
          <a:xfrm>
            <a:off x="168501" y="2183135"/>
            <a:ext cx="135523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50" b="1" dirty="0">
                <a:ea typeface="나눔고딕" panose="020D0604000000000000"/>
              </a:rPr>
              <a:t>2.</a:t>
            </a:r>
            <a:r>
              <a:rPr lang="ko-KR" altLang="en-US" sz="1050" b="1" dirty="0">
                <a:ea typeface="나눔고딕" panose="020D0604000000000000"/>
              </a:rPr>
              <a:t> 주문자정보</a:t>
            </a: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68022D33-32C3-4E20-BD20-34CAF3E9162E}"/>
              </a:ext>
            </a:extLst>
          </p:cNvPr>
          <p:cNvSpPr/>
          <p:nvPr/>
        </p:nvSpPr>
        <p:spPr>
          <a:xfrm>
            <a:off x="1158331" y="956840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ea typeface="나눔고딕" panose="020D0604000000000000"/>
              </a:rPr>
              <a:t>1</a:t>
            </a:r>
            <a:endParaRPr lang="ko-KR" altLang="en-US" sz="1100" b="1" dirty="0">
              <a:ea typeface="나눔고딕" panose="020D0604000000000000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A1904601-6806-4B54-97F9-DA246BFA535B}"/>
              </a:ext>
            </a:extLst>
          </p:cNvPr>
          <p:cNvSpPr/>
          <p:nvPr/>
        </p:nvSpPr>
        <p:spPr>
          <a:xfrm>
            <a:off x="9725169" y="3719951"/>
            <a:ext cx="1333500" cy="201029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b="1" dirty="0">
                <a:ea typeface="나눔고딕" panose="020D0604000000000000"/>
              </a:rPr>
              <a:t>결제</a:t>
            </a:r>
            <a:r>
              <a:rPr lang="en-US" altLang="ko-KR" sz="1000" b="1" dirty="0">
                <a:ea typeface="나눔고딕" panose="020D0604000000000000"/>
              </a:rPr>
              <a:t>(</a:t>
            </a:r>
            <a:r>
              <a:rPr lang="ko-KR" altLang="en-US" sz="1000" b="1" dirty="0" err="1">
                <a:ea typeface="나눔고딕" panose="020D0604000000000000"/>
              </a:rPr>
              <a:t>에스크로</a:t>
            </a:r>
            <a:r>
              <a:rPr lang="en-US" altLang="ko-KR" sz="1000" b="1" dirty="0">
                <a:ea typeface="나눔고딕" panose="020D0604000000000000"/>
              </a:rPr>
              <a:t>)</a:t>
            </a:r>
            <a:endParaRPr lang="ko-KR" altLang="en-US" sz="1000" b="1" dirty="0">
              <a:ea typeface="나눔고딕" panose="020D0604000000000000"/>
            </a:endParaRP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A600B3EB-A2E1-4074-B509-92CA03AB9EE2}"/>
              </a:ext>
            </a:extLst>
          </p:cNvPr>
          <p:cNvSpPr/>
          <p:nvPr/>
        </p:nvSpPr>
        <p:spPr>
          <a:xfrm>
            <a:off x="10955658" y="362995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ea typeface="나눔고딕" panose="020D0604000000000000"/>
              </a:rPr>
              <a:t>6</a:t>
            </a:r>
            <a:endParaRPr lang="ko-KR" altLang="en-US" sz="1100" b="1" dirty="0">
              <a:ea typeface="나눔고딕" panose="020D0604000000000000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5806E550-882A-45CC-8956-32E0FB8AA942}"/>
              </a:ext>
            </a:extLst>
          </p:cNvPr>
          <p:cNvSpPr/>
          <p:nvPr/>
        </p:nvSpPr>
        <p:spPr>
          <a:xfrm>
            <a:off x="5787116" y="4015138"/>
            <a:ext cx="6236379" cy="265968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</a:pPr>
            <a:r>
              <a:rPr lang="ko-KR" altLang="en-US" sz="1100" b="1" dirty="0">
                <a:solidFill>
                  <a:schemeClr val="tx1"/>
                </a:solidFill>
                <a:ea typeface="나눔고딕" panose="020D0604000000000000"/>
              </a:rPr>
              <a:t>부분별 화면설명</a:t>
            </a:r>
            <a:endParaRPr lang="en-US" altLang="ko-KR" sz="1100" b="1" dirty="0">
              <a:solidFill>
                <a:schemeClr val="tx1"/>
              </a:solidFill>
              <a:ea typeface="나눔고딕" panose="020D0604000000000000"/>
            </a:endParaRPr>
          </a:p>
          <a:p>
            <a:pPr marL="228600" indent="-2286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상품은 복수로 </a:t>
            </a:r>
            <a:r>
              <a:rPr lang="ko-KR" altLang="en-US" sz="1000" dirty="0" err="1">
                <a:solidFill>
                  <a:schemeClr val="tx1"/>
                </a:solidFill>
                <a:ea typeface="나눔고딕" panose="020D0604000000000000"/>
              </a:rPr>
              <a:t>표기가능하며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할인액 물음표 </a:t>
            </a:r>
            <a:r>
              <a:rPr lang="ko-KR" altLang="en-US" sz="1000" dirty="0" err="1">
                <a:solidFill>
                  <a:schemeClr val="tx1"/>
                </a:solidFill>
                <a:ea typeface="나눔고딕" panose="020D0604000000000000"/>
              </a:rPr>
              <a:t>선택시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할인액 세부내용을 팝업화면으로 </a:t>
            </a:r>
            <a:r>
              <a:rPr lang="ko-KR" altLang="en-US" sz="1000" dirty="0" err="1">
                <a:solidFill>
                  <a:schemeClr val="tx1"/>
                </a:solidFill>
                <a:ea typeface="나눔고딕" panose="020D0604000000000000"/>
              </a:rPr>
              <a:t>띄어준다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       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할인세부내역 </a:t>
            </a:r>
            <a:r>
              <a:rPr lang="ko-KR" altLang="en-US" sz="1000" dirty="0" err="1">
                <a:solidFill>
                  <a:schemeClr val="tx1"/>
                </a:solidFill>
                <a:ea typeface="나눔고딕" panose="020D0604000000000000"/>
              </a:rPr>
              <a:t>구분값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상품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등급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쿠폰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배송비는 상품값 포함여부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예외사항 </a:t>
            </a:r>
            <a:r>
              <a:rPr lang="ko-KR" altLang="en-US" sz="1000" dirty="0" err="1">
                <a:solidFill>
                  <a:schemeClr val="tx1"/>
                </a:solidFill>
                <a:ea typeface="나눔고딕" panose="020D0604000000000000"/>
              </a:rPr>
              <a:t>검토후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 제외될 수 있음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)</a:t>
            </a:r>
          </a:p>
          <a:p>
            <a:pPr marL="228600" indent="-2286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주문자 정보는 로그인 정보를 기초로 불러와 주문자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휴대폰번호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이메일은 변경할 수 있도록 해준다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변경불가 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회사명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회사전화번호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통관번호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)</a:t>
            </a:r>
          </a:p>
          <a:p>
            <a:pPr marL="228600" indent="-2286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배송지는 회원가입시 </a:t>
            </a:r>
            <a:r>
              <a:rPr lang="ko-KR" altLang="en-US" sz="1000" dirty="0" err="1">
                <a:solidFill>
                  <a:schemeClr val="tx1"/>
                </a:solidFill>
                <a:ea typeface="나눔고딕" panose="020D0604000000000000"/>
              </a:rPr>
              <a:t>입력받은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 정보를 기본배송지로 정의하고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  <a:ea typeface="나눔고딕" panose="020D0604000000000000"/>
              </a:rPr>
              <a:t>배송지관리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 화면을 통해 추가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변경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삭제를 </a:t>
            </a:r>
            <a:r>
              <a:rPr lang="ko-KR" altLang="en-US" sz="1000" dirty="0" err="1">
                <a:solidFill>
                  <a:schemeClr val="tx1"/>
                </a:solidFill>
                <a:ea typeface="나눔고딕" panose="020D0604000000000000"/>
              </a:rPr>
              <a:t>할수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 있도록 구현한다</a:t>
            </a:r>
            <a:endParaRPr lang="en-US" altLang="ko-KR" sz="1000" dirty="0">
              <a:solidFill>
                <a:schemeClr val="tx1"/>
              </a:solidFill>
              <a:ea typeface="나눔고딕" panose="020D0604000000000000"/>
            </a:endParaRPr>
          </a:p>
          <a:p>
            <a:pPr marL="228600" indent="-2286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결제정보는 상품결제금액에 대한 구성정보를 보여주며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보유쿠폰 버튼을 누르면 보유중인 쿠폰에 대한 정보를 팝업창에서 보여주고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적용할 수 있게 해준다</a:t>
            </a:r>
            <a:endParaRPr lang="en-US" altLang="ko-KR" sz="1000" dirty="0">
              <a:solidFill>
                <a:schemeClr val="tx1"/>
              </a:solidFill>
              <a:ea typeface="나눔고딕" panose="020D0604000000000000"/>
            </a:endParaRPr>
          </a:p>
          <a:p>
            <a:pPr marL="228600" indent="-2286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최종 결제에 앞서 구매조건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결제진행 동의 및 기타 회사조항을 체크박스를 통해 </a:t>
            </a:r>
            <a:r>
              <a:rPr lang="ko-KR" altLang="en-US" sz="1000" dirty="0" err="1">
                <a:solidFill>
                  <a:schemeClr val="tx1"/>
                </a:solidFill>
                <a:ea typeface="나눔고딕" panose="020D0604000000000000"/>
              </a:rPr>
              <a:t>확인받도록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 해주며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필수 체크항목 미동의시 결제 불가능하다는 메시지를 팝업으로 띄워준다</a:t>
            </a:r>
            <a:endParaRPr lang="en-US" altLang="ko-KR" sz="1000" dirty="0">
              <a:solidFill>
                <a:schemeClr val="tx1"/>
              </a:solidFill>
              <a:ea typeface="나눔고딕" panose="020D0604000000000000"/>
            </a:endParaRPr>
          </a:p>
          <a:p>
            <a:pPr marL="228600" indent="-228600">
              <a:spcAft>
                <a:spcPts val="400"/>
              </a:spcAft>
              <a:buFont typeface="+mj-ea"/>
              <a:buAutoNum type="circleNumDbPlain"/>
            </a:pP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결제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ea typeface="나눔고딕" panose="020D0604000000000000"/>
              </a:rPr>
              <a:t>에스크로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) 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버튼을 </a:t>
            </a:r>
            <a:r>
              <a:rPr lang="ko-KR" altLang="en-US" sz="1000" dirty="0" err="1">
                <a:solidFill>
                  <a:schemeClr val="tx1"/>
                </a:solidFill>
                <a:ea typeface="나눔고딕" panose="020D0604000000000000"/>
              </a:rPr>
              <a:t>누를경우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  <a:ea typeface="나눔고딕" panose="020D0604000000000000"/>
              </a:rPr>
              <a:t>하나에스크로에서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 제공해주는 결제 모듈을 </a:t>
            </a:r>
            <a:r>
              <a:rPr lang="en-US" altLang="ko-KR" sz="1000" dirty="0">
                <a:solidFill>
                  <a:schemeClr val="tx1"/>
                </a:solidFill>
                <a:ea typeface="나눔고딕" panose="020D0604000000000000"/>
              </a:rPr>
              <a:t>Call </a:t>
            </a:r>
            <a:r>
              <a:rPr lang="ko-KR" altLang="en-US" sz="1000" dirty="0">
                <a:solidFill>
                  <a:schemeClr val="tx1"/>
                </a:solidFill>
                <a:ea typeface="나눔고딕" panose="020D0604000000000000"/>
              </a:rPr>
              <a:t>한다</a:t>
            </a:r>
            <a:endParaRPr lang="en-US" altLang="ko-KR" sz="1000" dirty="0">
              <a:solidFill>
                <a:schemeClr val="tx1"/>
              </a:solidFill>
              <a:ea typeface="나눔고딕" panose="020D0604000000000000"/>
            </a:endParaRP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89EEB7D1-A96A-47AA-BBD2-6E7C48189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48" y="1608941"/>
            <a:ext cx="316917" cy="221420"/>
          </a:xfrm>
          <a:prstGeom prst="rect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69" name="TextBox 168">
            <a:extLst>
              <a:ext uri="{FF2B5EF4-FFF2-40B4-BE49-F238E27FC236}">
                <a16:creationId xmlns:a16="http://schemas.microsoft.com/office/drawing/2014/main" id="{38E9634D-466F-40C6-9E7A-9C3E1EA893F3}"/>
              </a:ext>
            </a:extLst>
          </p:cNvPr>
          <p:cNvSpPr txBox="1"/>
          <p:nvPr/>
        </p:nvSpPr>
        <p:spPr>
          <a:xfrm>
            <a:off x="8409660" y="2862743"/>
            <a:ext cx="107629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ea typeface="나눔고딕" panose="020D0604000000000000"/>
              </a:rPr>
              <a:t>전체동의하기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73FA4F1-6048-4900-8FB0-CAB4D561D93C}"/>
              </a:ext>
            </a:extLst>
          </p:cNvPr>
          <p:cNvSpPr txBox="1"/>
          <p:nvPr/>
        </p:nvSpPr>
        <p:spPr>
          <a:xfrm>
            <a:off x="8618816" y="3147648"/>
            <a:ext cx="306405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solidFill>
                  <a:srgbClr val="C00000"/>
                </a:solidFill>
                <a:ea typeface="나눔고딕" panose="020D0604000000000000"/>
              </a:rPr>
              <a:t>(</a:t>
            </a:r>
            <a:r>
              <a:rPr lang="ko-KR" altLang="en-US" sz="800" dirty="0">
                <a:solidFill>
                  <a:srgbClr val="C00000"/>
                </a:solidFill>
                <a:ea typeface="나눔고딕" panose="020D0604000000000000"/>
              </a:rPr>
              <a:t>필수</a:t>
            </a:r>
            <a:r>
              <a:rPr lang="en-US" altLang="ko-KR" sz="800" dirty="0">
                <a:solidFill>
                  <a:srgbClr val="C00000"/>
                </a:solidFill>
                <a:ea typeface="나눔고딕" panose="020D0604000000000000"/>
              </a:rPr>
              <a:t>)</a:t>
            </a:r>
            <a:r>
              <a:rPr lang="ko-KR" altLang="en-US" sz="800" dirty="0">
                <a:ea typeface="나눔고딕" panose="020D0604000000000000"/>
              </a:rPr>
              <a:t>위 상품의 구매조건 확인 및 결제진행 동의</a:t>
            </a: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6F2A69FA-F3D8-4A99-9312-6CCEDB840478}"/>
              </a:ext>
            </a:extLst>
          </p:cNvPr>
          <p:cNvSpPr/>
          <p:nvPr/>
        </p:nvSpPr>
        <p:spPr>
          <a:xfrm>
            <a:off x="8214512" y="2875763"/>
            <a:ext cx="140720" cy="1092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2886E565-B477-4567-AE6D-C5E97E77B27A}"/>
              </a:ext>
            </a:extLst>
          </p:cNvPr>
          <p:cNvSpPr/>
          <p:nvPr/>
        </p:nvSpPr>
        <p:spPr>
          <a:xfrm>
            <a:off x="8415216" y="3163203"/>
            <a:ext cx="140720" cy="1092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E50C17BA-EB67-49C5-919A-C9007C845849}"/>
              </a:ext>
            </a:extLst>
          </p:cNvPr>
          <p:cNvSpPr/>
          <p:nvPr/>
        </p:nvSpPr>
        <p:spPr>
          <a:xfrm>
            <a:off x="8418391" y="3420069"/>
            <a:ext cx="140720" cy="1092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FD74AEF-FE28-445C-BCB7-25F6AB6AAEBD}"/>
              </a:ext>
            </a:extLst>
          </p:cNvPr>
          <p:cNvSpPr txBox="1"/>
          <p:nvPr/>
        </p:nvSpPr>
        <p:spPr>
          <a:xfrm>
            <a:off x="8618816" y="3416894"/>
            <a:ext cx="306405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800" dirty="0">
                <a:ea typeface="나눔고딕" panose="020D0604000000000000"/>
              </a:rPr>
              <a:t>Just in case </a:t>
            </a:r>
            <a:r>
              <a:rPr lang="ko-KR" altLang="en-US" sz="800" dirty="0">
                <a:ea typeface="나눔고딕" panose="020D0604000000000000"/>
              </a:rPr>
              <a:t>기타 조항 </a:t>
            </a:r>
            <a:r>
              <a:rPr lang="ko-KR" altLang="en-US" sz="800" dirty="0" err="1">
                <a:ea typeface="나눔고딕" panose="020D0604000000000000"/>
              </a:rPr>
              <a:t>등등등</a:t>
            </a:r>
            <a:endParaRPr lang="ko-KR" altLang="en-US" sz="800" dirty="0">
              <a:ea typeface="나눔고딕" panose="020D0604000000000000"/>
            </a:endParaRPr>
          </a:p>
        </p:txBody>
      </p:sp>
      <p:cxnSp>
        <p:nvCxnSpPr>
          <p:cNvPr id="182" name="연결선: 꺾임 181">
            <a:extLst>
              <a:ext uri="{FF2B5EF4-FFF2-40B4-BE49-F238E27FC236}">
                <a16:creationId xmlns:a16="http://schemas.microsoft.com/office/drawing/2014/main" id="{3D8EE332-4919-487C-A483-9D8027896981}"/>
              </a:ext>
            </a:extLst>
          </p:cNvPr>
          <p:cNvCxnSpPr>
            <a:cxnSpLocks/>
            <a:stCxn id="173" idx="2"/>
          </p:cNvCxnSpPr>
          <p:nvPr/>
        </p:nvCxnSpPr>
        <p:spPr>
          <a:xfrm rot="16200000" flipH="1">
            <a:off x="8226714" y="3043151"/>
            <a:ext cx="224434" cy="108119"/>
          </a:xfrm>
          <a:prstGeom prst="bentConnector3">
            <a:avLst>
              <a:gd name="adj1" fmla="val 102344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연결선: 꺾임 215">
            <a:extLst>
              <a:ext uri="{FF2B5EF4-FFF2-40B4-BE49-F238E27FC236}">
                <a16:creationId xmlns:a16="http://schemas.microsoft.com/office/drawing/2014/main" id="{B0485122-4C52-4E0C-A27F-6CB80FCBBEE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13034" y="3288528"/>
            <a:ext cx="279061" cy="133136"/>
          </a:xfrm>
          <a:prstGeom prst="bentConnector3">
            <a:avLst>
              <a:gd name="adj1" fmla="val 93236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ED31FC4-5C24-40B4-A4D4-CC2FDDEC8809}"/>
              </a:ext>
            </a:extLst>
          </p:cNvPr>
          <p:cNvSpPr txBox="1"/>
          <p:nvPr/>
        </p:nvSpPr>
        <p:spPr>
          <a:xfrm>
            <a:off x="8181631" y="796639"/>
            <a:ext cx="700513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1050" b="1">
                <a:ea typeface="나눔고딕" panose="020D0604000000000000"/>
              </a:defRPr>
            </a:lvl1pPr>
          </a:lstStyle>
          <a:p>
            <a:r>
              <a:rPr lang="en-US" altLang="ko-KR" dirty="0"/>
              <a:t>4. </a:t>
            </a:r>
            <a:r>
              <a:rPr lang="ko-KR" altLang="en-US" dirty="0"/>
              <a:t>결제정보</a:t>
            </a: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1A1D6287-D018-401C-8235-F94C089E10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424094"/>
              </p:ext>
            </p:extLst>
          </p:nvPr>
        </p:nvGraphicFramePr>
        <p:xfrm>
          <a:off x="166224" y="1272590"/>
          <a:ext cx="5104276" cy="6727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0076">
                  <a:extLst>
                    <a:ext uri="{9D8B030D-6E8A-4147-A177-3AD203B41FA5}">
                      <a16:colId xmlns:a16="http://schemas.microsoft.com/office/drawing/2014/main" val="432495550"/>
                    </a:ext>
                  </a:extLst>
                </a:gridCol>
                <a:gridCol w="254000">
                  <a:extLst>
                    <a:ext uri="{9D8B030D-6E8A-4147-A177-3AD203B41FA5}">
                      <a16:colId xmlns:a16="http://schemas.microsoft.com/office/drawing/2014/main" val="3165040000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4203918455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126739711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1073415439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962027285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상품</a:t>
                      </a:r>
                      <a:r>
                        <a:rPr lang="en-US" altLang="ko-KR" sz="800" u="none" strike="noStrike" dirty="0">
                          <a:effectLst/>
                        </a:rPr>
                        <a:t>/</a:t>
                      </a:r>
                      <a:r>
                        <a:rPr lang="ko-KR" altLang="en-US" sz="800" u="none" strike="noStrike" dirty="0">
                          <a:effectLst/>
                        </a:rPr>
                        <a:t>옵션정보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수량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상품금액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할인액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결제금액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u="none" strike="noStrike" dirty="0">
                          <a:effectLst/>
                        </a:rPr>
                        <a:t>배송비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81160"/>
                  </a:ext>
                </a:extLst>
              </a:tr>
              <a:tr h="463153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00" u="none" strike="noStrike" dirty="0">
                          <a:effectLst/>
                        </a:rPr>
                        <a:t>　        </a:t>
                      </a:r>
                      <a:r>
                        <a:rPr lang="ko-KR" altLang="en-US" sz="1000" b="1" dirty="0">
                          <a:ea typeface="나눔고딕" panose="020D0604000000000000"/>
                        </a:rPr>
                        <a:t>메모리카드 </a:t>
                      </a:r>
                      <a:r>
                        <a:rPr lang="en-US" altLang="ko-KR" sz="1000" b="1" dirty="0">
                          <a:ea typeface="나눔고딕" panose="020D0604000000000000"/>
                        </a:rPr>
                        <a:t>014513</a:t>
                      </a:r>
                    </a:p>
                    <a:p>
                      <a:pPr algn="l" fontAlgn="b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: 16GB,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: DDR5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r>
                        <a:rPr lang="en-US" altLang="ko-KR" sz="800" u="none" strike="noStrike" dirty="0">
                          <a:effectLst/>
                        </a:rPr>
                        <a:t>2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r>
                        <a:rPr lang="en-US" altLang="ko-KR" sz="800" u="none" strike="noStrike" dirty="0">
                          <a:effectLst/>
                        </a:rPr>
                        <a:t>4,400,000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r>
                        <a:rPr lang="en-US" altLang="ko-KR" sz="800" u="none" strike="noStrike" dirty="0">
                          <a:effectLst/>
                        </a:rPr>
                        <a:t>-400,000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</a:rPr>
                        <a:t>　</a:t>
                      </a:r>
                      <a:r>
                        <a:rPr lang="en-US" altLang="ko-KR" sz="800" u="none" strike="noStrike" dirty="0">
                          <a:effectLst/>
                        </a:rPr>
                        <a:t>4,000,000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u="none" strike="noStrike" dirty="0">
                          <a:effectLst/>
                        </a:rPr>
                        <a:t>　무료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485912"/>
                  </a:ext>
                </a:extLst>
              </a:tr>
            </a:tbl>
          </a:graphicData>
        </a:graphic>
      </p:graphicFrame>
      <p:pic>
        <p:nvPicPr>
          <p:cNvPr id="135" name="그림 134">
            <a:extLst>
              <a:ext uri="{FF2B5EF4-FFF2-40B4-BE49-F238E27FC236}">
                <a16:creationId xmlns:a16="http://schemas.microsoft.com/office/drawing/2014/main" id="{400729B2-2CC2-4261-BD23-29C90FD1D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822" y="1341242"/>
            <a:ext cx="97017" cy="90249"/>
          </a:xfrm>
          <a:prstGeom prst="rect">
            <a:avLst/>
          </a:prstGeom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8EBADE50-5A9B-4F78-8C05-AFF2CC1C0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198723"/>
              </p:ext>
            </p:extLst>
          </p:nvPr>
        </p:nvGraphicFramePr>
        <p:xfrm>
          <a:off x="173870" y="2438981"/>
          <a:ext cx="5015350" cy="1558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730">
                  <a:extLst>
                    <a:ext uri="{9D8B030D-6E8A-4147-A177-3AD203B41FA5}">
                      <a16:colId xmlns:a16="http://schemas.microsoft.com/office/drawing/2014/main" val="204444142"/>
                    </a:ext>
                  </a:extLst>
                </a:gridCol>
                <a:gridCol w="4198620">
                  <a:extLst>
                    <a:ext uri="{9D8B030D-6E8A-4147-A177-3AD203B41FA5}">
                      <a16:colId xmlns:a16="http://schemas.microsoft.com/office/drawing/2014/main" val="1103279385"/>
                    </a:ext>
                  </a:extLst>
                </a:gridCol>
              </a:tblGrid>
              <a:tr h="222648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u="none" strike="noStrike" dirty="0">
                          <a:effectLst/>
                        </a:rPr>
                        <a:t> 주문자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541906"/>
                  </a:ext>
                </a:extLst>
              </a:tr>
              <a:tr h="222648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u="none" strike="noStrike" dirty="0">
                          <a:effectLst/>
                        </a:rPr>
                        <a:t> 회사명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819504"/>
                  </a:ext>
                </a:extLst>
              </a:tr>
              <a:tr h="22264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u="none" strike="noStrike" dirty="0">
                          <a:effectLst/>
                        </a:rPr>
                        <a:t>주소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545007"/>
                  </a:ext>
                </a:extLst>
              </a:tr>
              <a:tr h="222648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u="none" strike="noStrike" dirty="0">
                          <a:effectLst/>
                        </a:rPr>
                        <a:t> 전화번호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722885"/>
                  </a:ext>
                </a:extLst>
              </a:tr>
              <a:tr h="222648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u="none" strike="noStrike" dirty="0">
                          <a:effectLst/>
                        </a:rPr>
                        <a:t> 휴대폰번호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721590"/>
                  </a:ext>
                </a:extLst>
              </a:tr>
              <a:tr h="22264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strike="noStrike" dirty="0">
                          <a:effectLst/>
                        </a:rPr>
                        <a:t> 통관번호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075194"/>
                  </a:ext>
                </a:extLst>
              </a:tr>
              <a:tr h="222648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u="none" strike="noStrike" dirty="0">
                          <a:effectLst/>
                        </a:rPr>
                        <a:t> 이메일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543868"/>
                  </a:ext>
                </a:extLst>
              </a:tr>
            </a:tbl>
          </a:graphicData>
        </a:graphic>
      </p:graphicFrame>
      <p:sp>
        <p:nvSpPr>
          <p:cNvPr id="16" name="직사각형 15">
            <a:extLst>
              <a:ext uri="{FF2B5EF4-FFF2-40B4-BE49-F238E27FC236}">
                <a16:creationId xmlns:a16="http://schemas.microsoft.com/office/drawing/2014/main" id="{AE86FFC3-173B-467B-9E7E-78DBE0B0AD32}"/>
              </a:ext>
            </a:extLst>
          </p:cNvPr>
          <p:cNvSpPr/>
          <p:nvPr/>
        </p:nvSpPr>
        <p:spPr>
          <a:xfrm>
            <a:off x="1064019" y="2470970"/>
            <a:ext cx="1728000" cy="180000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홍길동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48617AA-803C-46EE-B7A3-ECC9F261BC43}"/>
              </a:ext>
            </a:extLst>
          </p:cNvPr>
          <p:cNvSpPr/>
          <p:nvPr/>
        </p:nvSpPr>
        <p:spPr>
          <a:xfrm>
            <a:off x="1064019" y="3107377"/>
            <a:ext cx="1728000" cy="180000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02-3151-4777</a:t>
            </a:r>
            <a:endParaRPr lang="ko-KR" altLang="en-US" sz="800" spc="-50" dirty="0">
              <a:solidFill>
                <a:schemeClr val="bg1">
                  <a:lumMod val="75000"/>
                </a:schemeClr>
              </a:solidFill>
              <a:ea typeface="나눔고딕" panose="020D060400000000000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AC80775-9E25-4CA1-9C73-29BFF2FD4CEA}"/>
              </a:ext>
            </a:extLst>
          </p:cNvPr>
          <p:cNvSpPr/>
          <p:nvPr/>
        </p:nvSpPr>
        <p:spPr>
          <a:xfrm>
            <a:off x="1064019" y="3335459"/>
            <a:ext cx="1728000" cy="180000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010-0000-0000</a:t>
            </a:r>
            <a:endParaRPr lang="ko-KR" altLang="en-US" sz="800" spc="-50" dirty="0">
              <a:solidFill>
                <a:schemeClr val="bg1">
                  <a:lumMod val="75000"/>
                </a:schemeClr>
              </a:solidFill>
              <a:ea typeface="나눔고딕" panose="020D060400000000000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8D501EB-7574-4C81-8FDA-6ED4BAA96240}"/>
              </a:ext>
            </a:extLst>
          </p:cNvPr>
          <p:cNvSpPr/>
          <p:nvPr/>
        </p:nvSpPr>
        <p:spPr>
          <a:xfrm>
            <a:off x="1076142" y="3791378"/>
            <a:ext cx="1728000" cy="180000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wooriforest@forest.com</a:t>
            </a:r>
            <a:endParaRPr lang="ko-KR" altLang="en-US" sz="800" spc="-50" dirty="0">
              <a:solidFill>
                <a:schemeClr val="bg1">
                  <a:lumMod val="75000"/>
                </a:schemeClr>
              </a:solidFill>
              <a:ea typeface="나눔고딕" panose="020D060400000000000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30CE4FB-194D-4545-8D43-0A84D34D0CF9}"/>
              </a:ext>
            </a:extLst>
          </p:cNvPr>
          <p:cNvSpPr/>
          <p:nvPr/>
        </p:nvSpPr>
        <p:spPr>
          <a:xfrm>
            <a:off x="1064019" y="2903336"/>
            <a:ext cx="1728000" cy="180000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서울시 마포구 </a:t>
            </a:r>
            <a:r>
              <a:rPr lang="ko-KR" altLang="en-US" sz="800" spc="-50" dirty="0" err="1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월드컵북로</a:t>
            </a:r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62</a:t>
            </a:r>
            <a:endParaRPr lang="ko-KR" altLang="en-US" sz="800" spc="-50" dirty="0">
              <a:solidFill>
                <a:schemeClr val="bg1">
                  <a:lumMod val="75000"/>
                </a:schemeClr>
              </a:solidFill>
              <a:ea typeface="나눔고딕" panose="020D0604000000000000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4E37621-16FE-442C-B49A-40A08570D4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034" y="3791378"/>
            <a:ext cx="913029" cy="185763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3CCFC926-DE00-45CB-A033-D2C04DC87D0A}"/>
              </a:ext>
            </a:extLst>
          </p:cNvPr>
          <p:cNvSpPr/>
          <p:nvPr/>
        </p:nvSpPr>
        <p:spPr>
          <a:xfrm>
            <a:off x="3806697" y="2903020"/>
            <a:ext cx="574105" cy="20929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spc="-50" dirty="0">
                <a:solidFill>
                  <a:schemeClr val="bg2">
                    <a:lumMod val="25000"/>
                  </a:schemeClr>
                </a:solidFill>
                <a:ea typeface="나눔고딕" panose="020D0604000000000000"/>
              </a:rPr>
              <a:t>주소검색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A08CE4-1C12-464B-8BBB-5E1DAF8FEC3D}"/>
              </a:ext>
            </a:extLst>
          </p:cNvPr>
          <p:cNvSpPr txBox="1"/>
          <p:nvPr/>
        </p:nvSpPr>
        <p:spPr>
          <a:xfrm>
            <a:off x="168501" y="4158081"/>
            <a:ext cx="135523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1050" b="1" dirty="0">
                <a:ea typeface="나눔고딕" panose="020D0604000000000000"/>
              </a:rPr>
              <a:t>3.</a:t>
            </a:r>
            <a:r>
              <a:rPr lang="ko-KR" altLang="en-US" sz="1050" b="1" dirty="0">
                <a:ea typeface="나눔고딕" panose="020D0604000000000000"/>
              </a:rPr>
              <a:t> 배송정보</a:t>
            </a: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D5DDE672-40F7-4920-9FED-AF966F0D64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346889"/>
              </p:ext>
            </p:extLst>
          </p:nvPr>
        </p:nvGraphicFramePr>
        <p:xfrm>
          <a:off x="168501" y="4381419"/>
          <a:ext cx="5015350" cy="17811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730">
                  <a:extLst>
                    <a:ext uri="{9D8B030D-6E8A-4147-A177-3AD203B41FA5}">
                      <a16:colId xmlns:a16="http://schemas.microsoft.com/office/drawing/2014/main" val="1990234576"/>
                    </a:ext>
                  </a:extLst>
                </a:gridCol>
                <a:gridCol w="4198620">
                  <a:extLst>
                    <a:ext uri="{9D8B030D-6E8A-4147-A177-3AD203B41FA5}">
                      <a16:colId xmlns:a16="http://schemas.microsoft.com/office/drawing/2014/main" val="1365772185"/>
                    </a:ext>
                  </a:extLst>
                </a:gridCol>
              </a:tblGrid>
              <a:tr h="222648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배송지확인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217873"/>
                  </a:ext>
                </a:extLst>
              </a:tr>
              <a:tr h="222648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수령자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100917"/>
                  </a:ext>
                </a:extLst>
              </a:tr>
              <a:tr h="222648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u="none" strike="noStrike" dirty="0">
                          <a:effectLst/>
                        </a:rPr>
                        <a:t> 수령지주소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005161"/>
                  </a:ext>
                </a:extLst>
              </a:tr>
              <a:tr h="22264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322797"/>
                  </a:ext>
                </a:extLst>
              </a:tr>
              <a:tr h="22264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u="none" strike="noStrike" dirty="0">
                          <a:effectLst/>
                        </a:rPr>
                        <a:t>전화번호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50033"/>
                  </a:ext>
                </a:extLst>
              </a:tr>
              <a:tr h="22264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strike="noStrike" dirty="0">
                          <a:effectLst/>
                        </a:rPr>
                        <a:t> 휴대폰번호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180176"/>
                  </a:ext>
                </a:extLst>
              </a:tr>
              <a:tr h="22264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기타요구사항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577412"/>
                  </a:ext>
                </a:extLst>
              </a:tr>
              <a:tr h="222648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회원정보반영</a:t>
                      </a:r>
                    </a:p>
                  </a:txBody>
                  <a:tcPr marL="9525" marR="9525" marT="952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u="none" strike="noStrike" dirty="0">
                          <a:effectLst/>
                        </a:rPr>
                        <a:t>　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b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261926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3C4474-B5AC-41C7-A586-8DD64627CE31}"/>
              </a:ext>
            </a:extLst>
          </p:cNvPr>
          <p:cNvSpPr/>
          <p:nvPr/>
        </p:nvSpPr>
        <p:spPr>
          <a:xfrm>
            <a:off x="1064019" y="4632719"/>
            <a:ext cx="1728000" cy="180000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홍길동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92950A1-ABC7-4507-828E-9D63EE7E1838}"/>
              </a:ext>
            </a:extLst>
          </p:cNvPr>
          <p:cNvSpPr/>
          <p:nvPr/>
        </p:nvSpPr>
        <p:spPr>
          <a:xfrm>
            <a:off x="1066304" y="5270579"/>
            <a:ext cx="1728000" cy="180000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02-3151-4777</a:t>
            </a:r>
            <a:endParaRPr lang="ko-KR" altLang="en-US" sz="800" spc="-50" dirty="0">
              <a:solidFill>
                <a:schemeClr val="bg1">
                  <a:lumMod val="75000"/>
                </a:schemeClr>
              </a:solidFill>
              <a:ea typeface="나눔고딕" panose="020D0604000000000000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2F86FB6-3AAC-4F03-B90C-76DFC2FEB9AE}"/>
              </a:ext>
            </a:extLst>
          </p:cNvPr>
          <p:cNvSpPr/>
          <p:nvPr/>
        </p:nvSpPr>
        <p:spPr>
          <a:xfrm>
            <a:off x="1066304" y="5498661"/>
            <a:ext cx="1728000" cy="180000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010-0000-0000</a:t>
            </a:r>
            <a:endParaRPr lang="ko-KR" altLang="en-US" sz="800" spc="-50" dirty="0">
              <a:solidFill>
                <a:schemeClr val="bg1">
                  <a:lumMod val="75000"/>
                </a:schemeClr>
              </a:solidFill>
              <a:ea typeface="나눔고딕" panose="020D060400000000000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27E4457-BB93-41FC-986D-CA6BE5D08A43}"/>
              </a:ext>
            </a:extLst>
          </p:cNvPr>
          <p:cNvSpPr/>
          <p:nvPr/>
        </p:nvSpPr>
        <p:spPr>
          <a:xfrm>
            <a:off x="1064019" y="5709710"/>
            <a:ext cx="1728000" cy="180000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wooriforest@forest.com</a:t>
            </a:r>
            <a:endParaRPr lang="ko-KR" altLang="en-US" sz="800" spc="-50" dirty="0">
              <a:solidFill>
                <a:schemeClr val="bg1">
                  <a:lumMod val="75000"/>
                </a:schemeClr>
              </a:solidFill>
              <a:ea typeface="나눔고딕" panose="020D0604000000000000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88A5D30-9187-42B9-BAF3-78B9A6CE7C52}"/>
              </a:ext>
            </a:extLst>
          </p:cNvPr>
          <p:cNvSpPr/>
          <p:nvPr/>
        </p:nvSpPr>
        <p:spPr>
          <a:xfrm>
            <a:off x="1064019" y="4846971"/>
            <a:ext cx="688581" cy="176407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03912</a:t>
            </a:r>
            <a:endParaRPr lang="ko-KR" altLang="en-US" sz="800" spc="-50" dirty="0">
              <a:solidFill>
                <a:schemeClr val="bg1">
                  <a:lumMod val="75000"/>
                </a:schemeClr>
              </a:solidFill>
              <a:ea typeface="나눔고딕" panose="020D060400000000000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32AAE22-C745-49E0-845C-A5857320A4CA}"/>
              </a:ext>
            </a:extLst>
          </p:cNvPr>
          <p:cNvSpPr/>
          <p:nvPr/>
        </p:nvSpPr>
        <p:spPr>
          <a:xfrm>
            <a:off x="1796274" y="4846056"/>
            <a:ext cx="1008445" cy="17148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spc="-50" dirty="0">
                <a:solidFill>
                  <a:schemeClr val="bg2">
                    <a:lumMod val="25000"/>
                  </a:schemeClr>
                </a:solidFill>
                <a:ea typeface="나눔고딕" panose="020D0604000000000000"/>
              </a:rPr>
              <a:t>우편번호</a:t>
            </a:r>
            <a:r>
              <a:rPr lang="en-US" altLang="ko-KR" sz="800" spc="-50" dirty="0">
                <a:solidFill>
                  <a:schemeClr val="bg2">
                    <a:lumMod val="25000"/>
                  </a:schemeClr>
                </a:solidFill>
                <a:ea typeface="나눔고딕" panose="020D0604000000000000"/>
              </a:rPr>
              <a:t>/</a:t>
            </a:r>
            <a:r>
              <a:rPr lang="ko-KR" altLang="en-US" sz="800" spc="-50" dirty="0">
                <a:solidFill>
                  <a:schemeClr val="bg2">
                    <a:lumMod val="25000"/>
                  </a:schemeClr>
                </a:solidFill>
                <a:ea typeface="나눔고딕" panose="020D0604000000000000"/>
              </a:rPr>
              <a:t>주소검색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B58AC39-53B6-4B39-94EE-0A0D37809239}"/>
              </a:ext>
            </a:extLst>
          </p:cNvPr>
          <p:cNvSpPr/>
          <p:nvPr/>
        </p:nvSpPr>
        <p:spPr>
          <a:xfrm>
            <a:off x="2811910" y="5066215"/>
            <a:ext cx="913029" cy="204364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spc="-5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(</a:t>
            </a:r>
            <a:r>
              <a:rPr lang="ko-KR" altLang="en-US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주소지추가입력</a:t>
            </a:r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)</a:t>
            </a:r>
            <a:endParaRPr lang="ko-KR" altLang="en-US" sz="800" spc="-50" dirty="0">
              <a:solidFill>
                <a:schemeClr val="bg1">
                  <a:lumMod val="75000"/>
                </a:schemeClr>
              </a:solidFill>
              <a:ea typeface="나눔고딕" panose="020D060400000000000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8B594BC-FF34-4EF1-ACE0-AAB8038FFF89}"/>
              </a:ext>
            </a:extLst>
          </p:cNvPr>
          <p:cNvSpPr/>
          <p:nvPr/>
        </p:nvSpPr>
        <p:spPr>
          <a:xfrm>
            <a:off x="1064019" y="5066538"/>
            <a:ext cx="1728000" cy="180000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서울시 마포구 </a:t>
            </a:r>
            <a:r>
              <a:rPr lang="ko-KR" altLang="en-US" sz="800" spc="-50" dirty="0" err="1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월드컵북로</a:t>
            </a:r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62</a:t>
            </a:r>
            <a:endParaRPr lang="ko-KR" altLang="en-US" sz="800" spc="-50" dirty="0">
              <a:solidFill>
                <a:schemeClr val="bg1">
                  <a:lumMod val="75000"/>
                </a:schemeClr>
              </a:solidFill>
              <a:ea typeface="나눔고딕" panose="020D0604000000000000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2383A56-F7C1-4AA1-B317-C0E6A9A6FE99}"/>
              </a:ext>
            </a:extLst>
          </p:cNvPr>
          <p:cNvGrpSpPr/>
          <p:nvPr/>
        </p:nvGrpSpPr>
        <p:grpSpPr>
          <a:xfrm>
            <a:off x="1091279" y="4429323"/>
            <a:ext cx="2784700" cy="107722"/>
            <a:chOff x="1136908" y="3803317"/>
            <a:chExt cx="2784700" cy="107722"/>
          </a:xfrm>
        </p:grpSpPr>
        <p:sp>
          <p:nvSpPr>
            <p:cNvPr id="36" name="순서도: 연결자 35">
              <a:extLst>
                <a:ext uri="{FF2B5EF4-FFF2-40B4-BE49-F238E27FC236}">
                  <a16:creationId xmlns:a16="http://schemas.microsoft.com/office/drawing/2014/main" id="{8FBC8A7A-046A-459B-A10A-2F614F56C269}"/>
                </a:ext>
              </a:extLst>
            </p:cNvPr>
            <p:cNvSpPr/>
            <p:nvPr/>
          </p:nvSpPr>
          <p:spPr>
            <a:xfrm>
              <a:off x="1136908" y="3820568"/>
              <a:ext cx="67052" cy="73221"/>
            </a:xfrm>
            <a:prstGeom prst="flowChartConnector">
              <a:avLst/>
            </a:prstGeom>
            <a:solidFill>
              <a:schemeClr val="tx1"/>
            </a:solidFill>
            <a:ln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순서도: 연결자 37">
              <a:extLst>
                <a:ext uri="{FF2B5EF4-FFF2-40B4-BE49-F238E27FC236}">
                  <a16:creationId xmlns:a16="http://schemas.microsoft.com/office/drawing/2014/main" id="{7F0BCA4A-C1EC-4DAE-B0A1-9A4BBA14BA37}"/>
                </a:ext>
              </a:extLst>
            </p:cNvPr>
            <p:cNvSpPr/>
            <p:nvPr/>
          </p:nvSpPr>
          <p:spPr>
            <a:xfrm>
              <a:off x="1819628" y="3820568"/>
              <a:ext cx="67052" cy="73221"/>
            </a:xfrm>
            <a:prstGeom prst="flowChartConnector">
              <a:avLst/>
            </a:prstGeom>
            <a:noFill/>
            <a:ln w="3175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1A87182-6018-4A07-991C-BB9A13B1A088}"/>
                </a:ext>
              </a:extLst>
            </p:cNvPr>
            <p:cNvSpPr txBox="1"/>
            <p:nvPr/>
          </p:nvSpPr>
          <p:spPr>
            <a:xfrm>
              <a:off x="1230378" y="3803317"/>
              <a:ext cx="59635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ea typeface="나눔고딕" panose="020D0604000000000000"/>
                </a:rPr>
                <a:t>기본배송지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A0F806E-2D62-4B4F-AA7E-49E69EA18142}"/>
                </a:ext>
              </a:extLst>
            </p:cNvPr>
            <p:cNvSpPr txBox="1"/>
            <p:nvPr/>
          </p:nvSpPr>
          <p:spPr>
            <a:xfrm>
              <a:off x="1916417" y="3803317"/>
              <a:ext cx="59635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ea typeface="나눔고딕" panose="020D0604000000000000"/>
                </a:rPr>
                <a:t>최근배송지</a:t>
              </a:r>
            </a:p>
          </p:txBody>
        </p:sp>
        <p:sp>
          <p:nvSpPr>
            <p:cNvPr id="43" name="순서도: 연결자 42">
              <a:extLst>
                <a:ext uri="{FF2B5EF4-FFF2-40B4-BE49-F238E27FC236}">
                  <a16:creationId xmlns:a16="http://schemas.microsoft.com/office/drawing/2014/main" id="{C148C4F8-FA5D-44F7-9401-A5E894B1B7BD}"/>
                </a:ext>
              </a:extLst>
            </p:cNvPr>
            <p:cNvSpPr/>
            <p:nvPr/>
          </p:nvSpPr>
          <p:spPr>
            <a:xfrm>
              <a:off x="2467982" y="3820568"/>
              <a:ext cx="67052" cy="73221"/>
            </a:xfrm>
            <a:prstGeom prst="flowChartConnector">
              <a:avLst/>
            </a:prstGeom>
            <a:noFill/>
            <a:ln w="3175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5844450-5ADA-43A0-981D-EDD66FAA4267}"/>
                </a:ext>
              </a:extLst>
            </p:cNvPr>
            <p:cNvSpPr txBox="1"/>
            <p:nvPr/>
          </p:nvSpPr>
          <p:spPr>
            <a:xfrm>
              <a:off x="2564771" y="3803317"/>
              <a:ext cx="59635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ea typeface="나눔고딕" panose="020D0604000000000000"/>
                </a:rPr>
                <a:t>직접입력</a:t>
              </a:r>
            </a:p>
          </p:txBody>
        </p:sp>
        <p:sp>
          <p:nvSpPr>
            <p:cNvPr id="45" name="순서도: 연결자 44">
              <a:extLst>
                <a:ext uri="{FF2B5EF4-FFF2-40B4-BE49-F238E27FC236}">
                  <a16:creationId xmlns:a16="http://schemas.microsoft.com/office/drawing/2014/main" id="{9E5B5D23-4A5F-4ED7-856F-BC5162EF02CB}"/>
                </a:ext>
              </a:extLst>
            </p:cNvPr>
            <p:cNvSpPr/>
            <p:nvPr/>
          </p:nvSpPr>
          <p:spPr>
            <a:xfrm>
              <a:off x="3036905" y="3820568"/>
              <a:ext cx="67052" cy="73221"/>
            </a:xfrm>
            <a:prstGeom prst="flowChartConnector">
              <a:avLst/>
            </a:prstGeom>
            <a:noFill/>
            <a:ln w="3175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853957B-E2BA-4876-9469-C604E4C2746E}"/>
                </a:ext>
              </a:extLst>
            </p:cNvPr>
            <p:cNvSpPr txBox="1"/>
            <p:nvPr/>
          </p:nvSpPr>
          <p:spPr>
            <a:xfrm>
              <a:off x="3133693" y="3803317"/>
              <a:ext cx="78791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ea typeface="나눔고딕" panose="020D0604000000000000"/>
                </a:rPr>
                <a:t>주문자정보동일</a:t>
              </a:r>
              <a:endParaRPr lang="ko-KR" altLang="en-US" sz="700" dirty="0">
                <a:ea typeface="나눔고딕" panose="020D0604000000000000"/>
              </a:endParaRPr>
            </a:p>
          </p:txBody>
        </p:sp>
      </p:grp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F99E2BC-5F32-43EA-9F3E-3ABE5F1F2A95}"/>
              </a:ext>
            </a:extLst>
          </p:cNvPr>
          <p:cNvSpPr/>
          <p:nvPr/>
        </p:nvSpPr>
        <p:spPr>
          <a:xfrm>
            <a:off x="3818809" y="4403192"/>
            <a:ext cx="751150" cy="1807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spc="-50" dirty="0" err="1">
                <a:solidFill>
                  <a:schemeClr val="bg2">
                    <a:lumMod val="25000"/>
                  </a:schemeClr>
                </a:solidFill>
                <a:ea typeface="나눔고딕" panose="020D0604000000000000"/>
              </a:rPr>
              <a:t>배송지관리</a:t>
            </a:r>
            <a:endParaRPr lang="ko-KR" altLang="en-US" sz="800" spc="-50" dirty="0">
              <a:solidFill>
                <a:schemeClr val="bg2">
                  <a:lumMod val="25000"/>
                </a:schemeClr>
              </a:solidFill>
              <a:ea typeface="나눔고딕" panose="020D0604000000000000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9FB3D31-7B75-4125-9E91-6F28035B39BF}"/>
              </a:ext>
            </a:extLst>
          </p:cNvPr>
          <p:cNvSpPr/>
          <p:nvPr/>
        </p:nvSpPr>
        <p:spPr>
          <a:xfrm>
            <a:off x="1076142" y="3570418"/>
            <a:ext cx="1728000" cy="180000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P1234567</a:t>
            </a:r>
            <a:endParaRPr lang="ko-KR" altLang="en-US" sz="800" spc="-50" dirty="0">
              <a:solidFill>
                <a:schemeClr val="bg1">
                  <a:lumMod val="75000"/>
                </a:schemeClr>
              </a:solidFill>
              <a:ea typeface="나눔고딕" panose="020D0604000000000000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656403C8-815B-4B18-A1AF-8EBFF82AF4CF}"/>
              </a:ext>
            </a:extLst>
          </p:cNvPr>
          <p:cNvSpPr/>
          <p:nvPr/>
        </p:nvSpPr>
        <p:spPr>
          <a:xfrm>
            <a:off x="1013788" y="212114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ea typeface="나눔고딕" panose="020D0604000000000000"/>
              </a:rPr>
              <a:t>2</a:t>
            </a:r>
            <a:endParaRPr lang="ko-KR" altLang="en-US" sz="1100" b="1" dirty="0">
              <a:ea typeface="나눔고딕" panose="020D0604000000000000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28C5DC0B-A51F-4A8D-A495-9235A1EDD0D6}"/>
              </a:ext>
            </a:extLst>
          </p:cNvPr>
          <p:cNvSpPr/>
          <p:nvPr/>
        </p:nvSpPr>
        <p:spPr>
          <a:xfrm>
            <a:off x="878742" y="4112802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ea typeface="나눔고딕" panose="020D0604000000000000"/>
              </a:rPr>
              <a:t>3</a:t>
            </a:r>
            <a:endParaRPr lang="ko-KR" altLang="en-US" sz="1100" b="1" dirty="0">
              <a:ea typeface="나눔고딕" panose="020D0604000000000000"/>
            </a:endParaRP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988F69A9-2A6B-4AB5-9547-DBF0BAA65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657758"/>
              </p:ext>
            </p:extLst>
          </p:nvPr>
        </p:nvGraphicFramePr>
        <p:xfrm>
          <a:off x="8183686" y="1048222"/>
          <a:ext cx="3776163" cy="15585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59913">
                  <a:extLst>
                    <a:ext uri="{9D8B030D-6E8A-4147-A177-3AD203B41FA5}">
                      <a16:colId xmlns:a16="http://schemas.microsoft.com/office/drawing/2014/main" val="204444142"/>
                    </a:ext>
                  </a:extLst>
                </a:gridCol>
                <a:gridCol w="3016250">
                  <a:extLst>
                    <a:ext uri="{9D8B030D-6E8A-4147-A177-3AD203B41FA5}">
                      <a16:colId xmlns:a16="http://schemas.microsoft.com/office/drawing/2014/main" val="1103279385"/>
                    </a:ext>
                  </a:extLst>
                </a:gridCol>
              </a:tblGrid>
              <a:tr h="222648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u="none" strike="noStrike" dirty="0">
                          <a:effectLst/>
                        </a:rPr>
                        <a:t> </a:t>
                      </a:r>
                      <a:r>
                        <a:rPr lang="ko-KR" altLang="en-US" sz="800" u="none" strike="noStrike" dirty="0" err="1">
                          <a:effectLst/>
                        </a:rPr>
                        <a:t>상품합계금액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u="none" strike="noStrike" dirty="0">
                          <a:effectLst/>
                        </a:rPr>
                        <a:t>   </a:t>
                      </a:r>
                      <a:r>
                        <a:rPr lang="en-US" altLang="ko-KR" sz="900" u="none" strike="noStrike" dirty="0">
                          <a:effectLst/>
                        </a:rPr>
                        <a:t>4,400,000</a:t>
                      </a:r>
                      <a:r>
                        <a:rPr lang="ko-KR" altLang="en-US" sz="900" u="none" strike="noStrike" dirty="0">
                          <a:effectLst/>
                        </a:rPr>
                        <a:t>원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541906"/>
                  </a:ext>
                </a:extLst>
              </a:tr>
              <a:tr h="222648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u="none" strike="noStrike" dirty="0">
                          <a:effectLst/>
                        </a:rPr>
                        <a:t> 배송비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u="none" strike="noStrike" dirty="0">
                          <a:effectLst/>
                        </a:rPr>
                        <a:t>　          </a:t>
                      </a:r>
                      <a:r>
                        <a:rPr lang="en-US" altLang="ko-KR" sz="900" u="none" strike="noStrike" dirty="0">
                          <a:effectLst/>
                        </a:rPr>
                        <a:t>-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819504"/>
                  </a:ext>
                </a:extLst>
              </a:tr>
              <a:tr h="222648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u="none" strike="noStrike" dirty="0">
                          <a:effectLst/>
                        </a:rPr>
                        <a:t> 할인금액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u="none" strike="noStrike" dirty="0">
                          <a:effectLst/>
                        </a:rPr>
                        <a:t>   </a:t>
                      </a:r>
                      <a:r>
                        <a:rPr lang="en-US" altLang="ko-KR" sz="900" u="none" strike="noStrike" dirty="0">
                          <a:effectLst/>
                        </a:rPr>
                        <a:t>(-)400,000</a:t>
                      </a:r>
                      <a:r>
                        <a:rPr lang="ko-KR" altLang="en-US" sz="900" u="none" strike="noStrike" dirty="0">
                          <a:effectLst/>
                        </a:rPr>
                        <a:t>원</a:t>
                      </a:r>
                      <a:r>
                        <a:rPr lang="en-US" altLang="ko-KR" sz="900" u="none" strike="noStrike" dirty="0">
                          <a:effectLst/>
                        </a:rPr>
                        <a:t>  (</a:t>
                      </a:r>
                      <a:r>
                        <a:rPr lang="ko-KR" altLang="en-US" sz="900" u="none" strike="noStrike" dirty="0">
                          <a:effectLst/>
                        </a:rPr>
                        <a:t>상품</a:t>
                      </a:r>
                      <a:r>
                        <a:rPr lang="en-US" altLang="ko-KR" sz="900" u="none" strike="noStrike" dirty="0">
                          <a:effectLst/>
                        </a:rPr>
                        <a:t>: 0</a:t>
                      </a:r>
                      <a:r>
                        <a:rPr lang="ko-KR" altLang="en-US" sz="900" u="none" strike="noStrike" dirty="0">
                          <a:effectLst/>
                        </a:rPr>
                        <a:t>원</a:t>
                      </a:r>
                      <a:r>
                        <a:rPr lang="en-US" altLang="ko-KR" sz="900" u="none" strike="noStrike" dirty="0">
                          <a:effectLst/>
                        </a:rPr>
                        <a:t>, </a:t>
                      </a:r>
                      <a:r>
                        <a:rPr lang="ko-KR" altLang="en-US" sz="900" u="none" strike="noStrike" dirty="0">
                          <a:effectLst/>
                        </a:rPr>
                        <a:t>등급</a:t>
                      </a:r>
                      <a:r>
                        <a:rPr lang="en-US" altLang="ko-KR" sz="900" u="none" strike="noStrike" dirty="0">
                          <a:effectLst/>
                        </a:rPr>
                        <a:t>: -400,000</a:t>
                      </a:r>
                      <a:r>
                        <a:rPr lang="ko-KR" altLang="en-US" sz="900" u="none" strike="noStrike" dirty="0">
                          <a:effectLst/>
                        </a:rPr>
                        <a:t>원</a:t>
                      </a:r>
                      <a:r>
                        <a:rPr lang="en-US" altLang="ko-KR" sz="900" u="none" strike="noStrike" dirty="0">
                          <a:effectLst/>
                        </a:rPr>
                        <a:t>, </a:t>
                      </a:r>
                      <a:r>
                        <a:rPr lang="ko-KR" altLang="en-US" sz="900" u="none" strike="noStrike" dirty="0">
                          <a:effectLst/>
                        </a:rPr>
                        <a:t>쿠폰</a:t>
                      </a:r>
                      <a:r>
                        <a:rPr lang="en-US" altLang="ko-KR" sz="900" u="none" strike="noStrike" dirty="0">
                          <a:effectLst/>
                        </a:rPr>
                        <a:t>: 0</a:t>
                      </a:r>
                      <a:r>
                        <a:rPr lang="ko-KR" altLang="en-US" sz="900" u="none" strike="noStrike" dirty="0">
                          <a:effectLst/>
                        </a:rPr>
                        <a:t>원</a:t>
                      </a:r>
                      <a:r>
                        <a:rPr lang="en-US" altLang="ko-KR" sz="900" u="none" strike="noStrike" dirty="0">
                          <a:effectLst/>
                        </a:rPr>
                        <a:t>)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722885"/>
                  </a:ext>
                </a:extLst>
              </a:tr>
              <a:tr h="222648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u="none" strike="noStrike" dirty="0">
                          <a:effectLst/>
                        </a:rPr>
                        <a:t> 적립금액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strike="noStrike" dirty="0">
                          <a:effectLst/>
                        </a:rPr>
                        <a:t>   (+)40,000</a:t>
                      </a:r>
                      <a:r>
                        <a:rPr lang="ko-KR" altLang="en-US" sz="900" u="none" strike="noStrike" dirty="0">
                          <a:effectLst/>
                        </a:rPr>
                        <a:t>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721590"/>
                  </a:ext>
                </a:extLst>
              </a:tr>
              <a:tr h="22264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none" strike="noStrike" dirty="0">
                          <a:effectLst/>
                        </a:rPr>
                        <a:t> 쿠폰사용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9075194"/>
                  </a:ext>
                </a:extLst>
              </a:tr>
              <a:tr h="222648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적립금사용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9071016"/>
                  </a:ext>
                </a:extLst>
              </a:tr>
              <a:tr h="222648"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최종결재금액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u="none" strike="noStrike" dirty="0">
                          <a:effectLst/>
                        </a:rPr>
                        <a:t> 　</a:t>
                      </a:r>
                      <a:r>
                        <a:rPr lang="en-US" altLang="ko-KR" sz="900" u="none" strike="noStrike" dirty="0">
                          <a:effectLst/>
                        </a:rPr>
                        <a:t>4,000,000</a:t>
                      </a:r>
                      <a:r>
                        <a:rPr lang="ko-KR" altLang="en-US" sz="900" u="none" strike="noStrike" dirty="0">
                          <a:effectLst/>
                        </a:rPr>
                        <a:t>원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543868"/>
                  </a:ext>
                </a:extLst>
              </a:tr>
            </a:tbl>
          </a:graphicData>
        </a:graphic>
      </p:graphicFrame>
      <p:sp>
        <p:nvSpPr>
          <p:cNvPr id="62" name="직사각형 61">
            <a:extLst>
              <a:ext uri="{FF2B5EF4-FFF2-40B4-BE49-F238E27FC236}">
                <a16:creationId xmlns:a16="http://schemas.microsoft.com/office/drawing/2014/main" id="{718F0AA9-B0FA-4CB5-8D9B-E01122893886}"/>
              </a:ext>
            </a:extLst>
          </p:cNvPr>
          <p:cNvSpPr/>
          <p:nvPr/>
        </p:nvSpPr>
        <p:spPr>
          <a:xfrm>
            <a:off x="9855270" y="1966797"/>
            <a:ext cx="751150" cy="18076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spc="-50" dirty="0">
                <a:solidFill>
                  <a:schemeClr val="bg2">
                    <a:lumMod val="25000"/>
                  </a:schemeClr>
                </a:solidFill>
                <a:ea typeface="나눔고딕" panose="020D0604000000000000"/>
              </a:rPr>
              <a:t>보유쿠폰</a:t>
            </a:r>
            <a:r>
              <a:rPr lang="en-US" altLang="ko-KR" sz="800" spc="-50" dirty="0">
                <a:solidFill>
                  <a:schemeClr val="bg2">
                    <a:lumMod val="25000"/>
                  </a:schemeClr>
                </a:solidFill>
                <a:ea typeface="나눔고딕" panose="020D0604000000000000"/>
              </a:rPr>
              <a:t>(1)</a:t>
            </a:r>
            <a:endParaRPr lang="ko-KR" altLang="en-US" sz="800" spc="-50" dirty="0">
              <a:solidFill>
                <a:schemeClr val="bg2">
                  <a:lumMod val="25000"/>
                </a:schemeClr>
              </a:solidFill>
              <a:ea typeface="나눔고딕" panose="020D060400000000000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005ECBB-5E71-42F1-BA17-332F244993E3}"/>
              </a:ext>
            </a:extLst>
          </p:cNvPr>
          <p:cNvSpPr/>
          <p:nvPr/>
        </p:nvSpPr>
        <p:spPr>
          <a:xfrm>
            <a:off x="9016371" y="2215920"/>
            <a:ext cx="751150" cy="155623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                </a:t>
            </a:r>
            <a:endParaRPr lang="ko-KR" altLang="en-US" sz="800" spc="-50" dirty="0">
              <a:solidFill>
                <a:schemeClr val="bg1">
                  <a:lumMod val="75000"/>
                </a:schemeClr>
              </a:solidFill>
              <a:ea typeface="나눔고딕" panose="020D0604000000000000"/>
            </a:endParaRPr>
          </a:p>
        </p:txBody>
      </p:sp>
      <p:sp>
        <p:nvSpPr>
          <p:cNvPr id="71" name="순서도: 처리 70">
            <a:extLst>
              <a:ext uri="{FF2B5EF4-FFF2-40B4-BE49-F238E27FC236}">
                <a16:creationId xmlns:a16="http://schemas.microsoft.com/office/drawing/2014/main" id="{5555C91C-3703-4B96-A52D-429487816E62}"/>
              </a:ext>
            </a:extLst>
          </p:cNvPr>
          <p:cNvSpPr/>
          <p:nvPr/>
        </p:nvSpPr>
        <p:spPr>
          <a:xfrm>
            <a:off x="9859746" y="2230746"/>
            <a:ext cx="106947" cy="120385"/>
          </a:xfrm>
          <a:prstGeom prst="flowChartProcess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DFD8427-D70A-480A-8EAC-845BBFEBBE98}"/>
              </a:ext>
            </a:extLst>
          </p:cNvPr>
          <p:cNvSpPr txBox="1"/>
          <p:nvPr/>
        </p:nvSpPr>
        <p:spPr>
          <a:xfrm>
            <a:off x="10019768" y="2236165"/>
            <a:ext cx="306405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ea typeface="나눔고딕" panose="020D0604000000000000"/>
              </a:rPr>
              <a:t>전액사용하기 </a:t>
            </a:r>
            <a:r>
              <a:rPr lang="en-US" altLang="ko-KR" sz="800" dirty="0">
                <a:ea typeface="나눔고딕" panose="020D0604000000000000"/>
              </a:rPr>
              <a:t>(</a:t>
            </a:r>
            <a:r>
              <a:rPr lang="ko-KR" altLang="en-US" sz="800" dirty="0">
                <a:ea typeface="나눔고딕" panose="020D0604000000000000"/>
              </a:rPr>
              <a:t>보유 적립금 </a:t>
            </a:r>
            <a:r>
              <a:rPr lang="en-US" altLang="ko-KR" sz="800" dirty="0">
                <a:ea typeface="나눔고딕" panose="020D0604000000000000"/>
              </a:rPr>
              <a:t>: 100,000 </a:t>
            </a:r>
            <a:r>
              <a:rPr lang="ko-KR" altLang="en-US" sz="800" dirty="0">
                <a:ea typeface="나눔고딕" panose="020D0604000000000000"/>
              </a:rPr>
              <a:t>원</a:t>
            </a:r>
            <a:r>
              <a:rPr lang="en-US" altLang="ko-KR" sz="800" dirty="0">
                <a:ea typeface="나눔고딕" panose="020D0604000000000000"/>
              </a:rPr>
              <a:t>)</a:t>
            </a:r>
            <a:endParaRPr lang="ko-KR" altLang="en-US" sz="800" dirty="0">
              <a:ea typeface="나눔고딕" panose="020D0604000000000000"/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9AB25358-D78E-433D-945F-FEB5C020E760}"/>
              </a:ext>
            </a:extLst>
          </p:cNvPr>
          <p:cNvSpPr/>
          <p:nvPr/>
        </p:nvSpPr>
        <p:spPr>
          <a:xfrm>
            <a:off x="8882144" y="756392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ea typeface="나눔고딕" panose="020D0604000000000000"/>
              </a:rPr>
              <a:t>4</a:t>
            </a:r>
            <a:endParaRPr lang="ko-KR" altLang="en-US" sz="1100" b="1" dirty="0">
              <a:ea typeface="나눔고딕" panose="020D0604000000000000"/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74695F01-3D66-4E3F-BE6E-48291560F992}"/>
              </a:ext>
            </a:extLst>
          </p:cNvPr>
          <p:cNvCxnSpPr/>
          <p:nvPr/>
        </p:nvCxnSpPr>
        <p:spPr>
          <a:xfrm>
            <a:off x="5486400" y="177669"/>
            <a:ext cx="0" cy="65374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A889AE76-824F-4620-9A21-92A52F8B2E53}"/>
              </a:ext>
            </a:extLst>
          </p:cNvPr>
          <p:cNvSpPr/>
          <p:nvPr/>
        </p:nvSpPr>
        <p:spPr>
          <a:xfrm>
            <a:off x="1065417" y="2682093"/>
            <a:ext cx="1728000" cy="180000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홍길동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B16E5DF-7BB0-4B14-BAAE-E05FEF30E83D}"/>
              </a:ext>
            </a:extLst>
          </p:cNvPr>
          <p:cNvSpPr/>
          <p:nvPr/>
        </p:nvSpPr>
        <p:spPr>
          <a:xfrm>
            <a:off x="2834032" y="2914853"/>
            <a:ext cx="913029" cy="176872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(</a:t>
            </a:r>
            <a:r>
              <a:rPr lang="ko-KR" altLang="en-US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주소지추가입력</a:t>
            </a:r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)</a:t>
            </a:r>
            <a:endParaRPr lang="ko-KR" altLang="en-US" sz="800" spc="-50" dirty="0">
              <a:solidFill>
                <a:schemeClr val="bg1">
                  <a:lumMod val="75000"/>
                </a:schemeClr>
              </a:solidFill>
              <a:ea typeface="나눔고딕" panose="020D060400000000000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B3C5B0F-5CA8-48D3-8B35-8061D081D38E}"/>
              </a:ext>
            </a:extLst>
          </p:cNvPr>
          <p:cNvSpPr/>
          <p:nvPr/>
        </p:nvSpPr>
        <p:spPr>
          <a:xfrm>
            <a:off x="9026158" y="1982426"/>
            <a:ext cx="751150" cy="155623"/>
          </a:xfrm>
          <a:prstGeom prst="rect">
            <a:avLst/>
          </a:prstGeom>
          <a:solidFill>
            <a:srgbClr val="F3F7F7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spc="-50" dirty="0">
                <a:solidFill>
                  <a:schemeClr val="bg1">
                    <a:lumMod val="75000"/>
                  </a:schemeClr>
                </a:solidFill>
                <a:ea typeface="나눔고딕" panose="020D0604000000000000"/>
              </a:rPr>
              <a:t>                </a:t>
            </a:r>
            <a:endParaRPr lang="ko-KR" altLang="en-US" sz="800" spc="-50" dirty="0">
              <a:solidFill>
                <a:schemeClr val="bg1">
                  <a:lumMod val="75000"/>
                </a:schemeClr>
              </a:solidFill>
              <a:ea typeface="나눔고딕" panose="020D0604000000000000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2497259-6317-4A1E-A8E4-F58E5AC35318}"/>
              </a:ext>
            </a:extLst>
          </p:cNvPr>
          <p:cNvSpPr/>
          <p:nvPr/>
        </p:nvSpPr>
        <p:spPr>
          <a:xfrm>
            <a:off x="9052753" y="2784060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ea typeface="나눔고딕" panose="020D0604000000000000"/>
              </a:rPr>
              <a:t>5</a:t>
            </a:r>
            <a:endParaRPr lang="ko-KR" altLang="en-US" sz="1100" b="1" dirty="0">
              <a:ea typeface="나눔고딕" panose="020D0604000000000000"/>
            </a:endParaRPr>
          </a:p>
        </p:txBody>
      </p:sp>
      <p:sp>
        <p:nvSpPr>
          <p:cNvPr id="6" name="순서도: 처리 5">
            <a:extLst>
              <a:ext uri="{FF2B5EF4-FFF2-40B4-BE49-F238E27FC236}">
                <a16:creationId xmlns:a16="http://schemas.microsoft.com/office/drawing/2014/main" id="{3D964CA2-73DF-40D1-A50B-0261669D1872}"/>
              </a:ext>
            </a:extLst>
          </p:cNvPr>
          <p:cNvSpPr/>
          <p:nvPr/>
        </p:nvSpPr>
        <p:spPr>
          <a:xfrm>
            <a:off x="1091279" y="5991309"/>
            <a:ext cx="106947" cy="120385"/>
          </a:xfrm>
          <a:prstGeom prst="flowChartProcess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D1592E-1BFC-47CB-8AE2-57EB007B1288}"/>
              </a:ext>
            </a:extLst>
          </p:cNvPr>
          <p:cNvSpPr txBox="1"/>
          <p:nvPr/>
        </p:nvSpPr>
        <p:spPr>
          <a:xfrm>
            <a:off x="1272112" y="5986562"/>
            <a:ext cx="332070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ea typeface="나눔고딕" panose="020D0604000000000000"/>
              </a:rPr>
              <a:t>상기 배송정보를 배송지에 신규 등록합니다</a:t>
            </a:r>
            <a:r>
              <a:rPr lang="en-US" altLang="ko-KR" sz="800" dirty="0">
                <a:ea typeface="나눔고딕" panose="020D0604000000000000"/>
              </a:rPr>
              <a:t>(</a:t>
            </a:r>
            <a:r>
              <a:rPr lang="ko-KR" altLang="en-US" sz="800" dirty="0">
                <a:ea typeface="나눔고딕" panose="020D0604000000000000"/>
              </a:rPr>
              <a:t>주소</a:t>
            </a:r>
            <a:r>
              <a:rPr lang="en-US" altLang="ko-KR" sz="800" dirty="0">
                <a:ea typeface="나눔고딕" panose="020D0604000000000000"/>
              </a:rPr>
              <a:t>, </a:t>
            </a:r>
            <a:r>
              <a:rPr lang="ko-KR" altLang="en-US" sz="800" dirty="0">
                <a:ea typeface="나눔고딕" panose="020D0604000000000000"/>
              </a:rPr>
              <a:t>전화번호</a:t>
            </a:r>
            <a:r>
              <a:rPr lang="en-US" altLang="ko-KR" sz="800" dirty="0">
                <a:ea typeface="나눔고딕" panose="020D0604000000000000"/>
              </a:rPr>
              <a:t>, </a:t>
            </a:r>
            <a:r>
              <a:rPr lang="ko-KR" altLang="en-US" sz="800" dirty="0">
                <a:ea typeface="나눔고딕" panose="020D0604000000000000"/>
              </a:rPr>
              <a:t>휴대폰번호</a:t>
            </a:r>
            <a:r>
              <a:rPr lang="en-US" altLang="ko-KR" sz="800" dirty="0">
                <a:ea typeface="나눔고딕" panose="020D0604000000000000"/>
              </a:rPr>
              <a:t>)</a:t>
            </a:r>
            <a:endParaRPr lang="ko-KR" altLang="en-US" sz="800" dirty="0">
              <a:ea typeface="나눔고딕" panose="020D060400000000000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734B628-F23C-4DBF-8BAD-7329FF7AA3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89" y="429752"/>
            <a:ext cx="2388664" cy="15181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1B2B80-137C-4F94-8595-B0EB7AF3E27C}"/>
              </a:ext>
            </a:extLst>
          </p:cNvPr>
          <p:cNvSpPr txBox="1"/>
          <p:nvPr/>
        </p:nvSpPr>
        <p:spPr>
          <a:xfrm>
            <a:off x="6421161" y="211273"/>
            <a:ext cx="730969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>
              <a:defRPr sz="1050" b="1">
                <a:ea typeface="나눔고딕" panose="020D0604000000000000"/>
              </a:defRPr>
            </a:lvl1pPr>
          </a:lstStyle>
          <a:p>
            <a:r>
              <a:rPr lang="en-US" altLang="ko-KR" dirty="0"/>
              <a:t>&lt;</a:t>
            </a:r>
            <a:r>
              <a:rPr lang="ko-KR" altLang="en-US" dirty="0" err="1"/>
              <a:t>팝업예시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3210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623D9648-2666-4505-8CBE-53A10EFFC6FB}"/>
              </a:ext>
            </a:extLst>
          </p:cNvPr>
          <p:cNvGrpSpPr/>
          <p:nvPr/>
        </p:nvGrpSpPr>
        <p:grpSpPr>
          <a:xfrm>
            <a:off x="56632" y="539931"/>
            <a:ext cx="2146638" cy="6018151"/>
            <a:chOff x="56632" y="539931"/>
            <a:chExt cx="2146638" cy="6018151"/>
          </a:xfrm>
        </p:grpSpPr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9BA84B93-15D3-4B98-9A9A-CBEA0AE06DB0}"/>
                </a:ext>
              </a:extLst>
            </p:cNvPr>
            <p:cNvSpPr/>
            <p:nvPr/>
          </p:nvSpPr>
          <p:spPr>
            <a:xfrm>
              <a:off x="56632" y="827920"/>
              <a:ext cx="2146638" cy="5730162"/>
            </a:xfrm>
            <a:prstGeom prst="rect">
              <a:avLst/>
            </a:prstGeom>
            <a:solidFill>
              <a:srgbClr val="002060"/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 dirty="0">
                <a:latin typeface="+mn-ea"/>
              </a:endParaRP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C58E3507-76A9-42C5-8D87-422BEF01290D}"/>
                </a:ext>
              </a:extLst>
            </p:cNvPr>
            <p:cNvSpPr/>
            <p:nvPr/>
          </p:nvSpPr>
          <p:spPr>
            <a:xfrm>
              <a:off x="56632" y="539931"/>
              <a:ext cx="2146637" cy="276999"/>
            </a:xfrm>
            <a:prstGeom prst="rect">
              <a:avLst/>
            </a:prstGeom>
            <a:solidFill>
              <a:srgbClr val="002060"/>
            </a:solidFill>
            <a:ln w="28575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>
                  <a:latin typeface="+mn-ea"/>
                </a:rPr>
                <a:t>[</a:t>
              </a:r>
              <a:r>
                <a:rPr lang="ko-KR" altLang="en-US" sz="1200" b="1" dirty="0">
                  <a:latin typeface="+mn-ea"/>
                </a:rPr>
                <a:t>전체 화면 구조</a:t>
              </a:r>
              <a:r>
                <a:rPr lang="en-US" altLang="ko-KR" sz="1200" b="1" dirty="0">
                  <a:latin typeface="+mn-ea"/>
                </a:rPr>
                <a:t>]</a:t>
              </a:r>
              <a:endParaRPr lang="ko-KR" altLang="en-US" sz="1200" b="1" dirty="0">
                <a:latin typeface="+mn-ea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2757F30-510B-416B-8C95-D78087C12082}"/>
              </a:ext>
            </a:extLst>
          </p:cNvPr>
          <p:cNvSpPr txBox="1"/>
          <p:nvPr/>
        </p:nvSpPr>
        <p:spPr>
          <a:xfrm>
            <a:off x="105692" y="91541"/>
            <a:ext cx="4987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+mn-ea"/>
              </a:rPr>
              <a:t>2. </a:t>
            </a:r>
            <a:r>
              <a:rPr lang="ko-KR" altLang="en-US" b="1" dirty="0">
                <a:latin typeface="+mn-ea"/>
              </a:rPr>
              <a:t>로그인 후 메인 화면 </a:t>
            </a:r>
            <a:r>
              <a:rPr lang="en-US" altLang="ko-KR" b="1" dirty="0">
                <a:latin typeface="+mn-ea"/>
              </a:rPr>
              <a:t>– </a:t>
            </a:r>
            <a:r>
              <a:rPr lang="ko-KR" altLang="en-US" b="1" dirty="0">
                <a:latin typeface="+mn-ea"/>
              </a:rPr>
              <a:t>전체 메뉴</a:t>
            </a:r>
            <a:r>
              <a:rPr lang="en-US" altLang="ko-KR" b="1" dirty="0">
                <a:latin typeface="+mn-ea"/>
              </a:rPr>
              <a:t>, </a:t>
            </a:r>
            <a:r>
              <a:rPr lang="ko-KR" altLang="en-US" b="1" dirty="0">
                <a:latin typeface="+mn-ea"/>
              </a:rPr>
              <a:t>나의 메뉴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BB50C194-D285-4E2D-9EFC-4907AD61A6B5}"/>
              </a:ext>
            </a:extLst>
          </p:cNvPr>
          <p:cNvSpPr txBox="1"/>
          <p:nvPr/>
        </p:nvSpPr>
        <p:spPr>
          <a:xfrm>
            <a:off x="15240" y="6558082"/>
            <a:ext cx="7734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+mn-ea"/>
              </a:rPr>
              <a:t>Page 17</a:t>
            </a:r>
            <a:endParaRPr lang="ko-KR" altLang="en-US" sz="1200" b="1" dirty="0">
              <a:latin typeface="+mn-ea"/>
            </a:endParaRPr>
          </a:p>
        </p:txBody>
      </p:sp>
      <p:grpSp>
        <p:nvGrpSpPr>
          <p:cNvPr id="309" name="그룹 308">
            <a:extLst>
              <a:ext uri="{FF2B5EF4-FFF2-40B4-BE49-F238E27FC236}">
                <a16:creationId xmlns:a16="http://schemas.microsoft.com/office/drawing/2014/main" id="{CF3C269A-637A-4C61-BAE4-CC05437C0BCF}"/>
              </a:ext>
            </a:extLst>
          </p:cNvPr>
          <p:cNvGrpSpPr/>
          <p:nvPr/>
        </p:nvGrpSpPr>
        <p:grpSpPr>
          <a:xfrm>
            <a:off x="2302038" y="889272"/>
            <a:ext cx="4761945" cy="5668810"/>
            <a:chOff x="2686048" y="146048"/>
            <a:chExt cx="4761945" cy="5668810"/>
          </a:xfrm>
        </p:grpSpPr>
        <p:sp>
          <p:nvSpPr>
            <p:cNvPr id="313" name="직사각형 312">
              <a:extLst>
                <a:ext uri="{FF2B5EF4-FFF2-40B4-BE49-F238E27FC236}">
                  <a16:creationId xmlns:a16="http://schemas.microsoft.com/office/drawing/2014/main" id="{CEF488D9-4765-4C44-A862-FA6E6FC31C84}"/>
                </a:ext>
              </a:extLst>
            </p:cNvPr>
            <p:cNvSpPr/>
            <p:nvPr/>
          </p:nvSpPr>
          <p:spPr>
            <a:xfrm>
              <a:off x="2686048" y="146048"/>
              <a:ext cx="4761945" cy="566881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14" name="직사각형 313">
              <a:extLst>
                <a:ext uri="{FF2B5EF4-FFF2-40B4-BE49-F238E27FC236}">
                  <a16:creationId xmlns:a16="http://schemas.microsoft.com/office/drawing/2014/main" id="{936C5AE5-2B9A-48D1-896D-64A3DAB62873}"/>
                </a:ext>
              </a:extLst>
            </p:cNvPr>
            <p:cNvSpPr/>
            <p:nvPr/>
          </p:nvSpPr>
          <p:spPr>
            <a:xfrm>
              <a:off x="2686050" y="146050"/>
              <a:ext cx="778158" cy="16867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  <a:latin typeface="+mn-ea"/>
                </a:rPr>
                <a:t>전체 메뉴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EECEB7C6-71AE-4E7B-A380-2F0C974ADEBB}"/>
              </a:ext>
            </a:extLst>
          </p:cNvPr>
          <p:cNvGrpSpPr/>
          <p:nvPr/>
        </p:nvGrpSpPr>
        <p:grpSpPr>
          <a:xfrm>
            <a:off x="136251" y="889272"/>
            <a:ext cx="1980000" cy="4680000"/>
            <a:chOff x="136251" y="741223"/>
            <a:chExt cx="1980000" cy="4680000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C9C1535D-8A0B-4B79-8341-FEF1368665AA}"/>
                </a:ext>
              </a:extLst>
            </p:cNvPr>
            <p:cNvGrpSpPr/>
            <p:nvPr/>
          </p:nvGrpSpPr>
          <p:grpSpPr>
            <a:xfrm>
              <a:off x="136251" y="741223"/>
              <a:ext cx="1980000" cy="4680000"/>
              <a:chOff x="226421" y="238759"/>
              <a:chExt cx="1980000" cy="4680000"/>
            </a:xfrm>
          </p:grpSpPr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626EBE36-9391-4782-B9A4-1F6839BA6805}"/>
                  </a:ext>
                </a:extLst>
              </p:cNvPr>
              <p:cNvGrpSpPr/>
              <p:nvPr/>
            </p:nvGrpSpPr>
            <p:grpSpPr>
              <a:xfrm>
                <a:off x="226421" y="238759"/>
                <a:ext cx="1980000" cy="4680000"/>
                <a:chOff x="226421" y="206454"/>
                <a:chExt cx="3222454" cy="7655778"/>
              </a:xfrm>
            </p:grpSpPr>
            <p:sp>
              <p:nvSpPr>
                <p:cNvPr id="2" name="직사각형 1">
                  <a:extLst>
                    <a:ext uri="{FF2B5EF4-FFF2-40B4-BE49-F238E27FC236}">
                      <a16:creationId xmlns:a16="http://schemas.microsoft.com/office/drawing/2014/main" id="{8AA3A129-D468-4FEF-B654-0405F04669D2}"/>
                    </a:ext>
                  </a:extLst>
                </p:cNvPr>
                <p:cNvSpPr/>
                <p:nvPr/>
              </p:nvSpPr>
              <p:spPr>
                <a:xfrm>
                  <a:off x="226421" y="206454"/>
                  <a:ext cx="3222454" cy="765577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n-ea"/>
                  </a:endParaRPr>
                </a:p>
              </p:txBody>
            </p:sp>
            <p:sp>
              <p:nvSpPr>
                <p:cNvPr id="179" name="직사각형 178">
                  <a:extLst>
                    <a:ext uri="{FF2B5EF4-FFF2-40B4-BE49-F238E27FC236}">
                      <a16:creationId xmlns:a16="http://schemas.microsoft.com/office/drawing/2014/main" id="{1A5070F1-02F7-43BE-BDC2-0BE314BD7490}"/>
                    </a:ext>
                  </a:extLst>
                </p:cNvPr>
                <p:cNvSpPr/>
                <p:nvPr/>
              </p:nvSpPr>
              <p:spPr>
                <a:xfrm>
                  <a:off x="372896" y="3389140"/>
                  <a:ext cx="2929504" cy="117781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ko-KR" altLang="en-US" sz="1000" b="1" dirty="0">
                      <a:solidFill>
                        <a:schemeClr val="tx1"/>
                      </a:solidFill>
                      <a:latin typeface="+mn-ea"/>
                    </a:rPr>
                    <a:t>추천 공동구매 </a:t>
                  </a:r>
                  <a:r>
                    <a:rPr lang="en-US" altLang="ko-KR" sz="1000" b="1" dirty="0">
                      <a:solidFill>
                        <a:schemeClr val="tx1"/>
                      </a:solidFill>
                      <a:latin typeface="+mn-ea"/>
                    </a:rPr>
                    <a:t>(3</a:t>
                  </a:r>
                  <a:r>
                    <a:rPr lang="ko-KR" altLang="en-US" sz="1000" b="1" dirty="0">
                      <a:solidFill>
                        <a:schemeClr val="tx1"/>
                      </a:solidFill>
                      <a:latin typeface="+mn-ea"/>
                    </a:rPr>
                    <a:t>개</a:t>
                  </a:r>
                  <a:r>
                    <a:rPr lang="en-US" altLang="ko-KR" sz="1000" b="1" dirty="0">
                      <a:solidFill>
                        <a:schemeClr val="tx1"/>
                      </a:solidFill>
                      <a:latin typeface="+mn-ea"/>
                    </a:rPr>
                    <a:t>)</a:t>
                  </a:r>
                  <a:endParaRPr lang="ko-KR" altLang="en-US" sz="1000" b="1" dirty="0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86" name="직사각형 185">
                  <a:extLst>
                    <a:ext uri="{FF2B5EF4-FFF2-40B4-BE49-F238E27FC236}">
                      <a16:creationId xmlns:a16="http://schemas.microsoft.com/office/drawing/2014/main" id="{B581CC71-6B33-43FF-85CC-528D9D376AD4}"/>
                    </a:ext>
                  </a:extLst>
                </p:cNvPr>
                <p:cNvSpPr/>
                <p:nvPr/>
              </p:nvSpPr>
              <p:spPr>
                <a:xfrm>
                  <a:off x="372896" y="2128944"/>
                  <a:ext cx="2929504" cy="117781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ko-KR" altLang="en-US" sz="1000" b="1" dirty="0">
                      <a:solidFill>
                        <a:schemeClr val="tx1"/>
                      </a:solidFill>
                      <a:latin typeface="+mn-ea"/>
                    </a:rPr>
                    <a:t>참여 중 공동구매 </a:t>
                  </a:r>
                  <a:r>
                    <a:rPr lang="en-US" altLang="ko-KR" sz="1000" b="1" dirty="0">
                      <a:solidFill>
                        <a:schemeClr val="tx1"/>
                      </a:solidFill>
                      <a:latin typeface="+mn-ea"/>
                    </a:rPr>
                    <a:t>(3</a:t>
                  </a:r>
                  <a:r>
                    <a:rPr lang="ko-KR" altLang="en-US" sz="1000" b="1" dirty="0">
                      <a:solidFill>
                        <a:schemeClr val="tx1"/>
                      </a:solidFill>
                      <a:latin typeface="+mn-ea"/>
                    </a:rPr>
                    <a:t>개</a:t>
                  </a:r>
                  <a:r>
                    <a:rPr lang="en-US" altLang="ko-KR" sz="1000" b="1" dirty="0">
                      <a:solidFill>
                        <a:schemeClr val="tx1"/>
                      </a:solidFill>
                      <a:latin typeface="+mn-ea"/>
                    </a:rPr>
                    <a:t>)</a:t>
                  </a:r>
                  <a:endParaRPr lang="ko-KR" altLang="en-US" sz="1000" b="1" dirty="0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87" name="직사각형 186">
                  <a:extLst>
                    <a:ext uri="{FF2B5EF4-FFF2-40B4-BE49-F238E27FC236}">
                      <a16:creationId xmlns:a16="http://schemas.microsoft.com/office/drawing/2014/main" id="{71160656-65D2-487E-A64D-542618ECCAF8}"/>
                    </a:ext>
                  </a:extLst>
                </p:cNvPr>
                <p:cNvSpPr/>
                <p:nvPr/>
              </p:nvSpPr>
              <p:spPr>
                <a:xfrm>
                  <a:off x="372896" y="4649337"/>
                  <a:ext cx="2929504" cy="117781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ko-KR" altLang="en-US" sz="1000" b="1" dirty="0">
                      <a:solidFill>
                        <a:schemeClr val="tx1"/>
                      </a:solidFill>
                      <a:latin typeface="+mn-ea"/>
                    </a:rPr>
                    <a:t>오픈 예정 공동구매 </a:t>
                  </a:r>
                  <a:r>
                    <a:rPr lang="en-US" altLang="ko-KR" sz="1000" b="1" dirty="0">
                      <a:solidFill>
                        <a:schemeClr val="tx1"/>
                      </a:solidFill>
                      <a:latin typeface="+mn-ea"/>
                    </a:rPr>
                    <a:t>(3</a:t>
                  </a:r>
                  <a:r>
                    <a:rPr lang="ko-KR" altLang="en-US" sz="1000" b="1" dirty="0">
                      <a:solidFill>
                        <a:schemeClr val="tx1"/>
                      </a:solidFill>
                      <a:latin typeface="+mn-ea"/>
                    </a:rPr>
                    <a:t>개</a:t>
                  </a:r>
                  <a:r>
                    <a:rPr lang="en-US" altLang="ko-KR" sz="1000" b="1" dirty="0">
                      <a:solidFill>
                        <a:schemeClr val="tx1"/>
                      </a:solidFill>
                      <a:latin typeface="+mn-ea"/>
                    </a:rPr>
                    <a:t>)</a:t>
                  </a:r>
                  <a:endParaRPr lang="ko-KR" altLang="en-US" sz="1000" b="1" dirty="0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  <p:sp>
              <p:nvSpPr>
                <p:cNvPr id="188" name="직사각형 187">
                  <a:extLst>
                    <a:ext uri="{FF2B5EF4-FFF2-40B4-BE49-F238E27FC236}">
                      <a16:creationId xmlns:a16="http://schemas.microsoft.com/office/drawing/2014/main" id="{EE0629AF-C0E9-45E9-AE9A-0D0DBC03CAB1}"/>
                    </a:ext>
                  </a:extLst>
                </p:cNvPr>
                <p:cNvSpPr/>
                <p:nvPr/>
              </p:nvSpPr>
              <p:spPr>
                <a:xfrm>
                  <a:off x="372896" y="7169728"/>
                  <a:ext cx="2929504" cy="58890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ko-KR" altLang="en-US" sz="1000" b="1" dirty="0">
                      <a:solidFill>
                        <a:schemeClr val="tx1"/>
                      </a:solidFill>
                      <a:latin typeface="+mn-ea"/>
                    </a:rPr>
                    <a:t>하단 메뉴</a:t>
                  </a:r>
                </a:p>
              </p:txBody>
            </p:sp>
            <p:sp>
              <p:nvSpPr>
                <p:cNvPr id="214" name="직사각형 213">
                  <a:extLst>
                    <a:ext uri="{FF2B5EF4-FFF2-40B4-BE49-F238E27FC236}">
                      <a16:creationId xmlns:a16="http://schemas.microsoft.com/office/drawing/2014/main" id="{C0FD309E-0AA7-4D54-830E-F4D32C578601}"/>
                    </a:ext>
                  </a:extLst>
                </p:cNvPr>
                <p:cNvSpPr/>
                <p:nvPr/>
              </p:nvSpPr>
              <p:spPr>
                <a:xfrm>
                  <a:off x="372896" y="5909533"/>
                  <a:ext cx="2929504" cy="117781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r>
                    <a:rPr lang="ko-KR" altLang="en-US" sz="1000" b="1" dirty="0">
                      <a:solidFill>
                        <a:schemeClr val="tx1"/>
                      </a:solidFill>
                      <a:latin typeface="+mn-ea"/>
                    </a:rPr>
                    <a:t>종료된 공동구매 </a:t>
                  </a:r>
                  <a:r>
                    <a:rPr lang="en-US" altLang="ko-KR" sz="1000" b="1" dirty="0">
                      <a:solidFill>
                        <a:schemeClr val="tx1"/>
                      </a:solidFill>
                      <a:latin typeface="+mn-ea"/>
                    </a:rPr>
                    <a:t>(3</a:t>
                  </a:r>
                  <a:r>
                    <a:rPr lang="ko-KR" altLang="en-US" sz="1000" b="1" dirty="0">
                      <a:solidFill>
                        <a:schemeClr val="tx1"/>
                      </a:solidFill>
                      <a:latin typeface="+mn-ea"/>
                    </a:rPr>
                    <a:t>개</a:t>
                  </a:r>
                  <a:r>
                    <a:rPr lang="en-US" altLang="ko-KR" sz="1000" b="1" dirty="0">
                      <a:solidFill>
                        <a:schemeClr val="tx1"/>
                      </a:solidFill>
                      <a:latin typeface="+mn-ea"/>
                    </a:rPr>
                    <a:t>)</a:t>
                  </a:r>
                  <a:endParaRPr lang="ko-KR" altLang="en-US" sz="1000" b="1" dirty="0">
                    <a:solidFill>
                      <a:schemeClr val="tx1"/>
                    </a:solidFill>
                    <a:latin typeface="+mn-ea"/>
                  </a:endParaRPr>
                </a:p>
              </p:txBody>
            </p:sp>
          </p:grp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AD472199-DF06-47D1-AFEE-8F004773DB1E}"/>
                  </a:ext>
                </a:extLst>
              </p:cNvPr>
              <p:cNvGrpSpPr/>
              <p:nvPr/>
            </p:nvGrpSpPr>
            <p:grpSpPr>
              <a:xfrm>
                <a:off x="261940" y="274406"/>
                <a:ext cx="126204" cy="180000"/>
                <a:chOff x="285750" y="225410"/>
                <a:chExt cx="237915" cy="319870"/>
              </a:xfrm>
            </p:grpSpPr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4EADFCA4-73ED-4282-B3F2-1E86E5C65406}"/>
                    </a:ext>
                  </a:extLst>
                </p:cNvPr>
                <p:cNvSpPr/>
                <p:nvPr/>
              </p:nvSpPr>
              <p:spPr>
                <a:xfrm>
                  <a:off x="285750" y="253164"/>
                  <a:ext cx="237915" cy="255896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n-ea"/>
                  </a:endParaRPr>
                </a:p>
              </p:txBody>
            </p:sp>
            <p:pic>
              <p:nvPicPr>
                <p:cNvPr id="185" name="그림 184" descr="그리기이(가) 표시된 사진&#10;&#10;자동 생성된 설명">
                  <a:extLst>
                    <a:ext uri="{FF2B5EF4-FFF2-40B4-BE49-F238E27FC236}">
                      <a16:creationId xmlns:a16="http://schemas.microsoft.com/office/drawing/2014/main" id="{96F241F6-51E1-41BD-8883-60DB165545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5750" y="225410"/>
                  <a:ext cx="226425" cy="319870"/>
                </a:xfrm>
                <a:prstGeom prst="rect">
                  <a:avLst/>
                </a:prstGeom>
              </p:spPr>
            </p:pic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906F049-D817-4035-9F85-6F235E980AE4}"/>
                  </a:ext>
                </a:extLst>
              </p:cNvPr>
              <p:cNvSpPr txBox="1"/>
              <p:nvPr/>
            </p:nvSpPr>
            <p:spPr>
              <a:xfrm>
                <a:off x="372523" y="310545"/>
                <a:ext cx="307777" cy="10772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ko-KR" altLang="en-US" sz="700" b="1" spc="-100" dirty="0">
                    <a:latin typeface="+mn-ea"/>
                  </a:rPr>
                  <a:t>비</a:t>
                </a:r>
                <a:r>
                  <a:rPr lang="ko-KR" altLang="en-US" sz="700" b="1" spc="-100" dirty="0">
                    <a:solidFill>
                      <a:srgbClr val="0070C0"/>
                    </a:solidFill>
                    <a:latin typeface="+mn-ea"/>
                  </a:rPr>
                  <a:t>투</a:t>
                </a:r>
                <a:r>
                  <a:rPr lang="ko-KR" altLang="en-US" sz="700" b="1" spc="-100" dirty="0">
                    <a:latin typeface="+mn-ea"/>
                  </a:rPr>
                  <a:t>바이</a:t>
                </a:r>
              </a:p>
            </p:txBody>
          </p:sp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CC5EDF5B-F6CC-4830-AAEE-742688B7256C}"/>
                  </a:ext>
                </a:extLst>
              </p:cNvPr>
              <p:cNvSpPr/>
              <p:nvPr/>
            </p:nvSpPr>
            <p:spPr>
              <a:xfrm>
                <a:off x="316421" y="643618"/>
                <a:ext cx="1800000" cy="720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000" b="1" dirty="0">
                    <a:solidFill>
                      <a:schemeClr val="tx1"/>
                    </a:solidFill>
                    <a:latin typeface="+mn-ea"/>
                  </a:rPr>
                  <a:t>공지 사항</a:t>
                </a:r>
              </a:p>
            </p:txBody>
          </p:sp>
          <p:sp>
            <p:nvSpPr>
              <p:cNvPr id="206" name="화살표: 갈매기형 수장 205">
                <a:extLst>
                  <a:ext uri="{FF2B5EF4-FFF2-40B4-BE49-F238E27FC236}">
                    <a16:creationId xmlns:a16="http://schemas.microsoft.com/office/drawing/2014/main" id="{D8F0E2F0-4A43-44A7-9F17-40B04BA88FD8}"/>
                  </a:ext>
                </a:extLst>
              </p:cNvPr>
              <p:cNvSpPr/>
              <p:nvPr/>
            </p:nvSpPr>
            <p:spPr>
              <a:xfrm>
                <a:off x="1998302" y="1205410"/>
                <a:ext cx="26125" cy="107770"/>
              </a:xfrm>
              <a:prstGeom prst="chevron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>
                  <a:solidFill>
                    <a:schemeClr val="tx1"/>
                  </a:solidFill>
                  <a:latin typeface="+mn-ea"/>
                </a:endParaRPr>
              </a:p>
            </p:txBody>
          </p:sp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D4D8C9A0-7ED8-4157-868E-6765F315F0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43664" y="1205410"/>
                <a:ext cx="218233" cy="107770"/>
              </a:xfrm>
              <a:prstGeom prst="rect">
                <a:avLst/>
              </a:prstGeom>
            </p:spPr>
          </p:pic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53CB8FC8-6FD4-414B-A1B1-CDC7E56A1B5E}"/>
                  </a:ext>
                </a:extLst>
              </p:cNvPr>
              <p:cNvSpPr/>
              <p:nvPr/>
            </p:nvSpPr>
            <p:spPr>
              <a:xfrm>
                <a:off x="1338263" y="292405"/>
                <a:ext cx="778158" cy="168675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+mn-ea"/>
                  </a:rPr>
                  <a:t>상단 메뉴</a:t>
                </a:r>
              </a:p>
            </p:txBody>
          </p:sp>
        </p:grpSp>
        <p:sp>
          <p:nvSpPr>
            <p:cNvPr id="284" name="사각형: 둥근 모서리 283">
              <a:extLst>
                <a:ext uri="{FF2B5EF4-FFF2-40B4-BE49-F238E27FC236}">
                  <a16:creationId xmlns:a16="http://schemas.microsoft.com/office/drawing/2014/main" id="{374326C8-8A26-4FE0-8422-6D754A781DFC}"/>
                </a:ext>
              </a:extLst>
            </p:cNvPr>
            <p:cNvSpPr/>
            <p:nvPr/>
          </p:nvSpPr>
          <p:spPr>
            <a:xfrm>
              <a:off x="685800" y="792488"/>
              <a:ext cx="504000" cy="171056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검색</a:t>
              </a:r>
            </a:p>
          </p:txBody>
        </p:sp>
        <p:sp>
          <p:nvSpPr>
            <p:cNvPr id="153" name="사각형: 둥근 모서리 152">
              <a:extLst>
                <a:ext uri="{FF2B5EF4-FFF2-40B4-BE49-F238E27FC236}">
                  <a16:creationId xmlns:a16="http://schemas.microsoft.com/office/drawing/2014/main" id="{165B6549-30AD-4D36-9D4C-1302AB3F619A}"/>
                </a:ext>
              </a:extLst>
            </p:cNvPr>
            <p:cNvSpPr/>
            <p:nvPr/>
          </p:nvSpPr>
          <p:spPr>
            <a:xfrm>
              <a:off x="226251" y="990691"/>
              <a:ext cx="504000" cy="108000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b="1" dirty="0">
                  <a:solidFill>
                    <a:schemeClr val="tx1"/>
                  </a:solidFill>
                  <a:latin typeface="+mn-ea"/>
                </a:rPr>
                <a:t>전체 메뉴</a:t>
              </a:r>
            </a:p>
          </p:txBody>
        </p:sp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BEF3BA96-9246-4925-9E09-AB775A8B641D}"/>
                </a:ext>
              </a:extLst>
            </p:cNvPr>
            <p:cNvSpPr/>
            <p:nvPr/>
          </p:nvSpPr>
          <p:spPr>
            <a:xfrm>
              <a:off x="754011" y="990691"/>
              <a:ext cx="504000" cy="108000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b="1" dirty="0">
                  <a:solidFill>
                    <a:schemeClr val="tx1"/>
                  </a:solidFill>
                  <a:latin typeface="+mn-ea"/>
                </a:rPr>
                <a:t>나의 메뉴</a:t>
              </a:r>
            </a:p>
          </p:txBody>
        </p: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0A118B38-8F56-4E19-95BB-15AFF246AFDC}"/>
              </a:ext>
            </a:extLst>
          </p:cNvPr>
          <p:cNvGrpSpPr/>
          <p:nvPr/>
        </p:nvGrpSpPr>
        <p:grpSpPr>
          <a:xfrm>
            <a:off x="7250970" y="889272"/>
            <a:ext cx="4761945" cy="5668810"/>
            <a:chOff x="2686048" y="146048"/>
            <a:chExt cx="4761945" cy="5668810"/>
          </a:xfrm>
        </p:grpSpPr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00154AD4-C7E1-4BFF-882C-38C739BB1583}"/>
                </a:ext>
              </a:extLst>
            </p:cNvPr>
            <p:cNvSpPr/>
            <p:nvPr/>
          </p:nvSpPr>
          <p:spPr>
            <a:xfrm>
              <a:off x="2686048" y="146048"/>
              <a:ext cx="4761945" cy="566881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0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BC7564BB-E3EF-4617-A870-E20F6162B7ED}"/>
                </a:ext>
              </a:extLst>
            </p:cNvPr>
            <p:cNvSpPr/>
            <p:nvPr/>
          </p:nvSpPr>
          <p:spPr>
            <a:xfrm>
              <a:off x="2686050" y="146048"/>
              <a:ext cx="778158" cy="1692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  <a:latin typeface="+mn-ea"/>
                </a:rPr>
                <a:t>나의 메뉴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82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050" b="1" smtClean="0">
            <a:ea typeface="나눔고딕" panose="020D060400000000000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2742</TotalTime>
  <Words>3968</Words>
  <Application>Microsoft Office PowerPoint</Application>
  <PresentationFormat>와이드스크린</PresentationFormat>
  <Paragraphs>1015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나눔고딕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woori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woori</dc:creator>
  <cp:lastModifiedBy>shin jinho</cp:lastModifiedBy>
  <cp:revision>159</cp:revision>
  <dcterms:created xsi:type="dcterms:W3CDTF">2020-07-31T01:23:11Z</dcterms:created>
  <dcterms:modified xsi:type="dcterms:W3CDTF">2020-09-06T04:07:48Z</dcterms:modified>
</cp:coreProperties>
</file>