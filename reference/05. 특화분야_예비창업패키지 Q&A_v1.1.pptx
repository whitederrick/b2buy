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80" r:id="rId1"/>
    <p:sldMasterId id="2147483686" r:id="rId2"/>
    <p:sldMasterId id="2147483692" r:id="rId3"/>
  </p:sldMasterIdLst>
  <p:notesMasterIdLst>
    <p:notesMasterId r:id="rId17"/>
  </p:notesMasterIdLst>
  <p:sldIdLst>
    <p:sldId id="527" r:id="rId4"/>
    <p:sldId id="578" r:id="rId5"/>
    <p:sldId id="595" r:id="rId6"/>
    <p:sldId id="600" r:id="rId7"/>
    <p:sldId id="601" r:id="rId8"/>
    <p:sldId id="573" r:id="rId9"/>
    <p:sldId id="602" r:id="rId10"/>
    <p:sldId id="603" r:id="rId11"/>
    <p:sldId id="461" r:id="rId12"/>
    <p:sldId id="599" r:id="rId13"/>
    <p:sldId id="583" r:id="rId14"/>
    <p:sldId id="604" r:id="rId15"/>
    <p:sldId id="605" r:id="rId16"/>
  </p:sldIdLst>
  <p:sldSz cx="9144000" cy="5143500" type="screen16x9"/>
  <p:notesSz cx="6858000" cy="9144000"/>
  <p:embeddedFontLst>
    <p:embeddedFont>
      <p:font typeface="맑은 고딕" panose="020B0503020000020004" pitchFamily="50" charset="-127"/>
      <p:regular r:id="rId18"/>
      <p:bold r:id="rId19"/>
    </p:embeddedFont>
    <p:embeddedFont>
      <p:font typeface="함초롬바탕" panose="02030504000101010101" pitchFamily="18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(제목)" id="{47661C5C-7031-4E38-A083-B5BD7611C056}">
          <p14:sldIdLst>
            <p14:sldId id="527"/>
            <p14:sldId id="578"/>
            <p14:sldId id="595"/>
            <p14:sldId id="600"/>
            <p14:sldId id="601"/>
            <p14:sldId id="573"/>
            <p14:sldId id="602"/>
            <p14:sldId id="603"/>
            <p14:sldId id="461"/>
            <p14:sldId id="599"/>
            <p14:sldId id="583"/>
            <p14:sldId id="604"/>
            <p14:sldId id="6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23">
          <p15:clr>
            <a:srgbClr val="A4A3A4"/>
          </p15:clr>
        </p15:guide>
        <p15:guide id="4" orient="horz" pos="486">
          <p15:clr>
            <a:srgbClr val="A4A3A4"/>
          </p15:clr>
        </p15:guide>
        <p15:guide id="5" pos="703">
          <p15:clr>
            <a:srgbClr val="A4A3A4"/>
          </p15:clr>
        </p15:guide>
        <p15:guide id="6" orient="horz" pos="1212">
          <p15:clr>
            <a:srgbClr val="A4A3A4"/>
          </p15:clr>
        </p15:guide>
        <p15:guide id="7" orient="horz" pos="2164">
          <p15:clr>
            <a:srgbClr val="A4A3A4"/>
          </p15:clr>
        </p15:guide>
        <p15:guide id="8" orient="horz" pos="2119">
          <p15:clr>
            <a:srgbClr val="A4A3A4"/>
          </p15:clr>
        </p15:guide>
        <p15:guide id="9" orient="horz" pos="1983">
          <p15:clr>
            <a:srgbClr val="A4A3A4"/>
          </p15:clr>
        </p15:guide>
        <p15:guide id="10" orient="horz" pos="1166">
          <p15:clr>
            <a:srgbClr val="A4A3A4"/>
          </p15:clr>
        </p15:guide>
        <p15:guide id="11" orient="horz" pos="985">
          <p15:clr>
            <a:srgbClr val="A4A3A4"/>
          </p15:clr>
        </p15:guide>
        <p15:guide id="12">
          <p15:clr>
            <a:srgbClr val="A4A3A4"/>
          </p15:clr>
        </p15:guide>
        <p15:guide id="13" pos="2245">
          <p15:clr>
            <a:srgbClr val="A4A3A4"/>
          </p15:clr>
        </p15:guide>
        <p15:guide id="14" pos="5759">
          <p15:clr>
            <a:srgbClr val="A4A3A4"/>
          </p15:clr>
        </p15:guide>
        <p15:guide id="15" orient="horz" pos="622">
          <p15:clr>
            <a:srgbClr val="A4A3A4"/>
          </p15:clr>
        </p15:guide>
        <p15:guide id="16" orient="horz" pos="1575">
          <p15:clr>
            <a:srgbClr val="A4A3A4"/>
          </p15:clr>
        </p15:guide>
        <p15:guide id="17" orient="horz" pos="2845">
          <p15:clr>
            <a:srgbClr val="A4A3A4"/>
          </p15:clr>
        </p15:guide>
        <p15:guide id="18" orient="horz" pos="940">
          <p15:clr>
            <a:srgbClr val="A4A3A4"/>
          </p15:clr>
        </p15:guide>
        <p15:guide id="19" pos="3198">
          <p15:clr>
            <a:srgbClr val="A4A3A4"/>
          </p15:clr>
        </p15:guide>
        <p15:guide id="20" orient="horz" pos="1393">
          <p15:clr>
            <a:srgbClr val="A4A3A4"/>
          </p15:clr>
        </p15:guide>
        <p15:guide id="21" orient="horz" pos="2754">
          <p15:clr>
            <a:srgbClr val="A4A3A4"/>
          </p15:clr>
        </p15:guide>
        <p15:guide id="22" pos="3152">
          <p15:clr>
            <a:srgbClr val="A4A3A4"/>
          </p15:clr>
        </p15:guide>
        <p15:guide id="23" pos="431">
          <p15:clr>
            <a:srgbClr val="A4A3A4"/>
          </p15:clr>
        </p15:guide>
        <p15:guide id="24" pos="249">
          <p15:clr>
            <a:srgbClr val="A4A3A4"/>
          </p15:clr>
        </p15:guide>
        <p15:guide id="25" pos="5556">
          <p15:clr>
            <a:srgbClr val="A4A3A4"/>
          </p15:clr>
        </p15:guide>
        <p15:guide id="26" pos="2971">
          <p15:clr>
            <a:srgbClr val="A4A3A4"/>
          </p15:clr>
        </p15:guide>
        <p15:guide id="27" pos="340">
          <p15:clr>
            <a:srgbClr val="A4A3A4"/>
          </p15:clr>
        </p15:guide>
        <p15:guide id="28" pos="30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안 남규" initials="안남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596"/>
    <a:srgbClr val="557A99"/>
    <a:srgbClr val="557A86"/>
    <a:srgbClr val="17375E"/>
    <a:srgbClr val="31859C"/>
    <a:srgbClr val="F2F2F2"/>
    <a:srgbClr val="FFCF01"/>
    <a:srgbClr val="FFEB97"/>
    <a:srgbClr val="FF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208" autoAdjust="0"/>
  </p:normalViewPr>
  <p:slideViewPr>
    <p:cSldViewPr>
      <p:cViewPr varScale="1">
        <p:scale>
          <a:sx n="72" d="100"/>
          <a:sy n="72" d="100"/>
        </p:scale>
        <p:origin x="816" y="48"/>
      </p:cViewPr>
      <p:guideLst>
        <p:guide orient="horz" pos="1620"/>
        <p:guide pos="2880"/>
        <p:guide orient="horz" pos="123"/>
        <p:guide orient="horz" pos="486"/>
        <p:guide pos="703"/>
        <p:guide orient="horz" pos="1212"/>
        <p:guide orient="horz" pos="2164"/>
        <p:guide orient="horz" pos="2119"/>
        <p:guide orient="horz" pos="1983"/>
        <p:guide orient="horz" pos="1166"/>
        <p:guide orient="horz" pos="985"/>
        <p:guide/>
        <p:guide pos="2245"/>
        <p:guide pos="5759"/>
        <p:guide orient="horz" pos="622"/>
        <p:guide orient="horz" pos="1575"/>
        <p:guide orient="horz" pos="2845"/>
        <p:guide orient="horz" pos="940"/>
        <p:guide pos="3198"/>
        <p:guide orient="horz" pos="1393"/>
        <p:guide orient="horz" pos="2754"/>
        <p:guide pos="3152"/>
        <p:guide pos="431"/>
        <p:guide pos="249"/>
        <p:guide pos="5556"/>
        <p:guide pos="2971"/>
        <p:guide pos="340"/>
        <p:guide pos="30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78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DBF3B-B946-4CAB-9623-ACD628857B7D}" type="datetimeFigureOut">
              <a:rPr lang="ko-KR" altLang="en-US" smtClean="0"/>
              <a:t>2020-05-15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6E9E1-645F-4789-A732-55AB85228FC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67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서두에 소개해 드렸던 </a:t>
            </a:r>
            <a:r>
              <a:rPr lang="en-US" altLang="ko-KR" dirty="0"/>
              <a:t>Bill Gross</a:t>
            </a:r>
            <a:r>
              <a:rPr lang="ko-KR" altLang="en-US" dirty="0"/>
              <a:t>가 </a:t>
            </a:r>
            <a:r>
              <a:rPr lang="en-US" altLang="ko-KR" dirty="0"/>
              <a:t>TED</a:t>
            </a:r>
            <a:r>
              <a:rPr lang="ko-KR" altLang="en-US" dirty="0"/>
              <a:t>에서 인용했던 마이크 타이슨의 말을 마지막으로 발표를 마치도록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마이크 타이슨은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이렇게 말했습니다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사람은 계획이 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그들이 얼굴 에 한방 먹기 전까지는 말이지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저는 이 말이 사업에서도 적용된다고 생각합니다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것이 계획대로 진행되는 것은 아닙니다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아무리 혁신적이고 참신한 아이디어로 타이밍 맞게 사업을 진행한다 하더라도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고객은 현실입니다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고객은 언제든지 저희 사업에 한 방을 날릴 수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 언급했듯이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저희가 준비한 아이디어가 세상에 큰 기여를 할 것이라고 생각합니다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6E9E1-645F-4789-A732-55AB85228FCE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7313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6E9E1-645F-4789-A732-55AB85228FC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690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6E9E1-645F-4789-A732-55AB85228FCE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3084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9DB3704-C352-45FC-80DF-137EF9C8ADAE}"/>
              </a:ext>
            </a:extLst>
          </p:cNvPr>
          <p:cNvSpPr/>
          <p:nvPr userDrawn="1"/>
        </p:nvSpPr>
        <p:spPr>
          <a:xfrm>
            <a:off x="0" y="627534"/>
            <a:ext cx="72000" cy="2520000"/>
          </a:xfrm>
          <a:prstGeom prst="rect">
            <a:avLst/>
          </a:prstGeom>
          <a:solidFill>
            <a:srgbClr val="C83F2D"/>
          </a:solidFill>
          <a:ln>
            <a:solidFill>
              <a:srgbClr val="C83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250951-214F-4D87-9693-A6A65A253196}"/>
              </a:ext>
            </a:extLst>
          </p:cNvPr>
          <p:cNvSpPr txBox="1"/>
          <p:nvPr userDrawn="1"/>
        </p:nvSpPr>
        <p:spPr>
          <a:xfrm>
            <a:off x="6372200" y="123478"/>
            <a:ext cx="26132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163A5C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사내벤처 사업계획서 발표자료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D27CD53E-D5DC-4BD0-A84F-DB1AC42A61A0}"/>
              </a:ext>
            </a:extLst>
          </p:cNvPr>
          <p:cNvGrpSpPr/>
          <p:nvPr userDrawn="1"/>
        </p:nvGrpSpPr>
        <p:grpSpPr>
          <a:xfrm rot="5400000">
            <a:off x="8693306" y="4755844"/>
            <a:ext cx="259921" cy="324299"/>
            <a:chOff x="8194902" y="5737879"/>
            <a:chExt cx="519283" cy="484632"/>
          </a:xfrm>
        </p:grpSpPr>
        <p:sp>
          <p:nvSpPr>
            <p:cNvPr id="6" name="화살표: 갈매기형 수장 5">
              <a:extLst>
                <a:ext uri="{FF2B5EF4-FFF2-40B4-BE49-F238E27FC236}">
                  <a16:creationId xmlns:a16="http://schemas.microsoft.com/office/drawing/2014/main" xmlns="" id="{36DEAE33-8495-49B8-81A0-A2A512F578C5}"/>
                </a:ext>
              </a:extLst>
            </p:cNvPr>
            <p:cNvSpPr/>
            <p:nvPr/>
          </p:nvSpPr>
          <p:spPr>
            <a:xfrm>
              <a:off x="8194902" y="5737879"/>
              <a:ext cx="288000" cy="484632"/>
            </a:xfrm>
            <a:prstGeom prst="chevr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7" name="화살표: 갈매기형 수장 6">
              <a:extLst>
                <a:ext uri="{FF2B5EF4-FFF2-40B4-BE49-F238E27FC236}">
                  <a16:creationId xmlns:a16="http://schemas.microsoft.com/office/drawing/2014/main" xmlns="" id="{2F030BA2-6D63-4B25-8390-1C1935B7D8E1}"/>
                </a:ext>
              </a:extLst>
            </p:cNvPr>
            <p:cNvSpPr/>
            <p:nvPr/>
          </p:nvSpPr>
          <p:spPr>
            <a:xfrm>
              <a:off x="8426185" y="5737879"/>
              <a:ext cx="288000" cy="484632"/>
            </a:xfrm>
            <a:prstGeom prst="chevr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8361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간지">
    <p:bg>
      <p:bgPr>
        <a:solidFill>
          <a:srgbClr val="16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3E48581-23CD-45C5-8141-B89338E7D84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686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83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12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9DB3704-C352-45FC-80DF-137EF9C8ADAE}"/>
              </a:ext>
            </a:extLst>
          </p:cNvPr>
          <p:cNvSpPr/>
          <p:nvPr userDrawn="1"/>
        </p:nvSpPr>
        <p:spPr>
          <a:xfrm>
            <a:off x="0" y="627534"/>
            <a:ext cx="179512" cy="2520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250951-214F-4D87-9693-A6A65A253196}"/>
              </a:ext>
            </a:extLst>
          </p:cNvPr>
          <p:cNvSpPr txBox="1"/>
          <p:nvPr userDrawn="1"/>
        </p:nvSpPr>
        <p:spPr>
          <a:xfrm>
            <a:off x="6005126" y="123478"/>
            <a:ext cx="3026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163A5C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사내벤처 사업계획서 최종 발표자료</a:t>
            </a:r>
          </a:p>
        </p:txBody>
      </p:sp>
    </p:spTree>
    <p:extLst>
      <p:ext uri="{BB962C8B-B14F-4D97-AF65-F5344CB8AC3E}">
        <p14:creationId xmlns:p14="http://schemas.microsoft.com/office/powerpoint/2010/main" val="314960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세로 제목 및 텍스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09DB3704-C352-45FC-80DF-137EF9C8ADAE}"/>
              </a:ext>
            </a:extLst>
          </p:cNvPr>
          <p:cNvSpPr/>
          <p:nvPr userDrawn="1"/>
        </p:nvSpPr>
        <p:spPr>
          <a:xfrm>
            <a:off x="0" y="0"/>
            <a:ext cx="179512" cy="5143500"/>
          </a:xfrm>
          <a:prstGeom prst="rect">
            <a:avLst/>
          </a:prstGeom>
          <a:solidFill>
            <a:srgbClr val="163A5C"/>
          </a:solidFill>
          <a:ln>
            <a:solidFill>
              <a:srgbClr val="163A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9832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간지">
    <p:bg>
      <p:bgPr>
        <a:solidFill>
          <a:srgbClr val="16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3E48581-23CD-45C5-8141-B89338E7D84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951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09DB3704-C352-45FC-80DF-137EF9C8ADAE}"/>
              </a:ext>
            </a:extLst>
          </p:cNvPr>
          <p:cNvSpPr/>
          <p:nvPr userDrawn="1"/>
        </p:nvSpPr>
        <p:spPr>
          <a:xfrm>
            <a:off x="-108520" y="-26640"/>
            <a:ext cx="9361040" cy="798165"/>
          </a:xfrm>
          <a:prstGeom prst="rect">
            <a:avLst/>
          </a:prstGeom>
          <a:solidFill>
            <a:srgbClr val="163A5C"/>
          </a:solidFill>
          <a:ln>
            <a:solidFill>
              <a:srgbClr val="163A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628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08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9DB3704-C352-45FC-80DF-137EF9C8ADAE}"/>
              </a:ext>
            </a:extLst>
          </p:cNvPr>
          <p:cNvSpPr/>
          <p:nvPr userDrawn="1"/>
        </p:nvSpPr>
        <p:spPr>
          <a:xfrm>
            <a:off x="0" y="627534"/>
            <a:ext cx="72000" cy="2520000"/>
          </a:xfrm>
          <a:prstGeom prst="rect">
            <a:avLst/>
          </a:prstGeom>
          <a:solidFill>
            <a:srgbClr val="C83F2D"/>
          </a:solidFill>
          <a:ln>
            <a:solidFill>
              <a:srgbClr val="C83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250951-214F-4D87-9693-A6A65A253196}"/>
              </a:ext>
            </a:extLst>
          </p:cNvPr>
          <p:cNvSpPr txBox="1"/>
          <p:nvPr userDrawn="1"/>
        </p:nvSpPr>
        <p:spPr>
          <a:xfrm>
            <a:off x="6372200" y="123478"/>
            <a:ext cx="26132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163A5C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사내벤처 사업계획서 발표자료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D27CD53E-D5DC-4BD0-A84F-DB1AC42A61A0}"/>
              </a:ext>
            </a:extLst>
          </p:cNvPr>
          <p:cNvGrpSpPr/>
          <p:nvPr userDrawn="1"/>
        </p:nvGrpSpPr>
        <p:grpSpPr>
          <a:xfrm rot="5400000">
            <a:off x="8693306" y="4755844"/>
            <a:ext cx="259921" cy="324299"/>
            <a:chOff x="8194902" y="5737879"/>
            <a:chExt cx="519283" cy="484632"/>
          </a:xfrm>
        </p:grpSpPr>
        <p:sp>
          <p:nvSpPr>
            <p:cNvPr id="6" name="화살표: 갈매기형 수장 5">
              <a:extLst>
                <a:ext uri="{FF2B5EF4-FFF2-40B4-BE49-F238E27FC236}">
                  <a16:creationId xmlns:a16="http://schemas.microsoft.com/office/drawing/2014/main" xmlns="" id="{36DEAE33-8495-49B8-81A0-A2A512F578C5}"/>
                </a:ext>
              </a:extLst>
            </p:cNvPr>
            <p:cNvSpPr/>
            <p:nvPr/>
          </p:nvSpPr>
          <p:spPr>
            <a:xfrm>
              <a:off x="8194902" y="5737879"/>
              <a:ext cx="288000" cy="484632"/>
            </a:xfrm>
            <a:prstGeom prst="chevr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7" name="화살표: 갈매기형 수장 6">
              <a:extLst>
                <a:ext uri="{FF2B5EF4-FFF2-40B4-BE49-F238E27FC236}">
                  <a16:creationId xmlns:a16="http://schemas.microsoft.com/office/drawing/2014/main" xmlns="" id="{2F030BA2-6D63-4B25-8390-1C1935B7D8E1}"/>
                </a:ext>
              </a:extLst>
            </p:cNvPr>
            <p:cNvSpPr/>
            <p:nvPr/>
          </p:nvSpPr>
          <p:spPr>
            <a:xfrm>
              <a:off x="8426185" y="5737879"/>
              <a:ext cx="288000" cy="484632"/>
            </a:xfrm>
            <a:prstGeom prst="chevr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239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세로 제목 및 텍스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A4852345-7544-4C28-B143-6238D387E046}"/>
              </a:ext>
            </a:extLst>
          </p:cNvPr>
          <p:cNvSpPr/>
          <p:nvPr userDrawn="1"/>
        </p:nvSpPr>
        <p:spPr>
          <a:xfrm>
            <a:off x="0" y="0"/>
            <a:ext cx="9144000" cy="684000"/>
          </a:xfrm>
          <a:prstGeom prst="rect">
            <a:avLst/>
          </a:prstGeom>
          <a:solidFill>
            <a:srgbClr val="163A5C"/>
          </a:solidFill>
          <a:ln>
            <a:solidFill>
              <a:srgbClr val="163A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01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간지">
    <p:bg>
      <p:bgPr>
        <a:solidFill>
          <a:srgbClr val="16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3E48581-23CD-45C5-8141-B89338E7D84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5894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517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01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CCFC4-0AA6-430C-9671-0529FFDFBC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835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3" r:id="rId2"/>
    <p:sldLayoutId id="2147483684" r:id="rId3"/>
    <p:sldLayoutId id="2147483685" r:id="rId4"/>
  </p:sldLayoutIdLst>
  <p:hf hdr="0" ftr="0" dt="0"/>
  <p:txStyles>
    <p:titleStyle>
      <a:lvl1pPr algn="ctr" defTabSz="685800" rtl="0" eaLnBrk="1" latinLnBrk="1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CCFC4-0AA6-430C-9671-0529FFDFBC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1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hf hdr="0" ftr="0" dt="0"/>
  <p:txStyles>
    <p:titleStyle>
      <a:lvl1pPr algn="ctr" defTabSz="685800" rtl="0" eaLnBrk="1" latinLnBrk="1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CCFC4-0AA6-430C-9671-0529FFDFBC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201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</p:sldLayoutIdLst>
  <p:hf hdr="0" ftr="0" dt="0"/>
  <p:txStyles>
    <p:titleStyle>
      <a:lvl1pPr algn="ctr" defTabSz="685800" rtl="0" eaLnBrk="1" latinLnBrk="1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131590"/>
            <a:ext cx="3878150" cy="33339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147" y="2150322"/>
            <a:ext cx="26603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002060"/>
                </a:solidFill>
                <a:latin typeface="에스코어 드림 8 Heavy" pitchFamily="34" charset="-127"/>
                <a:ea typeface="에스코어 드림 8 Heavy" pitchFamily="34" charset="-127"/>
              </a:rPr>
              <a:t>QUESTION</a:t>
            </a:r>
          </a:p>
          <a:p>
            <a:r>
              <a:rPr lang="en-US" altLang="ko-KR" sz="2800" dirty="0">
                <a:solidFill>
                  <a:srgbClr val="002060"/>
                </a:solidFill>
                <a:latin typeface="에스코어 드림 8 Heavy" pitchFamily="34" charset="-127"/>
                <a:ea typeface="에스코어 드림 8 Heavy" pitchFamily="34" charset="-127"/>
              </a:rPr>
              <a:t>AND ANSWER</a:t>
            </a:r>
            <a:endParaRPr lang="ko-KR" altLang="en-US" sz="2800" dirty="0">
              <a:solidFill>
                <a:srgbClr val="002060"/>
              </a:solidFill>
              <a:latin typeface="에스코어 드림 8 Heavy" pitchFamily="34" charset="-127"/>
              <a:ea typeface="에스코어 드림 8 Heavy" pitchFamily="34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9512" y="193858"/>
            <a:ext cx="8784977" cy="68705"/>
          </a:xfrm>
          <a:prstGeom prst="rect">
            <a:avLst/>
          </a:prstGeom>
          <a:gradFill flip="none" rotWithShape="1">
            <a:gsLst>
              <a:gs pos="25000">
                <a:srgbClr val="8B9DAE"/>
              </a:gs>
              <a:gs pos="0">
                <a:srgbClr val="163A5C"/>
              </a:gs>
              <a:gs pos="50000">
                <a:schemeClr val="bg1">
                  <a:alpha val="7000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 rot="5400000">
            <a:off x="-2154011" y="2537397"/>
            <a:ext cx="4735751" cy="68705"/>
          </a:xfrm>
          <a:prstGeom prst="rect">
            <a:avLst/>
          </a:prstGeom>
          <a:gradFill flip="none" rotWithShape="1">
            <a:gsLst>
              <a:gs pos="0">
                <a:srgbClr val="163A5C"/>
              </a:gs>
              <a:gs pos="100000">
                <a:schemeClr val="bg1">
                  <a:alpha val="7000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 rot="10800000">
            <a:off x="179511" y="4888097"/>
            <a:ext cx="8784977" cy="68705"/>
          </a:xfrm>
          <a:prstGeom prst="rect">
            <a:avLst/>
          </a:prstGeom>
          <a:gradFill flip="none" rotWithShape="1">
            <a:gsLst>
              <a:gs pos="0">
                <a:srgbClr val="163A5C"/>
              </a:gs>
              <a:gs pos="100000">
                <a:schemeClr val="bg1">
                  <a:alpha val="7000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 rot="16200000">
            <a:off x="6562259" y="2520221"/>
            <a:ext cx="4735751" cy="68705"/>
          </a:xfrm>
          <a:prstGeom prst="rect">
            <a:avLst/>
          </a:prstGeom>
          <a:gradFill flip="none" rotWithShape="1">
            <a:gsLst>
              <a:gs pos="0">
                <a:srgbClr val="163A5C"/>
              </a:gs>
              <a:gs pos="100000">
                <a:schemeClr val="bg1">
                  <a:alpha val="7000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A8E24A76-B0C9-4FC7-928E-A2B20F1AAC47}"/>
              </a:ext>
            </a:extLst>
          </p:cNvPr>
          <p:cNvGrpSpPr/>
          <p:nvPr/>
        </p:nvGrpSpPr>
        <p:grpSpPr>
          <a:xfrm>
            <a:off x="7760833" y="185201"/>
            <a:ext cx="1754694" cy="378313"/>
            <a:chOff x="374735" y="326609"/>
            <a:chExt cx="1499400" cy="3234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8AC1DC02-7AE6-4E6E-AF5C-53C36BFD31F4}"/>
                </a:ext>
              </a:extLst>
            </p:cNvPr>
            <p:cNvSpPr txBox="1"/>
            <p:nvPr/>
          </p:nvSpPr>
          <p:spPr>
            <a:xfrm>
              <a:off x="491991" y="334286"/>
              <a:ext cx="1382144" cy="31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0" dirty="0">
                  <a:solidFill>
                    <a:srgbClr val="3C3C3C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비</a:t>
              </a:r>
              <a:r>
                <a:rPr lang="ko-KR" altLang="en-US" b="0" dirty="0">
                  <a:solidFill>
                    <a:srgbClr val="0070C0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투</a:t>
              </a:r>
              <a:r>
                <a:rPr lang="ko-KR" altLang="en-US" b="0" dirty="0">
                  <a:solidFill>
                    <a:srgbClr val="3C3C3C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바이</a:t>
              </a: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735" y="326609"/>
              <a:ext cx="216712" cy="3077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787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7FFD2AD-2C93-47B5-9EE7-E08E472C5A05}"/>
              </a:ext>
            </a:extLst>
          </p:cNvPr>
          <p:cNvSpPr/>
          <p:nvPr/>
        </p:nvSpPr>
        <p:spPr>
          <a:xfrm>
            <a:off x="400115" y="51470"/>
            <a:ext cx="8708389" cy="646331"/>
          </a:xfrm>
          <a:prstGeom prst="rect">
            <a:avLst/>
          </a:prstGeom>
        </p:spPr>
        <p:txBody>
          <a:bodyPr wrap="square" lIns="72000" rIns="72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+mn-cs"/>
                <a:sym typeface="Arial" panose="020B0604020202020204" pitchFamily="34" charset="0"/>
              </a:rPr>
              <a:t>Q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+mn-cs"/>
                <a:sym typeface="Arial" panose="020B0604020202020204" pitchFamily="34" charset="0"/>
              </a:rPr>
              <a:t>uestions 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+mn-cs"/>
                <a:sym typeface="Arial" panose="020B0604020202020204" pitchFamily="34" charset="0"/>
              </a:rPr>
              <a:t>&amp;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+mn-cs"/>
                <a:sym typeface="Arial" panose="020B0604020202020204" pitchFamily="34" charset="0"/>
              </a:rPr>
              <a:t>A</a:t>
            </a: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+mn-cs"/>
                <a:sym typeface="Arial" panose="020B0604020202020204" pitchFamily="34" charset="0"/>
              </a:rPr>
              <a:t>nswers</a:t>
            </a:r>
            <a:endParaRPr kumimoji="0" lang="ko-KR" altLang="en-US" sz="2400" b="1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에스코어 드림 7 ExtraBold" panose="020B0803030302020204" pitchFamily="34" charset="-127"/>
              <a:ea typeface="에스코어 드림 7 ExtraBold" panose="020B0803030302020204" pitchFamily="34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A2FCCD5-C48D-4B47-BA95-982977D7E351}"/>
              </a:ext>
            </a:extLst>
          </p:cNvPr>
          <p:cNvSpPr txBox="1"/>
          <p:nvPr/>
        </p:nvSpPr>
        <p:spPr>
          <a:xfrm>
            <a:off x="360432" y="748400"/>
            <a:ext cx="7235904" cy="4176464"/>
          </a:xfrm>
          <a:prstGeom prst="rect">
            <a:avLst/>
          </a:prstGeom>
          <a:noFill/>
        </p:spPr>
        <p:txBody>
          <a:bodyPr wrap="none" tIns="36000" bIns="36000" rtlCol="0">
            <a:no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31859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1</a:t>
            </a:r>
            <a:r>
              <a:rPr kumimoji="0" lang="ko-KR" altLang="en-US" sz="2000" b="1" i="0" u="none" strike="noStrike" kern="1200" cap="none" spc="-100" normalizeH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목표 고객과 그들의 주요 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Needs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는 무엇입니까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 </a:t>
            </a:r>
            <a:endParaRPr kumimoji="0" lang="en-US" altLang="ko-KR" sz="2000" b="1" i="0" u="none" strike="noStrike" kern="1200" cap="none" spc="-100" normalizeH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ko-KR" sz="2000" b="1" spc="-100" dirty="0">
                <a:solidFill>
                  <a:srgbClr val="D9D9D9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lang="en-US" altLang="ko-KR" sz="2000" b="1" spc="-100" dirty="0">
                <a:solidFill>
                  <a:srgbClr val="31859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2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주요 경쟁사는 누구입니까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경쟁자 분석을 하셨습니까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 </a:t>
            </a:r>
            <a:endParaRPr lang="ko-KR" altLang="en-US" sz="2000" b="1" spc="-100" dirty="0">
              <a:solidFill>
                <a:prstClr val="white">
                  <a:lumMod val="65000"/>
                </a:prstClr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lvl="0">
              <a:spcBef>
                <a:spcPts val="300"/>
              </a:spcBef>
              <a:defRPr/>
            </a:pPr>
            <a:r>
              <a:rPr lang="en-US" altLang="ko-KR" sz="2000" b="1" spc="-100" dirty="0">
                <a:solidFill>
                  <a:srgbClr val="D9D9D9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lang="en-US" altLang="ko-KR" sz="2000" b="1" spc="-100" dirty="0">
                <a:solidFill>
                  <a:srgbClr val="31859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3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본 사업모델이 활성화 되지 않은 이유는 무엇입니까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endParaRPr kumimoji="0" lang="en-US" altLang="ko-KR" sz="2000" b="1" i="0" u="none" strike="noStrike" kern="1200" cap="none" spc="-100" normalizeH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  <a:p>
            <a:pPr lvl="0">
              <a:spcBef>
                <a:spcPts val="300"/>
              </a:spcBef>
              <a:defRPr/>
            </a:pP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31859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4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실제 글로벌 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B2B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공동구매 시 가격 절감이 가능합니까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endParaRPr kumimoji="0" lang="en-US" altLang="ko-KR" sz="2000" b="1" i="0" u="none" strike="noStrike" kern="1200" cap="none" spc="-100" normalizeH="0" noProof="0" dirty="0">
              <a:ln>
                <a:noFill/>
              </a:ln>
              <a:solidFill>
                <a:srgbClr val="31859C"/>
              </a:solidFill>
              <a:effectLst/>
              <a:uLnTx/>
              <a:uFillTx/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  <a:p>
            <a:pPr lvl="0">
              <a:spcBef>
                <a:spcPts val="300"/>
              </a:spcBef>
              <a:defRPr/>
            </a:pP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31859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5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본 사업모델의 주요 리스크는 무엇입니까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  <a:p>
            <a:pPr>
              <a:spcBef>
                <a:spcPts val="300"/>
              </a:spcBef>
              <a:defRPr/>
            </a:pP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31859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6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물류 플랫폼과의 구체적인 연계 방안은 무엇입니까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endParaRPr lang="ko-KR" altLang="en-US" sz="2000" b="1" spc="-100" dirty="0">
              <a:solidFill>
                <a:prstClr val="white">
                  <a:lumMod val="65000"/>
                </a:prstClr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  <a:p>
            <a:pPr lvl="0">
              <a:spcBef>
                <a:spcPts val="300"/>
              </a:spcBef>
              <a:defRPr/>
            </a:pP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31859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7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C83F2D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기존 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B2C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플랫폼들이 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B2B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시장으로 진입 가능합니까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endParaRPr kumimoji="0" lang="en-US" altLang="ko-KR" sz="2000" b="1" i="0" u="none" strike="noStrike" kern="1200" cap="none" spc="-100" normalizeH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  <a:p>
            <a:pPr lvl="0">
              <a:spcBef>
                <a:spcPts val="300"/>
              </a:spcBef>
              <a:defRPr/>
            </a:pP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31859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8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C83F2D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기존 공동구매와 구매대행 절차는 어떻게 됩니까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 </a:t>
            </a:r>
            <a:endParaRPr kumimoji="0" lang="ko-KR" altLang="en-US" sz="2000" b="1" i="0" u="none" strike="noStrike" kern="1200" cap="none" spc="-100" normalizeH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에스코어 드림 7 ExtraBold" panose="020B0803030302020204" pitchFamily="34" charset="-127"/>
              <a:ea typeface="에스코어 드림 7 ExtraBold" panose="020B0803030302020204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spcBef>
                <a:spcPts val="300"/>
              </a:spcBef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0</a:t>
            </a:r>
            <a:r>
              <a:rPr lang="en-US" altLang="ko-KR" sz="2000" b="1" spc="-100" dirty="0">
                <a:solidFill>
                  <a:srgbClr val="31859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9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B2BUY </a:t>
            </a:r>
            <a:r>
              <a:rPr kumimoji="0" lang="ko-KR" altLang="en-US" sz="2000" b="1" i="0" u="none" strike="noStrike" kern="1200" cap="none" spc="-100" normalizeH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플랫폼은 어떠한 프로세스로 진행됩니까</a:t>
            </a:r>
            <a:r>
              <a:rPr kumimoji="0" lang="en-US" altLang="ko-KR" sz="2000" b="1" i="0" u="none" strike="noStrike" kern="1200" cap="none" spc="-100" normalizeH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  <a:p>
            <a:pPr>
              <a:spcBef>
                <a:spcPts val="300"/>
              </a:spcBef>
              <a:defRPr/>
            </a:pPr>
            <a:r>
              <a:rPr lang="en-US" altLang="ko-KR" sz="2000" b="1" spc="-100" dirty="0">
                <a:solidFill>
                  <a:srgbClr val="31859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10</a:t>
            </a:r>
            <a:r>
              <a:rPr lang="en-US" altLang="ko-KR" sz="2000" b="1" spc="-100" dirty="0">
                <a:solidFill>
                  <a:srgbClr val="C00000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B2BUY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에는 어떠한 디지털 신기술을 적용합니까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  <a:p>
            <a:pPr>
              <a:spcBef>
                <a:spcPts val="300"/>
              </a:spcBef>
              <a:defRPr/>
            </a:pPr>
            <a:r>
              <a:rPr lang="en-US" altLang="ko-KR" sz="2000" b="1" spc="-100" dirty="0">
                <a:solidFill>
                  <a:srgbClr val="31859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11</a:t>
            </a:r>
            <a:r>
              <a:rPr lang="en-US" altLang="ko-KR" sz="2000" b="1" spc="-100" dirty="0">
                <a:solidFill>
                  <a:srgbClr val="C00000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품질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,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배송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,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국제정세 이슈는 어떻게 해결합니까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  <a:p>
            <a:pPr>
              <a:spcBef>
                <a:spcPts val="300"/>
              </a:spcBef>
              <a:defRPr/>
            </a:pPr>
            <a:r>
              <a:rPr lang="en-US" altLang="ko-KR" sz="2000" b="1" spc="-100" dirty="0">
                <a:solidFill>
                  <a:srgbClr val="31859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12</a:t>
            </a:r>
            <a:r>
              <a:rPr lang="en-US" altLang="ko-KR" sz="2000" b="1" spc="-100" dirty="0">
                <a:solidFill>
                  <a:srgbClr val="C00000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r>
              <a:rPr lang="ko-KR" altLang="en-US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자금조달과 영업 및 마케팅 방안은 무엇입니까</a:t>
            </a:r>
            <a:r>
              <a:rPr lang="en-US" altLang="ko-KR" sz="2000" b="1" spc="-100" dirty="0">
                <a:solidFill>
                  <a:srgbClr val="3C3C3C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3239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02FC0B5A-E311-4A9B-9925-B93EC37A8F28}"/>
              </a:ext>
            </a:extLst>
          </p:cNvPr>
          <p:cNvSpPr/>
          <p:nvPr/>
        </p:nvSpPr>
        <p:spPr>
          <a:xfrm>
            <a:off x="0" y="88479"/>
            <a:ext cx="9144001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/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Q1. </a:t>
            </a:r>
            <a:r>
              <a:rPr kumimoji="0" lang="ko-KR" altLang="en-US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목표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고객과 그들의 주요 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Needs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는 무엇입니까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endParaRPr kumimoji="0" lang="en-US" altLang="ko-KR" sz="28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92BE1F25-C384-41CB-8C88-57285F1EB75F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통계청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관세청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무역협회 등의 데이터를 기준으로 분석한 결과 국내에는 일반 부품 등을 해외로부터 수입하여 가공하는 중소기업은 약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9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만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천개입니다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2016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년 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704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개 중소기업 협동조합과 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1,002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개 중소기업을 대상으로 공동구매 수요 조사를 수행한 결과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원가 절감 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Needs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 가장 큰 것으로 나타났습니다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특히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공동구매를 통하 원가 절감율은 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5%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이상을 예상하며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원가 절감에 따른 추가 구매 의향도 있는 것으로 조사되었습니다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이것은 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5%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의 원가 </a:t>
            </a:r>
            <a:r>
              <a:rPr lang="ko-KR" altLang="en-US" sz="1600" b="1" spc="-50" dirty="0" err="1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절감응ㄴ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38%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의 매출 증가 효과로 인식되기 때문입니다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그러나 중소기업들의 경우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구매 수량이 많지 않고 기업들간 연계가 쉽지 않기 때문에 원자재 공급사와 전략적 관계 확보에 어려움을 겪고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있으며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이는 결국 구매력 확보 한계로 이어지고 있습니다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중소기업 협동조합의 공동구매 서비스가 존재하고 있으나 전체 기업을 대상으로 제공되고 있지 못하기 때문에 중소기업들의 원가 절감 고민은 여전히 미해결된 상황으로 볼 수 있습니다</a:t>
            </a:r>
            <a:r>
              <a:rPr lang="en-US" altLang="ko-KR" sz="1600" b="1" spc="-50" dirty="0">
                <a:solidFill>
                  <a:srgbClr val="222222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endParaRPr lang="en-US" altLang="ko-KR" sz="1600" b="1" spc="-10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872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0E371806-8D1A-44D4-B1BB-5993F1E2482C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Q2. </a:t>
            </a:r>
            <a:r>
              <a:rPr kumimoji="0" lang="ko-KR" altLang="en-US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주요 경쟁사는 누구입니까</a:t>
            </a:r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 </a:t>
            </a:r>
            <a:r>
              <a:rPr kumimoji="0" lang="ko-KR" altLang="en-US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경쟁자 분석을 하셨습니까</a:t>
            </a:r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854387DB-BA7C-4B77-B4E6-C31BFB102520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현재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대상 공동구매 플랫폼은 중소기업중앙회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en-US" altLang="ko-KR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함초롬바탕" pitchFamily="18" charset="-127"/>
                <a:sym typeface="Arial" panose="020B0604020202020204" pitchFamily="34" charset="0"/>
              </a:rPr>
              <a:t>K-biz)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플랫폼이 유일한 것으로 조사되었습니다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하지만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K-biz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협동조합 플랫폼은 </a:t>
            </a:r>
            <a:r>
              <a:rPr lang="ko-KR" altLang="en-US" sz="1600" b="1" spc="-20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중소기업중앙회가 중소기업 경쟁력 강화를</a:t>
            </a:r>
            <a:r>
              <a:rPr lang="ko-KR" altLang="en-US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위한 원부자재 조달과 구매력 지원 등을 목적으로 운영하고 있습니다</a:t>
            </a:r>
            <a:r>
              <a:rPr lang="en-US" altLang="ko-KR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플랫폼은 중소기업중앙회와 신용보증보증기금</a:t>
            </a:r>
            <a:r>
              <a:rPr lang="en-US" altLang="ko-KR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기술보증기금</a:t>
            </a:r>
            <a:r>
              <a:rPr lang="en-US" altLang="ko-KR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IBK</a:t>
            </a:r>
            <a:r>
              <a:rPr lang="ko-KR" altLang="en-US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기업은행이 협약한 보증기금 연 </a:t>
            </a:r>
            <a:r>
              <a:rPr lang="en-US" altLang="ko-KR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600</a:t>
            </a:r>
            <a:r>
              <a:rPr lang="ko-KR" altLang="en-US" sz="1600" b="1" dirty="0">
                <a:solidFill>
                  <a:prstClr val="black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억 원의 범위 내에서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중소기업 협동조합에 가입한 기업 중 특정 기업을 선정하여 서비스를 제공하는 한정적 서비스로 볼 수 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외에도 기업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MRO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서비스를 제공하는 플랫폼은 존재하지만 공동구매 방식은 부재한 상황입니다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개인적으로는 시장 내 경쟁사가 등장하는 것이 부정적으로만 보이지 않습니다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오히려 경쟁자가 등장하는 것이 시장이 의미가 있다는 신호로 볼 수 있을 것 같습니다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만약 경쟁사가 등장하더라도 경쟁사가 해외 원자재 수입 시장 연간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800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조 중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저희가 목표로 하는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8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조 시장이 아닌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792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조 시장에 진입할 가능성이 높으며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B2B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시장의 특성 상 시장을 선점하는 것이 매우 중요하기 때문에 빠른 의사결정과 추진이 가능한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스타트업이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초기 시장에서는 유리할 것으로 판단됩니다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90108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0E371806-8D1A-44D4-B1BB-5993F1E2482C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>
              <a:defRPr/>
            </a:pPr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Q3.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본 사업모델이 활성화 되지 않은 이유는 무엇입니까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endParaRPr kumimoji="0" lang="en-US" altLang="ko-KR" sz="28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854387DB-BA7C-4B77-B4E6-C31BFB102520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최근 단품 위주 또는 중국 온라인 유통기업을 활용하던 국내 대행 업체들이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전문 기업으로 거래선을 전환하는 추세입니다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중소기업의 경우 독자적인 원자재 구입 거래선을 식별하거나 확보하는데 한계가 존재하기 때문에 글로벌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이커머스를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활용하는 경우가 많아지고 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그러나 해외 업체에 물품 대금 송금 후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물품을 받는 과정에서 떼이거나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제품 불량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및 결함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배송 지연 등이 빈번하게 발생함에 따라 대규모 공동구매 형태의 서비스 제공이 활성화되지 못하였습니다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중소기업은 기업 간 연계와 협력에 한계가 존재하여 규모의 경제를 통한 비용 절감 효과를 달성하지 못하고 있으며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특히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중국 구매대행은 유통사가 아닌 제조사와 직접 거래를 해야 고품질 제품을 저렴하게 구매가 가능하지만 개별 중소기업들의 단품 위주의 거래로는 이러한 거래선 확보가 불가능한 상황입니다</a:t>
            </a:r>
            <a:r>
              <a:rPr lang="en-US" altLang="ko-KR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본 비즈니스는 신뢰 기반 규모의 경제 모형이기 때문에 경쟁의 원천을 규모로 인식하고 있으며</a:t>
            </a:r>
            <a:r>
              <a:rPr lang="en-US" altLang="ko-KR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은행 </a:t>
            </a:r>
            <a:r>
              <a:rPr lang="ko-KR" altLang="en-US" sz="1600" b="1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에스크로</a:t>
            </a:r>
            <a:r>
              <a:rPr lang="ko-KR" altLang="en-US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서비스를 통한 신뢰 확보</a:t>
            </a:r>
            <a:r>
              <a:rPr lang="en-US" altLang="ko-KR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공동구매를 통한 가격 경쟁력 확보가 중요합니다</a:t>
            </a:r>
            <a:r>
              <a:rPr lang="en-US" altLang="ko-KR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endParaRPr lang="en-US" altLang="ko-KR" sz="1600" b="1" spc="-10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92630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935F38AC-A056-40E1-B45C-AFBF159EB0F9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>
              <a:defRPr/>
            </a:pP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Q4.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실제 글로벌 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B2B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공동구매 시 가격 절감이 가능합니까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B98FCB17-6EDA-438D-A760-327E9EE085AC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본 사업의 비즈니스 모델은 </a:t>
            </a:r>
            <a:r>
              <a:rPr lang="en-US" altLang="ko-KR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MoQ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(Minimum Order Quantity),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즉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최저주문수량을 기반으로 하고 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이것은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거래의 일반적인 형태이며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일정 수량 이상으로만 주문이 가능하고 구매 수량에 따른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차등화된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가격이 책정됩니다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즉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구매 수량이 많을수록 가격이 낮아지는 형태입니다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실제로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알리바바를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통해 두 가지 제품에 대한 실제 구매를 진행하였습니다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먼저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포장테이프의 경우 기존 가격 대비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60%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저렴한 가격으로 구입이 가능하였으나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알리바바에서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제공하는 물류서비스 이용 시 구매 수량 증가에 따른 물류 비용의 증가로 약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10%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정도의 가격 인하 효과만 달성되었습니다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그러나 무선 이어폰은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개 구매 가격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9,300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원에 비해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1,000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개 구매 시 개발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2,200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원에 구매가 가능했으며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CJ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대한통운의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LCL(Less than Container Load,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꽉 채우지 못한 컨테이너 활용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물류망을 공동 이용한 결과 한국 도착도 기준 개당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34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원의 물류비만 지불되었습니다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즉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en-US" altLang="ko-KR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MoQ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비즈니스에서 공동구매 효과는 존재하며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물류 비용도 </a:t>
            </a:r>
            <a:r>
              <a:rPr lang="en-US" altLang="ko-KR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MoQ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비즈니스와 동일하게 규모의 경제 실현이 중요한 요소로 확인되었습니다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endParaRPr lang="ko-KR" altLang="en-US" sz="1600" b="1" spc="-10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5696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935F38AC-A056-40E1-B45C-AFBF159EB0F9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>
              <a:defRPr/>
            </a:pP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Q5.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본 사업모델의 주요 리스크는 무엇입니까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B98FCB17-6EDA-438D-A760-327E9EE085AC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온라인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이커머스를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통한 제품의 구매이기 때문에 제품의 불량 및 결함 등을 사전에 식별하는 노력이 필요합니다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그러나 사업의 초기 단계에 이를 혼자 수행하는 것은 불가능하기 때문에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CJ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대한통운과 전략적 협업을 통해 사업 초기에는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CJ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대한통운이 현지에서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50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박스 단위의 샘플 검수와 전수 중량 검수를 진행하고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향후에는 중국에 별도 파트너를 통한 검수와 소싱 기업 안정성의 지속적인 체크를 수행할 계획입니다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또한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알리바바의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경우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플랫폼 내 거래 제품에 대한 불량 및 결함 발생 시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100%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환불 및 교환이 가능한 구조입니다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플랫폼이 활성화되기 위해서는 무엇보다 소싱 성공률과 공동구매 참여자의 지속적인 유도가 필요합니다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그렇지 않을 경우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영업 및 마케팅 비용이 과도하게 소요될 가능성이 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이러한 이슈를 해결하기 위해 대한상공회의소의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9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만 회원사와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구미산업공단 등 업무 협약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(MOU)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을 통한 시장 先진입과 고객 확보가 매우 중요합니다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또한 높은 수준의 공동구매 성공율을 확보하기 위해서 빅데이터 분석 기반의 적기 소싱과 최적 가격 협상 노력이 필요합니다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endParaRPr lang="ko-KR" altLang="en-US" sz="1600" b="1" spc="-10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432389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935F38AC-A056-40E1-B45C-AFBF159EB0F9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>
              <a:defRPr/>
            </a:pP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Q6.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물류 플랫폼과의 구체적인 연계 방안은 무엇입니까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B98FCB17-6EDA-438D-A760-327E9EE085AC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플랫폼의 시장 안착과 선점을 위해서 중국 비즈니스 영위 중인 물류업체와의 협업이 반드시 필요한 상황입니다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물류 직접 운영 보다 기존 물류 공동 활용 시 물류 비용이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20~30%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이상 절감이 가능하며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동일 날짜에 딜이 종료되는 제품을 하나의 컨테이너에 담아 수입하거나 다른 상품과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혼적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등 물류비용 최소화 노력을 함께 추진할 수 있는 전략적 파트너 확보가 중요합니다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이러한 관점에서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CJ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대한통운 신사업팀과 비즈니스 모델에 대한 검토를 완료하였으며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사업 추진 시 업무 협약을 추진할 계획입니다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안정적인 중국 원자재 공급 업체와의 구매 협상을 위해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CJ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대한통운의 중국 네트워크를 활용한 협업도 함께 진행할 예정입니다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기본적으로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알리바바는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공급 신뢰성 문제 발생 시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100%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환불을 하고 있으나 추가적으로 현지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CJ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대한통운 파트너가 검수를 진행하여 신뢰성을 높이고자 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또한 구매 제품에 대한 노하우 확보 전까지 해당 제품의 전문가에게 샘플을 전달하여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전문적인 검수를 추가로 진행할 계획입니다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endParaRPr lang="ko-KR" altLang="en-US" sz="1600" b="1" spc="-10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290813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F91476E4-6A7D-417F-A131-1F1EB31899D4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kumimoji="0" lang="en-US" altLang="ko-KR" sz="1600" b="1" i="0" u="none" strike="noStrike" kern="1200" cap="none" spc="-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B2C</a:t>
            </a:r>
            <a:r>
              <a:rPr kumimoji="0" lang="ko-KR" altLang="en-US" sz="1600" b="1" i="0" u="none" strike="noStrike" kern="1200" cap="none" spc="-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개인 </a:t>
            </a:r>
            <a:r>
              <a:rPr lang="ko-KR" altLang="en-US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소비자에게 물건을 팔고</a:t>
            </a:r>
            <a:r>
              <a:rPr lang="en-US" altLang="ko-KR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B2B</a:t>
            </a:r>
            <a:r>
              <a:rPr lang="ko-KR" altLang="en-US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기업에게 물건을 파는 사업입니다</a:t>
            </a:r>
            <a:r>
              <a:rPr lang="en-US" altLang="ko-KR" sz="1600" b="1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</a:p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kumimoji="0" lang="ko-KR" altLang="en-US" sz="1600" b="1" i="0" u="none" strike="noStrike" kern="1200" cap="none" spc="-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목표로 하는 고객이 다르기 때문에 거래 형태와 영업 및 마케팅 방식이 다를 수 밖에 없습니다</a:t>
            </a:r>
            <a:r>
              <a:rPr kumimoji="0" lang="en-US" altLang="ko-KR" sz="1600" b="1" i="0" u="none" strike="noStrike" kern="1200" cap="none" spc="-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B2C</a:t>
            </a:r>
            <a:r>
              <a:rPr kumimoji="0" lang="ko-KR" altLang="en-US" sz="1600" b="1" i="0" u="none" strike="noStrike" kern="1200" cap="none" spc="-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최종 소비자를 세분화하고 타겟을 지정하여 많이 보는 곳에 많이 노출하는 노력이 필요하지만 </a:t>
            </a:r>
            <a:r>
              <a:rPr kumimoji="0" lang="en-US" altLang="ko-KR" sz="1600" b="1" i="0" u="none" strike="noStrike" kern="1200" cap="none" spc="-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</a:t>
            </a:r>
            <a:r>
              <a:rPr kumimoji="0" lang="ko-KR" altLang="en-US" sz="1600" b="1" i="0" u="none" strike="noStrike" kern="1200" cap="none" spc="-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목표로 하는 기업이 상품과 주문 문의를 할 수 있도록 영업 및 판매 채널을 기획하는 것이 중요합니다</a:t>
            </a:r>
            <a:r>
              <a:rPr kumimoji="0" lang="en-US" altLang="ko-KR" sz="1600" b="1" i="0" u="none" strike="noStrike" kern="1200" cap="none" spc="-1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물론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B2C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의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시장 진입은 가능하지만 별도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플랫폼 구축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목표 고객 타겟팅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별도 영업 및 마케팅 수행 등 고민해야 할 영역이 많습니다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그렇기 때문에 무엇보다 시장을 선점하는 것이 중요합니다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참고로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인터파크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홀딩스는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B2C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의 인터파크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MRO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플랫폼인 아이마켓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의료전문 구매대행 서비스인 가디언 플랫폼을 별도로 운영하고 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이는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B2C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와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영역이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분리되어 있다는 예로 볼 수 있을 것 같습니다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8C0B94ED-6300-4639-B7C4-81FA4FCFF8F9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>
              <a:defRPr/>
            </a:pP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Q7.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기존 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B2C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플랫폼들이 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B2B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시장으로 진입 가능합니까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789015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xmlns="" id="{4A092771-AE91-4405-8392-D46271065FB0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가장 보편적인 공동구매 방식은 플랫폼에서 사전에 공동구매 수요를 파악하고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이를 기반으로 생성된 공동구매에 구매자들이 참여할 수 있도록 홍보 및 마케팅을 수행합니다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신청자들은 플랫폼에서 공동 구매를 신청하고 대금을 플랫폼에 결제하면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플랫폼은 공동구매 목표가 달성된 시점에 일괄 주문을 하게 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이후의 절차는 일반적인 온라인 커머스를 통한 제품 배송 등과 동일하게 진행됩니다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만약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공동구매 목표를 달성하지 못하면 공동구매 신청자들에게 구매 대금을 환불하고 종료됩니다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</a:p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endParaRPr lang="en-US" altLang="ko-KR" sz="1600" b="1" spc="-10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구매대행은 글로벌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이커머스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플랫폼에서 판매하는 제품에 대한 현지 구매를 요청하고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현지 구매가 가능한 경우 구매대행 비용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통관 및 배송 비용 등이 포함된 견적서를 구매대행 요청자에게 전달합니다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구매 의뢰자가 구매를 요청하고 대금을 결제하면 현지에서 구매를 한 후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글로벌 배송 업체를 통해 제품을 구매 의뢰자에게 전달합니다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xmlns="" id="{C4494498-4D37-4A3B-B45E-044A5E919135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>
              <a:defRPr/>
            </a:pP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Q8.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기존 공동구매와 구매대행 절차는 어떻게 됩니까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 </a:t>
            </a:r>
            <a:endParaRPr lang="en-US" altLang="ko-KR" sz="2800" b="1" spc="-100" dirty="0">
              <a:solidFill>
                <a:prstClr val="whit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48228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5E8E5AE3-2DF9-4C64-BEF3-006264E85018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Q9. B2BUY </a:t>
            </a:r>
            <a:r>
              <a:rPr kumimoji="0" lang="ko-KR" altLang="en-US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플랫폼은 어떠한 프로세스로 진행됩니까</a:t>
            </a:r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C1B10E9E-04BA-4271-95B8-8B89AA4FC925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B2BUY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의 공동구매는 중소기업들의 직접 신청 또는 빅데이터 분석을 기반으로 생성된 공동구매로 시작됩니다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B2BUY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신청된 공동구매 제품과 수량을 기반으로 해외 공급처인 글로벌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이커머스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플랫폼의 판매자와 구매가격을 협상합니다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때 구매 수량 구간에 따른 수수료를 포함한 구매 가격을 확정합니다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판매자와의 협상이 완료되면 글로벌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이커머스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플랫폼의 판매자는 협상된 내용을 포함한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B2BUY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만을 위한 상품정보 페이지를 생성합니다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그러면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B2BUY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해당 정보를 연계하여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B2BUY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내에 공동구매 딜을 생성하고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참여 수량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시기에 따른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차등화된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수수료 정책을 적용합니다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국내 중소기업들이 공동구매에 참여하고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구매 대금과 수수료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물류비를 포함한 전체 금액을 은행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에스크로에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예치하고 배송 방식을 선택합니다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공동구매 목표가 달성되면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B2BUY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해당 제품을 판매자에게 발주하고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검수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통관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물류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등은 연계된 물류플랫폼을 통해 진행됩니다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물론 물류플랫폼 내 진행 상황은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B2BUY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통해 확인이 가능합니다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최종적으로 구매자가 제품을 수취하고 구매를 확정하게 되면 물품 대금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플랫폼 수수료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물류 비용 등이 정산되고 공동구매가 종료됩니다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495072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5E8E5AE3-2DF9-4C64-BEF3-006264E85018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>
              <a:defRPr/>
            </a:pPr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Q10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. B2BUY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에는 어떠한 디지털 신기술을 적용합니까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endParaRPr kumimoji="0" lang="en-US" altLang="ko-KR" sz="28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C1B10E9E-04BA-4271-95B8-8B89AA4FC925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B2BUY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에서는 기본적으로 빅데이터 기반의 인공지능 분석 기술을 적용할 계획입니다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이를 통해 고객 별 필요 원자재 제시 및 추천이 가능한 개인화 서비스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고객 관점의 원자재 시장 예측 서비스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플랫폼을 통해 거래된 원자재 및 공급처에 대한 분석 정보를 제공합니다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향후 지속적인 데이터 확보와 빅데이터 고도화를 통해 공동구매 가격 협상을 위한 수량 별 최적 가격 협상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안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도출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그리고 고객 대상 기존 원자재를 대체할 수 있는 대체 원자재의 역 제안 등을 수행할 계획입니다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 외에도 기본적인 서비스가 안정화되면 플랫폼 거래 신뢰성 및 안정성 확보를 위해 다양한 디지털 신기술을 추가 도입할 예정입니다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블록체인 기반의 거래 내역 관리 및 거래 증빙 관리 서비스를 포함하여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RPA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도입을 통한 공동구매 생성 및 진행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메일 및 알림 발송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공급처 가격 협상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案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등 반복적인 업무에 대한 자동화를 추진하고자 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046011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5E8E5AE3-2DF9-4C64-BEF3-006264E85018}"/>
              </a:ext>
            </a:extLst>
          </p:cNvPr>
          <p:cNvSpPr/>
          <p:nvPr/>
        </p:nvSpPr>
        <p:spPr>
          <a:xfrm>
            <a:off x="1" y="88479"/>
            <a:ext cx="9144000" cy="503590"/>
          </a:xfrm>
          <a:prstGeom prst="rect">
            <a:avLst/>
          </a:prstGeom>
        </p:spPr>
        <p:txBody>
          <a:bodyPr wrap="square" lIns="180000" tIns="36000" rIns="72000" bIns="36000">
            <a:spAutoFit/>
          </a:bodyPr>
          <a:lstStyle/>
          <a:p>
            <a:pPr lvl="0">
              <a:defRPr/>
            </a:pPr>
            <a:r>
              <a:rPr kumimoji="0" lang="en-US" altLang="ko-KR" sz="28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Q12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. </a:t>
            </a:r>
            <a:r>
              <a:rPr lang="ko-KR" altLang="en-US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자금조달과 영업 및 마케팅 방안은 무엇입니까</a:t>
            </a:r>
            <a:r>
              <a:rPr lang="en-US" altLang="ko-KR" sz="2800" b="1" spc="-100" dirty="0">
                <a:solidFill>
                  <a:prstClr val="whit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함초롬바탕" pitchFamily="18" charset="-127"/>
                <a:sym typeface="Arial" panose="020B0604020202020204" pitchFamily="34" charset="0"/>
              </a:rPr>
              <a:t>?</a:t>
            </a:r>
            <a:endParaRPr kumimoji="0" lang="en-US" altLang="ko-KR" sz="28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함초롬바탕" pitchFamily="18" charset="-127"/>
              <a:sym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C1B10E9E-04BA-4271-95B8-8B89AA4FC925}"/>
              </a:ext>
            </a:extLst>
          </p:cNvPr>
          <p:cNvSpPr/>
          <p:nvPr/>
        </p:nvSpPr>
        <p:spPr>
          <a:xfrm>
            <a:off x="0" y="771550"/>
            <a:ext cx="9144000" cy="41044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현재 가장 자금조달이 가장 필요한 부분은 플랫폼 개발과 연계를 위한 개발자 확보입니다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기본적인 플랫폼 설계는 완료되었지만 실제 개발을 위한 정교화 작업과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짧은 시간 내 개발을 완료하기 위한 숙련된 개발자 확보가 필요합니다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또한 빅데이터 기반 인공지능 분석 등의 디지털 신기술 적용을 위한 고급 인력의 지원이 중요합니다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이러한 관점에서 개발자 고용을 위한 자금 확보가 무엇보다 중요한 상황입니다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이를 위해 예비창업자 패키지의 선정과 함께 종료 시점에 추가적인 투자 유치를 위한 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IR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활동의 지속적인 수행이 필요할 것으로 판단됩니다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lvl="0" eaLnBrk="0" fontAlgn="base" latinLnBrk="0" hangingPunct="0">
              <a:lnSpc>
                <a:spcPct val="150000"/>
              </a:lnSpc>
              <a:spcAft>
                <a:spcPct val="0"/>
              </a:spcAft>
              <a:defRPr/>
            </a:pP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국내 주요 산업단지를 대상으로 전략적인 영업 및 마케팅을 진행할 예정입니다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현재 구미시장 직속 정책자문비서실과 구미공단을 대상으로 서비스를 구현하기 위한 업무 협약을 논의하고 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이와 함께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대한상공회의소 회원복지팀과 회원사 대상 서비스 제공을 위한 업무 협약도 추진 중에 있습니다</a:t>
            </a:r>
            <a:r>
              <a:rPr lang="en-US" altLang="ko-KR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추가적으로 하나은행 </a:t>
            </a:r>
            <a:r>
              <a:rPr lang="ko-KR" altLang="en-US" sz="1600" b="1" spc="-10" dirty="0" err="1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에스크로</a:t>
            </a:r>
            <a:r>
              <a:rPr lang="ko-KR" altLang="en-US" sz="1600" b="1" spc="-10" dirty="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서비스 연계에 따른 은행의 기업 대출 채널과 영업 접점도 함께 활용할 계획입니다</a:t>
            </a:r>
            <a:r>
              <a:rPr lang="en-US" altLang="ko-KR" sz="1600" b="1" spc="-10">
                <a:solidFill>
                  <a:schemeClr val="tx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  <a:endParaRPr lang="en-US" altLang="ko-KR" sz="1600" b="1" spc="-10" dirty="0">
              <a:solidFill>
                <a:schemeClr val="tx1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03534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8046</TotalTime>
  <Words>1675</Words>
  <Application>Microsoft Office PowerPoint</Application>
  <PresentationFormat>화면 슬라이드 쇼(16:9)</PresentationFormat>
  <Paragraphs>74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에스코어 드림 5 Medium</vt:lpstr>
      <vt:lpstr>에스코어 드림 7 ExtraBold</vt:lpstr>
      <vt:lpstr>Arial</vt:lpstr>
      <vt:lpstr>에스코어 드림 8 Heavy</vt:lpstr>
      <vt:lpstr>맑은 고딕</vt:lpstr>
      <vt:lpstr>함초롬바탕</vt:lpstr>
      <vt:lpstr>1_Office 테마</vt:lpstr>
      <vt:lpstr>2_Office 테마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Agenda</dc:title>
  <dc:creator>안 남규</dc:creator>
  <cp:lastModifiedBy>안 남규</cp:lastModifiedBy>
  <cp:revision>843</cp:revision>
  <dcterms:created xsi:type="dcterms:W3CDTF">2020-02-25T15:38:44Z</dcterms:created>
  <dcterms:modified xsi:type="dcterms:W3CDTF">2020-05-14T23:23:10Z</dcterms:modified>
</cp:coreProperties>
</file>