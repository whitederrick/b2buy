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6" r:id="rId3"/>
    <p:sldId id="265" r:id="rId4"/>
    <p:sldId id="266" r:id="rId5"/>
    <p:sldId id="267" r:id="rId6"/>
    <p:sldId id="268" r:id="rId7"/>
    <p:sldId id="269" r:id="rId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946" y="2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2020-05-17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2020-05-17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2020-05-17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2020-05-17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2020-05-17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2020-05-17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2020-05-17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2020-05-17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2020-05-17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2020-05-17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2020-05-17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2020-05-17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81470DE8-9A27-451D-84D9-C7FCEE456F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757817"/>
              </p:ext>
            </p:extLst>
          </p:nvPr>
        </p:nvGraphicFramePr>
        <p:xfrm>
          <a:off x="0" y="0"/>
          <a:ext cx="91440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1600">
                  <a:extLst>
                    <a:ext uri="{9D8B030D-6E8A-4147-A177-3AD203B41FA5}">
                      <a16:colId xmlns:a16="http://schemas.microsoft.com/office/drawing/2014/main" val="4208254417"/>
                    </a:ext>
                  </a:extLst>
                </a:gridCol>
                <a:gridCol w="8172400">
                  <a:extLst>
                    <a:ext uri="{9D8B030D-6E8A-4147-A177-3AD203B41FA5}">
                      <a16:colId xmlns:a16="http://schemas.microsoft.com/office/drawing/2014/main" val="4030985836"/>
                    </a:ext>
                  </a:extLst>
                </a:gridCol>
              </a:tblGrid>
              <a:tr h="21482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표지</a:t>
                      </a:r>
                      <a:endParaRPr lang="en-US" altLang="ko-KR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endParaRPr lang="en-US" altLang="ko-KR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(15-20)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안녕하십니까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</a:rPr>
                        <a:t>?</a:t>
                      </a:r>
                      <a:endParaRPr lang="ko-KR" altLang="en-US" sz="2200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저는 공동구매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구매대행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은행 </a:t>
                      </a:r>
                      <a:r>
                        <a:rPr lang="ko-KR" altLang="en-US" sz="2200" b="1" kern="0" spc="0" dirty="0" err="1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에스크로를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 결합한</a:t>
                      </a:r>
                      <a:endParaRPr lang="ko-KR" altLang="en-US" sz="2200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중소기업 대상 원자재 구매 중개 플랫폼을 제시합니다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</a:rPr>
                        <a:t>.</a:t>
                      </a:r>
                      <a:endParaRPr lang="ko-KR" altLang="en-US" sz="2200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플랫폼 명칭은 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</a:rPr>
                        <a:t>B2BUY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입니다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</a:rPr>
                        <a:t>.</a:t>
                      </a:r>
                      <a:endParaRPr lang="ko-KR" altLang="en-US" sz="2200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1246504"/>
                  </a:ext>
                </a:extLst>
              </a:tr>
              <a:tr h="47097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패이지</a:t>
                      </a:r>
                      <a:endParaRPr lang="en-US" altLang="ko-KR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endParaRPr lang="en-US" altLang="ko-KR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(30-35)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해외 원자재를 수입하여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반제품 또는 완제품을 만드는</a:t>
                      </a:r>
                      <a:endParaRPr lang="ko-KR" altLang="en-US" sz="2200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중소기업들은 원자재 수입과 관련한 고민들이 있습니다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</a:rPr>
                        <a:t>.</a:t>
                      </a:r>
                      <a:endParaRPr lang="ko-KR" altLang="en-US" sz="2200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ea typeface="맑은 고딕" panose="020B0503020000020004" pitchFamily="50" charset="-127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구매 수량이 많지 않아</a:t>
                      </a:r>
                      <a:r>
                        <a:rPr lang="ko-KR" altLang="en-US" sz="2200" b="0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 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비싼 가격에 조달할 수밖에 없으므로</a:t>
                      </a:r>
                      <a:endParaRPr lang="ko-KR" altLang="en-US" sz="2200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비용 절감 노력의 한계를 크게 느끼고 있습니다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</a:rPr>
                        <a:t>.</a:t>
                      </a:r>
                      <a:endParaRPr lang="ko-KR" altLang="en-US" sz="2200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ea typeface="맑은 고딕" panose="020B0503020000020004" pitchFamily="50" charset="-127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또한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해외 원자재 구매대행이나 공동구매는</a:t>
                      </a:r>
                      <a:r>
                        <a:rPr lang="ko-KR" altLang="en-US" sz="2200" b="0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 </a:t>
                      </a:r>
                      <a:endParaRPr lang="en-US" altLang="ko-KR" sz="2200" b="0" kern="0" spc="0" dirty="0">
                        <a:solidFill>
                          <a:schemeClr val="bg1"/>
                        </a:solidFill>
                        <a:effectLst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사기 거래와 채무 위험 등 </a:t>
                      </a:r>
                      <a:endParaRPr lang="ko-KR" altLang="en-US" sz="2200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불안정한 시장으로 인식되어 활성화되지 못하고 있습니다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</a:rPr>
                        <a:t>.</a:t>
                      </a:r>
                      <a:endParaRPr lang="ko-KR" altLang="en-US" sz="2200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ea typeface="맑은 고딕" panose="020B0503020000020004" pitchFamily="50" charset="-127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그리고 검수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통관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등</a:t>
                      </a:r>
                      <a:r>
                        <a:rPr lang="ko-KR" altLang="en-US" sz="2200" b="0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 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전 과정의 직접 처리 부담과</a:t>
                      </a:r>
                      <a:endParaRPr lang="ko-KR" altLang="en-US" sz="2200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원자재 품질 관리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 우수 공급처 확보에 어려움을 겪고 있습니다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</a:rPr>
                        <a:t>.</a:t>
                      </a:r>
                      <a:endParaRPr lang="ko-KR" altLang="en-US" sz="2200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52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8230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4">
            <a:extLst>
              <a:ext uri="{FF2B5EF4-FFF2-40B4-BE49-F238E27FC236}">
                <a16:creationId xmlns:a16="http://schemas.microsoft.com/office/drawing/2014/main" id="{BBA38B13-7CA7-4BFD-9CD9-23845CDDD5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676647"/>
              </p:ext>
            </p:extLst>
          </p:nvPr>
        </p:nvGraphicFramePr>
        <p:xfrm>
          <a:off x="0" y="0"/>
          <a:ext cx="91440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1600">
                  <a:extLst>
                    <a:ext uri="{9D8B030D-6E8A-4147-A177-3AD203B41FA5}">
                      <a16:colId xmlns:a16="http://schemas.microsoft.com/office/drawing/2014/main" val="4208254417"/>
                    </a:ext>
                  </a:extLst>
                </a:gridCol>
                <a:gridCol w="8172400">
                  <a:extLst>
                    <a:ext uri="{9D8B030D-6E8A-4147-A177-3AD203B41FA5}">
                      <a16:colId xmlns:a16="http://schemas.microsoft.com/office/drawing/2014/main" val="4030985836"/>
                    </a:ext>
                  </a:extLst>
                </a:gridCol>
              </a:tblGrid>
              <a:tr h="46721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  <a:r>
                        <a:rPr lang="ko-KR" altLang="en-US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페이지</a:t>
                      </a:r>
                      <a:endParaRPr lang="en-US" altLang="ko-KR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(20-25)</a:t>
                      </a:r>
                      <a:endParaRPr lang="ko-KR" altLang="en-US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2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페이지 사업 기회입니다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.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원가는 이익과 직결되기 때문에 </a:t>
                      </a: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절감 방안을 항상 고민합니다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.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그리고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 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신뢰성과 안정성이 확보된 구매 채널이 요구됩니다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.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또한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, 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복잡한 구매와 행정 절차의 직접 수행 부담으로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대행 서비스가 필요합니다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.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마지막으로 지속적인 고품질 원자재와 </a:t>
                      </a: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우수 공급처 확보가 요구됩니다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.</a:t>
                      </a:r>
                      <a:endParaRPr lang="ko-KR" altLang="en-US" sz="2200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1246504"/>
                  </a:ext>
                </a:extLst>
              </a:tr>
              <a:tr h="21858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</a:t>
                      </a:r>
                      <a:r>
                        <a:rPr lang="ko-KR" altLang="en-US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페이지</a:t>
                      </a:r>
                      <a:endParaRPr lang="en-US" altLang="ko-KR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(10-15)</a:t>
                      </a:r>
                      <a:endParaRPr lang="ko-KR" altLang="en-US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3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페이지 중소기업들의 고민 해결을 위한 플랫폼 개념입니다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.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중소기업들이 필요한 고품질의 원자재를</a:t>
                      </a: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안전하고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, 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저렴하게 공급하기 위한</a:t>
                      </a: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신뢰성과 안정성이 확보된 대행 서비스를 제공합니다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.</a:t>
                      </a:r>
                      <a:endParaRPr lang="ko-KR" altLang="en-US" sz="2200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52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6841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4">
            <a:extLst>
              <a:ext uri="{FF2B5EF4-FFF2-40B4-BE49-F238E27FC236}">
                <a16:creationId xmlns:a16="http://schemas.microsoft.com/office/drawing/2014/main" id="{BBA38B13-7CA7-4BFD-9CD9-23845CDDD5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723474"/>
              </p:ext>
            </p:extLst>
          </p:nvPr>
        </p:nvGraphicFramePr>
        <p:xfrm>
          <a:off x="0" y="0"/>
          <a:ext cx="9142925" cy="685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525">
                  <a:extLst>
                    <a:ext uri="{9D8B030D-6E8A-4147-A177-3AD203B41FA5}">
                      <a16:colId xmlns:a16="http://schemas.microsoft.com/office/drawing/2014/main" val="4208254417"/>
                    </a:ext>
                  </a:extLst>
                </a:gridCol>
                <a:gridCol w="8172400">
                  <a:extLst>
                    <a:ext uri="{9D8B030D-6E8A-4147-A177-3AD203B41FA5}">
                      <a16:colId xmlns:a16="http://schemas.microsoft.com/office/drawing/2014/main" val="4030985836"/>
                    </a:ext>
                  </a:extLst>
                </a:gridCol>
              </a:tblGrid>
              <a:tr h="685799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4</a:t>
                      </a:r>
                      <a:r>
                        <a:rPr lang="ko-KR" altLang="en-US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페이지</a:t>
                      </a:r>
                      <a:endParaRPr lang="en-US" altLang="ko-KR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lang="en-US" altLang="ko-KR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(40-45)</a:t>
                      </a:r>
                      <a:endParaRPr lang="ko-KR" altLang="en-US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4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페이지 서비스 흐름입니다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.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중소기업들이 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B2BUY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에 구매를 신청하면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, 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글로벌 </a:t>
                      </a:r>
                      <a:r>
                        <a:rPr lang="ko-KR" altLang="en-US" sz="2200" b="1" kern="0" spc="0" dirty="0" err="1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이커머스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 판매자와 가격을 협상합니다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.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판매자가 협상된 가격이 포함된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B2BUY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만을 위한 제품 판매 페이지를 제공하면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, 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이를 기반으로 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B2BUY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는 공동구매를 생성합니다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.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중소기업들은 공동구매를 참여하고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,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구매 금액을 </a:t>
                      </a:r>
                      <a:r>
                        <a:rPr lang="ko-KR" altLang="en-US" sz="2200" b="1" kern="0" spc="0" dirty="0" err="1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에스크로에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 예치합니다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.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공동구매 목표가 달성되면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, 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B2BUY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는 판매자에게 제품을 발주하고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, 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제품의 검수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, 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통관등은 연계된 물류 플랫폼에서 처리합니다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.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고객이 제품 수취를 확정하면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, 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구매금액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, 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수수료가 정산되며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 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공동구매가 종료됩니다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.</a:t>
                      </a:r>
                      <a:endParaRPr lang="ko-KR" altLang="en-US" sz="2200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12465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214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4">
            <a:extLst>
              <a:ext uri="{FF2B5EF4-FFF2-40B4-BE49-F238E27FC236}">
                <a16:creationId xmlns:a16="http://schemas.microsoft.com/office/drawing/2014/main" id="{BBA38B13-7CA7-4BFD-9CD9-23845CDDD5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865044"/>
              </p:ext>
            </p:extLst>
          </p:nvPr>
        </p:nvGraphicFramePr>
        <p:xfrm>
          <a:off x="0" y="0"/>
          <a:ext cx="9142925" cy="685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525">
                  <a:extLst>
                    <a:ext uri="{9D8B030D-6E8A-4147-A177-3AD203B41FA5}">
                      <a16:colId xmlns:a16="http://schemas.microsoft.com/office/drawing/2014/main" val="4208254417"/>
                    </a:ext>
                  </a:extLst>
                </a:gridCol>
                <a:gridCol w="8172400">
                  <a:extLst>
                    <a:ext uri="{9D8B030D-6E8A-4147-A177-3AD203B41FA5}">
                      <a16:colId xmlns:a16="http://schemas.microsoft.com/office/drawing/2014/main" val="4030985836"/>
                    </a:ext>
                  </a:extLst>
                </a:gridCol>
              </a:tblGrid>
              <a:tr h="685799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5</a:t>
                      </a:r>
                      <a:r>
                        <a:rPr lang="ko-KR" altLang="en-US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페이지</a:t>
                      </a:r>
                      <a:endParaRPr lang="en-US" altLang="ko-KR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lang="en-US" altLang="ko-KR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(30-35)</a:t>
                      </a:r>
                      <a:endParaRPr lang="ko-KR" altLang="en-US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5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페이지 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B2BUY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의 차별성입니다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.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B2B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는 규모의 경제 형성을 통한</a:t>
                      </a: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비용 절감에 한계가 존재하며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,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B2B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의 거래 신뢰성과 안정성 미흡으로 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오픈 형태의 공동구매 진행이 어렵습니다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.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하지만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, 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기존 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B2C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의 </a:t>
                      </a:r>
                      <a:r>
                        <a:rPr lang="ko-KR" altLang="en-US" sz="2200" b="1" kern="0" spc="0" dirty="0" err="1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에스크로를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 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B2B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에 적용하면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,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신뢰성과 안정성을 확보할 수 있어</a:t>
                      </a: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B2B 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시장을 공동구매 가능 시장으로 전환할 수 있습니다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.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그리고 </a:t>
                      </a:r>
                      <a:r>
                        <a:rPr lang="ko-KR" altLang="en-US" sz="2200" b="1" kern="0" spc="0" dirty="0" err="1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에스크로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 수수료는</a:t>
                      </a: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B2BUY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에서 부담하여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,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중소기업들의 플랫폼 접근성을 </a:t>
                      </a: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확보할 예정입니다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ea typeface="+mn-ea"/>
                        </a:rPr>
                        <a:t>.</a:t>
                      </a:r>
                      <a:endParaRPr lang="ko-KR" altLang="en-US" sz="2200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12465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1881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4">
            <a:extLst>
              <a:ext uri="{FF2B5EF4-FFF2-40B4-BE49-F238E27FC236}">
                <a16:creationId xmlns:a16="http://schemas.microsoft.com/office/drawing/2014/main" id="{BBA38B13-7CA7-4BFD-9CD9-23845CDDD5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926842"/>
              </p:ext>
            </p:extLst>
          </p:nvPr>
        </p:nvGraphicFramePr>
        <p:xfrm>
          <a:off x="0" y="1"/>
          <a:ext cx="9142925" cy="685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525">
                  <a:extLst>
                    <a:ext uri="{9D8B030D-6E8A-4147-A177-3AD203B41FA5}">
                      <a16:colId xmlns:a16="http://schemas.microsoft.com/office/drawing/2014/main" val="4208254417"/>
                    </a:ext>
                  </a:extLst>
                </a:gridCol>
                <a:gridCol w="8172400">
                  <a:extLst>
                    <a:ext uri="{9D8B030D-6E8A-4147-A177-3AD203B41FA5}">
                      <a16:colId xmlns:a16="http://schemas.microsoft.com/office/drawing/2014/main" val="4030985836"/>
                    </a:ext>
                  </a:extLst>
                </a:gridCol>
              </a:tblGrid>
              <a:tr h="685799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6</a:t>
                      </a:r>
                      <a:r>
                        <a:rPr lang="ko-KR" altLang="en-US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페이지</a:t>
                      </a:r>
                      <a:endParaRPr lang="en-US" altLang="ko-KR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lang="en-US" altLang="ko-KR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(30-35)</a:t>
                      </a:r>
                      <a:endParaRPr lang="ko-KR" altLang="en-US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페이지 시장 선점 전략입니다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빅데이터 기반의 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분석으로 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개인화 서비스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공동구매 최적 가격 협상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안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도출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등을</a:t>
                      </a: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추진할 계획입니다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그리고 시장 선점을 위해 시장 내 주요 플레이어와</a:t>
                      </a: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협업을 추진할 예정입니다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먼저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공급처 관리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 공동 검수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물류망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공동 활용을 위해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CJ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대한통운과 업무 협약을 추진 중입니다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또한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고객 확보를 위해 </a:t>
                      </a: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대한상공회의소 회원복지팀과 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구미시장 직속 정책자문비서실 등과</a:t>
                      </a: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업무 협약 논의를 진행하고 있습니다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2200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12465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5830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4">
            <a:extLst>
              <a:ext uri="{FF2B5EF4-FFF2-40B4-BE49-F238E27FC236}">
                <a16:creationId xmlns:a16="http://schemas.microsoft.com/office/drawing/2014/main" id="{BBA38B13-7CA7-4BFD-9CD9-23845CDDD5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512826"/>
              </p:ext>
            </p:extLst>
          </p:nvPr>
        </p:nvGraphicFramePr>
        <p:xfrm>
          <a:off x="0" y="1"/>
          <a:ext cx="9142925" cy="685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525">
                  <a:extLst>
                    <a:ext uri="{9D8B030D-6E8A-4147-A177-3AD203B41FA5}">
                      <a16:colId xmlns:a16="http://schemas.microsoft.com/office/drawing/2014/main" val="4208254417"/>
                    </a:ext>
                  </a:extLst>
                </a:gridCol>
                <a:gridCol w="8172400">
                  <a:extLst>
                    <a:ext uri="{9D8B030D-6E8A-4147-A177-3AD203B41FA5}">
                      <a16:colId xmlns:a16="http://schemas.microsoft.com/office/drawing/2014/main" val="4030985836"/>
                    </a:ext>
                  </a:extLst>
                </a:gridCol>
              </a:tblGrid>
              <a:tr h="685799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7</a:t>
                      </a:r>
                      <a:r>
                        <a:rPr lang="ko-KR" altLang="en-US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페이지</a:t>
                      </a:r>
                      <a:endParaRPr lang="en-US" altLang="ko-KR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lang="en-US" altLang="ko-KR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(40-45)</a:t>
                      </a:r>
                      <a:endParaRPr lang="ko-KR" altLang="en-US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페이지 시장 분석 결과입니다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현재 시장에는</a:t>
                      </a: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중소기업 협동조합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해외 제품 직거래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MRO 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플랫폼 등이 존재하지만</a:t>
                      </a: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한정된 대상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제한적 방식의 서비스만 제공하고 있으며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중소기업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대상으로</a:t>
                      </a: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오픈된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2200" b="1" kern="0" spc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공동구매 형태의 서비스는 부재한 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상황입니다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목표 시장은 전자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전기 등 일반부품을 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글로벌 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B2B </a:t>
                      </a:r>
                      <a:r>
                        <a:rPr lang="ko-KR" altLang="en-US" sz="2200" b="1" kern="0" spc="0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이커머스로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수입하는 중소기업으로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약 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8.1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조 원으로 예상되며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연간 약 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15.8%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의 성장률을 가정하면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년 내 약 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14.5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조 원으로 확대가 예상됩니다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2200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12465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1366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4">
            <a:extLst>
              <a:ext uri="{FF2B5EF4-FFF2-40B4-BE49-F238E27FC236}">
                <a16:creationId xmlns:a16="http://schemas.microsoft.com/office/drawing/2014/main" id="{BBA38B13-7CA7-4BFD-9CD9-23845CDDD5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293620"/>
              </p:ext>
            </p:extLst>
          </p:nvPr>
        </p:nvGraphicFramePr>
        <p:xfrm>
          <a:off x="0" y="0"/>
          <a:ext cx="9142925" cy="685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525">
                  <a:extLst>
                    <a:ext uri="{9D8B030D-6E8A-4147-A177-3AD203B41FA5}">
                      <a16:colId xmlns:a16="http://schemas.microsoft.com/office/drawing/2014/main" val="4208254417"/>
                    </a:ext>
                  </a:extLst>
                </a:gridCol>
                <a:gridCol w="8172400">
                  <a:extLst>
                    <a:ext uri="{9D8B030D-6E8A-4147-A177-3AD203B41FA5}">
                      <a16:colId xmlns:a16="http://schemas.microsoft.com/office/drawing/2014/main" val="4030985836"/>
                    </a:ext>
                  </a:extLst>
                </a:gridCol>
              </a:tblGrid>
              <a:tr h="299483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8</a:t>
                      </a:r>
                      <a:r>
                        <a:rPr lang="ko-KR" altLang="en-US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페이지</a:t>
                      </a:r>
                      <a:endParaRPr lang="en-US" altLang="ko-KR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lang="en-US" altLang="ko-KR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(15-20)</a:t>
                      </a:r>
                      <a:endParaRPr lang="ko-KR" altLang="en-US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페이지 기대 효과입니다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년 내 시장 점유율과 단가 </a:t>
                      </a:r>
                      <a:r>
                        <a:rPr lang="ko-KR" altLang="en-US" sz="2200" b="1" kern="0" spc="0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절감률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20% 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달성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에스크로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수수료를 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0.1%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로 가정하였을 때 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년 총 매출은 약 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조 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천억 원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플랫폼 매출 이익은 약 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천 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백억 원으로 예상됩니다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2200" b="1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1246504"/>
                  </a:ext>
                </a:extLst>
              </a:tr>
              <a:tr h="386316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9</a:t>
                      </a:r>
                      <a:r>
                        <a:rPr lang="ko-KR" altLang="en-US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페이지</a:t>
                      </a:r>
                      <a:endParaRPr lang="en-US" altLang="ko-KR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lang="en-US" altLang="ko-KR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(15-20)</a:t>
                      </a:r>
                      <a:endParaRPr lang="ko-KR" altLang="en-US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lang="ko-KR" altLang="en-US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마지막 추진 일정입니다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기본 플랫폼 개발은 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개월 내 완료하고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빅데이터 등 디지털 신기술을 도입할 예정입니다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플랫폼 개발과 함께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영업 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· 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마케팅 활동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투자유치 활동을 수행할 계획입니다</a:t>
                      </a:r>
                      <a:r>
                        <a:rPr lang="en-US" altLang="ko-KR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endParaRPr lang="en-US" altLang="ko-KR" sz="2200" b="1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96520" marR="0" indent="0" algn="l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2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발표를 마치겠습니다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995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58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580</Words>
  <Application>Microsoft Office PowerPoint</Application>
  <PresentationFormat>화면 슬라이드 쇼(4:3)</PresentationFormat>
  <Paragraphs>147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Arial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안 남규</cp:lastModifiedBy>
  <cp:revision>5</cp:revision>
  <dcterms:created xsi:type="dcterms:W3CDTF">2006-10-05T04:04:58Z</dcterms:created>
  <dcterms:modified xsi:type="dcterms:W3CDTF">2020-05-17T11:25:33Z</dcterms:modified>
</cp:coreProperties>
</file>